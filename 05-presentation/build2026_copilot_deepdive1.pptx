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5029200" cy="5029200"/>
          </a:xfrm>
          <a:prstGeom prst="ellipse">
            <a:avLst/>
          </a:prstGeom>
          <a:solidFill>
            <a:srgbClr val="0078D4">
              <a:alpha val="12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8661C5">
              <a:alpha val="10000"/>
            </a:srgbClr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57200"/>
            <a:ext cx="292608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57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320040" y="2029968"/>
            <a:ext cx="2258568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78608" y="2029968"/>
            <a:ext cx="3685032" cy="54864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7627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アップデート Deep Dive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" y="29443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エージェントネイティブ開発のコントロールセンターへ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43891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2026年6月2日 発表  ／  一次情報（GitHub Blog・Microsoft AI）ベースのまとめ  ／  全35項目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アジェンダ — 4テーマ・35項目のアップデート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49808"/>
            <a:ext cx="2121408" cy="4187952"/>
          </a:xfrm>
          <a:prstGeom prst="rect">
            <a:avLst/>
          </a:prstGeom>
          <a:solidFill>
            <a:srgbClr val="0D2440"/>
          </a:solidFill>
          <a:ln w="1016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49808"/>
            <a:ext cx="2121408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4980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9456" y="1188720"/>
            <a:ext cx="20116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エージェント開発体験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1170432" cy="274320"/>
          </a:xfrm>
          <a:prstGeom prst="rect">
            <a:avLst/>
          </a:prstGeom>
          <a:solidFill>
            <a:srgbClr val="0078D4">
              <a:alpha val="80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6項目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" y="2423160"/>
            <a:ext cx="1938528" cy="2423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app (My Work)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Max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Merge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Canvas / AX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Sandboxes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Sandboxes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749808"/>
            <a:ext cx="2121408" cy="4187952"/>
          </a:xfrm>
          <a:prstGeom prst="rect">
            <a:avLst/>
          </a:prstGeom>
          <a:solidFill>
            <a:srgbClr val="0D2440"/>
          </a:solidFill>
          <a:ln w="10160">
            <a:solidFill>
              <a:srgbClr val="49C5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77440" y="749808"/>
            <a:ext cx="2121408" cy="384048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74980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432304" y="1188720"/>
            <a:ext cx="20116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Review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52928" y="2057400"/>
            <a:ext cx="1170432" cy="274320"/>
          </a:xfrm>
          <a:prstGeom prst="rect">
            <a:avLst/>
          </a:prstGeom>
          <a:solidFill>
            <a:srgbClr val="49C5B1">
              <a:alpha val="80000"/>
            </a:srgbClr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52928" y="20574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5項目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2423160"/>
            <a:ext cx="1938528" cy="2423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拡張性強化 (Custom/MCP)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tier review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/security-review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/rubberduck  GA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Repos 対応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90288" y="749808"/>
            <a:ext cx="2121408" cy="4187952"/>
          </a:xfrm>
          <a:prstGeom prst="rect">
            <a:avLst/>
          </a:prstGeom>
          <a:solidFill>
            <a:srgbClr val="0D2440"/>
          </a:solidFill>
          <a:ln w="10160">
            <a:solidFill>
              <a:srgbClr val="F436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0288" y="749808"/>
            <a:ext cx="2121408" cy="384048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74980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45152" y="1188720"/>
            <a:ext cx="20116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SDK / CLI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実行基盤 / IDE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65776" y="2057400"/>
            <a:ext cx="1170432" cy="274320"/>
          </a:xfrm>
          <a:prstGeom prst="rect">
            <a:avLst/>
          </a:prstGeom>
          <a:solidFill>
            <a:srgbClr val="F4364F">
              <a:alpha val="80000"/>
            </a:srgbClr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20574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15項目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81728" y="2423160"/>
            <a:ext cx="1938528" cy="2423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SDK GA (6言語)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TUI / Voice / Schedule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JetBrains 7機能強化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Multi-Agent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Plan agent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749808"/>
            <a:ext cx="2121408" cy="4187952"/>
          </a:xfrm>
          <a:prstGeom prst="rect">
            <a:avLst/>
          </a:prstGeom>
          <a:solidFill>
            <a:srgbClr val="0D2440"/>
          </a:solidFill>
          <a:ln w="10160">
            <a:solidFill>
              <a:srgbClr val="8661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749808"/>
            <a:ext cx="2121408" cy="384048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74980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67144" y="1188720"/>
            <a:ext cx="20116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エコシステム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287768" y="2057400"/>
            <a:ext cx="1170432" cy="274320"/>
          </a:xfrm>
          <a:prstGeom prst="rect">
            <a:avLst/>
          </a:prstGeom>
          <a:solidFill>
            <a:srgbClr val="8661C5">
              <a:alpha val="80000"/>
            </a:srgbClr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87768" y="20574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9項目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03720" y="2423160"/>
            <a:ext cx="1938528" cy="2423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Automations / Autopilot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 不要（GITHUB_TOKEN）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Memory++ / /chronicle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Apps (9社)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 モデルファミリー (7)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078D4">
              <a:alpha val="12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2926080"/>
            <a:ext cx="2560320" cy="2560320"/>
          </a:xfrm>
          <a:prstGeom prst="ellipse">
            <a:avLst/>
          </a:prstGeom>
          <a:solidFill>
            <a:srgbClr val="8661C5">
              <a:alpha val="8000"/>
            </a:srgbClr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4864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54864" cy="1645920"/>
          </a:xfrm>
          <a:prstGeom prst="rect">
            <a:avLst/>
          </a:prstGeom>
          <a:solidFill>
            <a:srgbClr val="0078D4">
              <a:alpha val="65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9144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App &amp; エージェント開発体験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14600" y="20116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エージェントネイティブなデスクトップ体験 ／ 並列エージェントのコントロールセンター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14600" y="2999232"/>
            <a:ext cx="237744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2999232"/>
            <a:ext cx="3566160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— GitHub Copilot App：My Work ダッシュボード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4617720" cy="4160520"/>
          </a:xfrm>
          <a:prstGeom prst="rect">
            <a:avLst/>
          </a:prstGeom>
          <a:solidFill>
            <a:srgbClr val="0D2440"/>
          </a:solidFill>
          <a:ln w="889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77240"/>
            <a:ext cx="64008" cy="41605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503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何が登場したか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" y="1243584"/>
            <a:ext cx="42062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スタンドアロンのデスクトップアプリ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（エディタのサイドバーではなく独立したアプリ）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Work ビューで一元管理：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アクティブなセッション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 / Pull Request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バックグラウンド自動化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対象プラン（技術プレビュー）：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/ Pro+ / Business / Enterprise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朝の時点で3つの作業が並列実行中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43584"/>
            <a:ext cx="3931920" cy="1115568"/>
          </a:xfrm>
          <a:prstGeom prst="rect">
            <a:avLst/>
          </a:prstGeom>
          <a:solidFill>
            <a:srgbClr val="0D2440"/>
          </a:solidFill>
          <a:ln w="8890">
            <a:solidFill>
              <a:srgbClr val="F436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243584"/>
            <a:ext cx="64008" cy="1115568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1335024"/>
            <a:ext cx="475488" cy="329184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33502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50992" y="133502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本番バグ調査中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50992" y="17922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エージェントが並列で調査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487168"/>
            <a:ext cx="3931920" cy="1115568"/>
          </a:xfrm>
          <a:prstGeom prst="rect">
            <a:avLst/>
          </a:prstGeom>
          <a:solidFill>
            <a:srgbClr val="0D2440"/>
          </a:solidFill>
          <a:ln w="8890">
            <a:solidFill>
              <a:srgbClr val="49C5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487168"/>
            <a:ext cx="64008" cy="1115568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2578608"/>
            <a:ext cx="475488" cy="329184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57860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50992" y="25786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バックログ実装中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50992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IssueをCopilotに割り当て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3730752"/>
            <a:ext cx="3931920" cy="1115568"/>
          </a:xfrm>
          <a:prstGeom prst="rect">
            <a:avLst/>
          </a:prstGeom>
          <a:solidFill>
            <a:srgbClr val="0D2440"/>
          </a:solidFill>
          <a:ln w="8890">
            <a:solidFill>
              <a:srgbClr val="8661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3730752"/>
            <a:ext cx="64008" cy="1115568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3822192"/>
            <a:ext cx="475488" cy="329184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82219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50992" y="38221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PRフィードバック対応中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50992" y="42793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レビュー指摘を自動修正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— Agent Merge &amp; git worktree による並列セッション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4389120" cy="4160520"/>
          </a:xfrm>
          <a:prstGeom prst="rect">
            <a:avLst/>
          </a:prstGeom>
          <a:solidFill>
            <a:srgbClr val="0D2440"/>
          </a:solidFill>
          <a:ln w="889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77240"/>
            <a:ext cx="64008" cy="41605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50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Merge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2336" y="12618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 をレビュー・チェック・マージまで自動化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" y="1664208"/>
          <a:ext cx="4114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選択肢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内容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CI をグリーンに戻す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失敗チェックを解消して再実行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フィードバック対応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レビュー指摘に自動対応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条件達成でマージ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全条件を満たしたら自動マージ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01752" y="3401568"/>
            <a:ext cx="4114800" cy="749808"/>
          </a:xfrm>
          <a:prstGeom prst="rect">
            <a:avLst/>
          </a:prstGeom>
          <a:solidFill>
            <a:srgbClr val="0A1A30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336" y="3419856"/>
            <a:ext cx="3913632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"You decide what automation is enabled and what ships."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777240"/>
            <a:ext cx="4160520" cy="4160520"/>
          </a:xfrm>
          <a:prstGeom prst="rect">
            <a:avLst/>
          </a:prstGeom>
          <a:solidFill>
            <a:srgbClr val="0D2440"/>
          </a:solidFill>
          <a:ln w="8890">
            <a:solidFill>
              <a:srgbClr val="49C5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777240"/>
            <a:ext cx="64008" cy="4160520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74336" y="8503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worktree による並列セッション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74336" y="1280160"/>
            <a:ext cx="365760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各セッションは独立した git worktree 上で動作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複数エージェントが互いに干渉せず並行作業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worktree の作成・後始末・ブランチ管理はアプリが自動処理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手動セットアップ不要 → 並列実行が現実的な運用に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74336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並列 worktree イメージ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3886200"/>
            <a:ext cx="1234440" cy="914400"/>
          </a:xfrm>
          <a:prstGeom prst="rect">
            <a:avLst/>
          </a:prstGeom>
          <a:solidFill>
            <a:srgbClr val="0D2440"/>
          </a:solidFill>
          <a:ln w="19050">
            <a:solidFill>
              <a:srgbClr val="F436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3886200"/>
            <a:ext cx="12344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(バグ修正)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3886200"/>
            <a:ext cx="1234440" cy="914400"/>
          </a:xfrm>
          <a:prstGeom prst="rect">
            <a:avLst/>
          </a:prstGeom>
          <a:solidFill>
            <a:srgbClr val="0D2440"/>
          </a:solidFill>
          <a:ln w="19050">
            <a:solidFill>
              <a:srgbClr val="49C5B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0" y="3886200"/>
            <a:ext cx="12344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(機能実装)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589520" y="3886200"/>
            <a:ext cx="1234440" cy="914400"/>
          </a:xfrm>
          <a:prstGeom prst="rect">
            <a:avLst/>
          </a:prstGeom>
          <a:solidFill>
            <a:srgbClr val="0D2440"/>
          </a:solidFill>
          <a:ln w="19050">
            <a:solidFill>
              <a:srgbClr val="8661C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0" y="3886200"/>
            <a:ext cx="12344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(レビュー)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— Canvas &amp; Agent Experience (AX)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4663440" cy="4160520"/>
          </a:xfrm>
          <a:prstGeom prst="rect">
            <a:avLst/>
          </a:prstGeom>
          <a:solidFill>
            <a:srgbClr val="0D2440"/>
          </a:solidFill>
          <a:ln w="889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77240"/>
            <a:ext cx="64008" cy="41605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5039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Canvas とは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2336" y="1261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人とエージェントの 双方向ワークサーフェス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表示できるもの：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1965960"/>
            <a:ext cx="411480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プラン（計画） / Pull Request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ブラウザセッション / ターミナル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デプロイメント / ダッシュボード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ワークフローの状態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" y="3346704"/>
            <a:ext cx="4343400" cy="804672"/>
          </a:xfrm>
          <a:prstGeom prst="rect">
            <a:avLst/>
          </a:prstGeom>
          <a:solidFill>
            <a:srgbClr val="0A1A30"/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3364992"/>
            <a:ext cx="416052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"Canvases are where that intent becomes visible work you can inspect, steer, and verify."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vs Canvas — AX の進化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243584"/>
          <a:ext cx="3931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Canvas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目的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指示・議論・推論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作業の可視化・操作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方向性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人 → エージェント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双方向（人 ⇄ エージェント）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表現形式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テキストの流れ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プラン / PR / ターミナル 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操作性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提案を読む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78D4"/>
                          </a:solidFill>
                        </a:rPr>
                        <a:t>作業を一緒に操作する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937760" y="3657600"/>
            <a:ext cx="3931920" cy="914400"/>
          </a:xfrm>
          <a:prstGeom prst="rect">
            <a:avLst/>
          </a:prstGeom>
          <a:solidFill>
            <a:srgbClr val="0A1A30"/>
          </a:solidFill>
          <a:ln w="8890">
            <a:solidFill>
              <a:srgbClr val="0078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47488" y="3694176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Experience (AX) </a:t>
            </a:r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人とエージェントが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共に操作するインターフェースの幕開け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— サンドボックス：ローカル vs クラウド（Public Preview）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323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エージェントが安全に「実行・検査・テスト・反復」できる境界づけられた場所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78992"/>
            <a:ext cx="4251960" cy="3520440"/>
          </a:xfrm>
          <a:prstGeom prst="rect">
            <a:avLst/>
          </a:prstGeom>
          <a:solidFill>
            <a:srgbClr val="0D2440"/>
          </a:solidFill>
          <a:ln w="889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78992"/>
            <a:ext cx="64008" cy="3520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1521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ローカルサンドボックス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2336" y="1591056"/>
            <a:ext cx="384048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自分のマシン上の隔離環境で動作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FS・ネットワーク・システム機能へのアクセスを制限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ポリシーを集中管理・強制可能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低レイテンシ・手元で完結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" y="4206240"/>
            <a:ext cx="128016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Preview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78992"/>
            <a:ext cx="4251960" cy="3520440"/>
          </a:xfrm>
          <a:prstGeom prst="rect">
            <a:avLst/>
          </a:prstGeom>
          <a:solidFill>
            <a:srgbClr val="0D2440"/>
          </a:solidFill>
          <a:ln w="8890">
            <a:solidFill>
              <a:srgbClr val="49C5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78992"/>
            <a:ext cx="64008" cy="3520440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11521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クラウドサンドボックス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28616" y="1591056"/>
            <a:ext cx="384048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ホストの完全隔離エフェメラル Linux 環境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組織が独自のポリシーを定義可能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どのデバイスからでもセッションをリモートで引き継ぎ可能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デバイス非依存・リソース制約なし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28616" y="4206240"/>
            <a:ext cx="1280160" cy="274320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Preview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4663440"/>
            <a:ext cx="8778240" cy="310896"/>
          </a:xfrm>
          <a:prstGeom prst="rect">
            <a:avLst/>
          </a:prstGeom>
          <a:solidFill>
            <a:srgbClr val="0A1A30"/>
          </a:solidFill>
          <a:ln w="6350">
            <a:solidFill>
              <a:srgbClr val="F26B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66344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B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MXC (Microsoft Execution Containers) — OS自体が封じ込めを強制するエンタープライズグレードのサンドボックス（プレビュー）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49C5B1">
              <a:alpha val="12000"/>
            </a:srgbClr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2926080"/>
            <a:ext cx="2560320" cy="2560320"/>
          </a:xfrm>
          <a:prstGeom prst="ellipse">
            <a:avLst/>
          </a:prstGeom>
          <a:solidFill>
            <a:srgbClr val="8661C5">
              <a:alpha val="8000"/>
            </a:srgbClr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4864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54864" cy="1645920"/>
          </a:xfrm>
          <a:prstGeom prst="rect">
            <a:avLst/>
          </a:prstGeom>
          <a:solidFill>
            <a:srgbClr val="49C5B1">
              <a:alpha val="65000"/>
            </a:srgbClr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9144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Code Review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14600" y="20116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エージェント出力にスケールする適応的・エージェント的レビューシステム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14600" y="2999232"/>
            <a:ext cx="2377440" cy="36576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2999232"/>
            <a:ext cx="3566160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— Copilot Code Review：5つの強化ポイント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49808"/>
            <a:ext cx="4315968" cy="1353312"/>
          </a:xfrm>
          <a:prstGeom prst="rect">
            <a:avLst/>
          </a:prstGeom>
          <a:solidFill>
            <a:srgbClr val="0D2440"/>
          </a:solidFill>
          <a:ln w="8890">
            <a:solidFill>
              <a:srgbClr val="49C5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49808"/>
            <a:ext cx="64008" cy="1353312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41248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拡張性強化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261872"/>
            <a:ext cx="4078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Skills・MCP Server・Actions Workflow 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社内基準・内部システムを反映したレビューを実現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749808"/>
            <a:ext cx="4315968" cy="1353312"/>
          </a:xfrm>
          <a:prstGeom prst="rect">
            <a:avLst/>
          </a:prstGeom>
          <a:solidFill>
            <a:srgbClr val="0D2440"/>
          </a:solidFill>
          <a:ln w="889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49808"/>
            <a:ext cx="64008" cy="13533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841248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Tier Review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28032" y="1261872"/>
            <a:ext cx="4078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高推論モデルへルーティング → 精度・再現率を向上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管理者がリポジトリ単位で low / medium を設定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2212848"/>
            <a:ext cx="4315968" cy="1353312"/>
          </a:xfrm>
          <a:prstGeom prst="rect">
            <a:avLst/>
          </a:prstGeom>
          <a:solidFill>
            <a:srgbClr val="0D2440"/>
          </a:solidFill>
          <a:ln w="8890">
            <a:solidFill>
              <a:srgbClr val="F436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212848"/>
            <a:ext cx="64008" cy="1353312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304288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/security-review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" y="2724912"/>
            <a:ext cx="4078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セキュリティ観点に特化した評価専用スキル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脆弱性検出に集中したレビューパスを提供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212848"/>
            <a:ext cx="4315968" cy="1353312"/>
          </a:xfrm>
          <a:prstGeom prst="rect">
            <a:avLst/>
          </a:prstGeom>
          <a:solidFill>
            <a:srgbClr val="0D2440"/>
          </a:solidFill>
          <a:ln w="8890">
            <a:solidFill>
              <a:srgbClr val="8661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212848"/>
            <a:ext cx="64008" cy="1353312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304288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/rubberduck  GA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28032" y="2724912"/>
            <a:ext cx="40782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複数モデルファミリーで実装を批評し新規の問題を発見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 対応。設計・実装・テストのセカンドオピニオン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62088" y="2276856"/>
            <a:ext cx="1234440" cy="274320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22768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3694176"/>
            <a:ext cx="8778240" cy="1353312"/>
          </a:xfrm>
          <a:prstGeom prst="rect">
            <a:avLst/>
          </a:prstGeom>
          <a:solidFill>
            <a:srgbClr val="0D2440"/>
          </a:solidFill>
          <a:ln w="8890">
            <a:solidFill>
              <a:srgbClr val="F26B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3694176"/>
            <a:ext cx="64008" cy="135331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785616"/>
            <a:ext cx="854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B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Repos 対応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7472" y="4206240"/>
            <a:ext cx="85404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 でもワンクリックレビュー・インラインコメント・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コミット可能な修正提案が利用可能に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43800" y="3758184"/>
            <a:ext cx="1234440" cy="27432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37581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Preview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4364F">
              <a:alpha val="12000"/>
            </a:srgbClr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2926080"/>
            <a:ext cx="2560320" cy="2560320"/>
          </a:xfrm>
          <a:prstGeom prst="ellipse">
            <a:avLst/>
          </a:prstGeom>
          <a:solidFill>
            <a:srgbClr val="8661C5">
              <a:alpha val="8000"/>
            </a:srgbClr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4864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54864" cy="1645920"/>
          </a:xfrm>
          <a:prstGeom prst="rect">
            <a:avLst/>
          </a:prstGeom>
          <a:solidFill>
            <a:srgbClr val="F4364F">
              <a:alpha val="65000"/>
            </a:srgbClr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9144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SDK / CLI / 実行基盤 / IDE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14600" y="20116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runtime, many surfaces — 同じエージェントランタイムを多様なサーフェスで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14600" y="2999232"/>
            <a:ext cx="2377440" cy="36576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2999232"/>
            <a:ext cx="3566160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— GitHub Copilot SDK：GA（一般提供）6言語対応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対応言語（6言語）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133856"/>
            <a:ext cx="1920240" cy="530352"/>
          </a:xfrm>
          <a:prstGeom prst="rect">
            <a:avLst/>
          </a:prstGeom>
          <a:solidFill>
            <a:srgbClr val="0D2440"/>
          </a:solidFill>
          <a:ln w="19050">
            <a:solidFill>
              <a:srgbClr val="49C5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338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/ TypeScript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67712" y="1133856"/>
            <a:ext cx="1920240" cy="530352"/>
          </a:xfrm>
          <a:prstGeom prst="rect">
            <a:avLst/>
          </a:prstGeom>
          <a:solidFill>
            <a:srgbClr val="0D2440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59152" y="11338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792224"/>
            <a:ext cx="1920240" cy="530352"/>
          </a:xfrm>
          <a:prstGeom prst="rect">
            <a:avLst/>
          </a:prstGeom>
          <a:solidFill>
            <a:srgbClr val="0D24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79222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67712" y="1792224"/>
            <a:ext cx="1920240" cy="530352"/>
          </a:xfrm>
          <a:prstGeom prst="rect">
            <a:avLst/>
          </a:prstGeom>
          <a:solidFill>
            <a:srgbClr val="0D2440"/>
          </a:solidFill>
          <a:ln w="19050">
            <a:solidFill>
              <a:srgbClr val="8661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59152" y="179222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" y="2450592"/>
            <a:ext cx="1920240" cy="530352"/>
          </a:xfrm>
          <a:prstGeom prst="rect">
            <a:avLst/>
          </a:prstGeom>
          <a:solidFill>
            <a:srgbClr val="0D2440"/>
          </a:solidFill>
          <a:ln w="19050">
            <a:solidFill>
              <a:srgbClr val="F436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4505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67712" y="2450592"/>
            <a:ext cx="1920240" cy="530352"/>
          </a:xfrm>
          <a:prstGeom prst="rect">
            <a:avLst/>
          </a:prstGeom>
          <a:solidFill>
            <a:srgbClr val="0D2440"/>
          </a:solidFill>
          <a:ln w="19050">
            <a:solidFill>
              <a:srgbClr val="F26B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59152" y="24505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6B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 ★ 新規追加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7498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SDK 主要機能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89120" y="1133856"/>
            <a:ext cx="4572000" cy="676656"/>
          </a:xfrm>
          <a:prstGeom prst="rect">
            <a:avLst/>
          </a:prstGeom>
          <a:solidFill>
            <a:srgbClr val="0D2440"/>
          </a:solidFill>
          <a:ln w="6350">
            <a:solidFill>
              <a:srgbClr val="2A44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1133856"/>
            <a:ext cx="64008" cy="676656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4568" y="11795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Tools &amp; MCP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44568" y="14904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エージェントが自律呼び出し可能なツール登録・MCP接続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1938528"/>
            <a:ext cx="4572000" cy="676656"/>
          </a:xfrm>
          <a:prstGeom prst="rect">
            <a:avLst/>
          </a:prstGeom>
          <a:solidFill>
            <a:srgbClr val="0D2440"/>
          </a:solidFill>
          <a:ln w="6350">
            <a:solidFill>
              <a:srgbClr val="2A44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9120" y="1938528"/>
            <a:ext cx="64008" cy="67665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1984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OpenTelemetry Tracing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44568" y="22951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W3C trace context を CLI〜ツール実行まで一貫して伝搬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2743200"/>
            <a:ext cx="4572000" cy="676656"/>
          </a:xfrm>
          <a:prstGeom prst="rect">
            <a:avLst/>
          </a:prstGeom>
          <a:solidFill>
            <a:srgbClr val="0D2440"/>
          </a:solidFill>
          <a:ln w="6350">
            <a:solidFill>
              <a:srgbClr val="2A44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89120" y="2743200"/>
            <a:ext cx="64008" cy="676656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44568" y="2788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BYOK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44568" y="30998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OpenAI・Foundry・Anthropic の API キーを持ち込み可能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3547872"/>
            <a:ext cx="4572000" cy="676656"/>
          </a:xfrm>
          <a:prstGeom prst="rect">
            <a:avLst/>
          </a:prstGeom>
          <a:solidFill>
            <a:srgbClr val="0D2440"/>
          </a:solidFill>
          <a:ln w="6350">
            <a:solidFill>
              <a:srgbClr val="2A44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89120" y="3547872"/>
            <a:ext cx="64008" cy="67665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44568" y="35935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 System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44568" y="39044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pre/post ツール使用をインターセプトして動作を細かく制御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89120" y="4352544"/>
            <a:ext cx="4572000" cy="676656"/>
          </a:xfrm>
          <a:prstGeom prst="rect">
            <a:avLst/>
          </a:prstGeom>
          <a:solidFill>
            <a:srgbClr val="0D2440"/>
          </a:solidFill>
          <a:ln w="6350">
            <a:solidFill>
              <a:srgbClr val="2A44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89120" y="4352544"/>
            <a:ext cx="64008" cy="676656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44568" y="43982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6B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&amp; Remote Sessions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44568" y="47091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クラウドバックセッション作成・リモートURL オンデマンド発行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— Copilot CLI：刷新された3つの新機能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49808"/>
            <a:ext cx="2788920" cy="4279392"/>
          </a:xfrm>
          <a:prstGeom prst="rect">
            <a:avLst/>
          </a:prstGeom>
          <a:solidFill>
            <a:srgbClr val="0D2440"/>
          </a:solidFill>
          <a:ln w="8890">
            <a:solidFill>
              <a:srgbClr val="F436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49808"/>
            <a:ext cx="2788920" cy="457200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6809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新 Terminal UI（TUI）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1280160" cy="27432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/experimental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664208"/>
            <a:ext cx="260604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タブ型アクセスで PR・Issue・Gist をターミナルから操作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カラーテーマ・アクセシビリティ改善を含む刷新 UI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/experimental モードで提供中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72968" y="749808"/>
            <a:ext cx="2788920" cy="4279392"/>
          </a:xfrm>
          <a:prstGeom prst="rect">
            <a:avLst/>
          </a:prstGeom>
          <a:solidFill>
            <a:srgbClr val="0D2440"/>
          </a:solidFill>
          <a:ln w="8890">
            <a:solidFill>
              <a:srgbClr val="49C5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749808"/>
            <a:ext cx="2788920" cy="457200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76809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Input（音声入力）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64408" y="1280160"/>
            <a:ext cx="1280160" cy="274320"/>
          </a:xfrm>
          <a:prstGeom prst="rect">
            <a:avLst/>
          </a:prstGeom>
          <a:solidFill>
            <a:srgbClr val="8DE971"/>
          </a:solidFill>
          <a:ln w="12700">
            <a:solidFill>
              <a:srgbClr val="8DE9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64408" y="1664208"/>
            <a:ext cx="260604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オンデバイスの音声テキスト変換（STT）を使用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音声データは端末の外に出ない（プライバシー保護）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ハンズフリーで CLI 操作が可能に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63056" y="749808"/>
            <a:ext cx="2788920" cy="4279392"/>
          </a:xfrm>
          <a:prstGeom prst="rect">
            <a:avLst/>
          </a:prstGeom>
          <a:solidFill>
            <a:srgbClr val="0D2440"/>
          </a:solidFill>
          <a:ln w="8890">
            <a:solidFill>
              <a:srgbClr val="8661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749808"/>
            <a:ext cx="2788920" cy="457200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76809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Scheduling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54496" y="1280160"/>
            <a:ext cx="1280160" cy="274320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新機能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4496" y="1664208"/>
            <a:ext cx="260604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/every：繰り返しプロンプト・バックグラウンドタスクの定期実行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/after：指定後に実行する遅延スケジュール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Rubber Duck 連携：設計・実装・テストの批評を自動依頼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— JetBrains IDE：7つのエージェント機能強化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49808"/>
            <a:ext cx="4370832" cy="4279392"/>
          </a:xfrm>
          <a:prstGeom prst="rect">
            <a:avLst/>
          </a:prstGeom>
          <a:solidFill>
            <a:srgbClr val="0D2440"/>
          </a:solidFill>
          <a:ln w="8890">
            <a:solidFill>
              <a:srgbClr val="F436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49808"/>
            <a:ext cx="64008" cy="4279392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Picker — 4つのモード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109728" cy="502920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261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1517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自律タスク実行の完全エージェント体験（デフォルト）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20824"/>
            <a:ext cx="109728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020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mode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" y="2276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クイック回答・アシスト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779776"/>
            <a:ext cx="109728" cy="502920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779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agents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自社ニーズに合わせたカスタムエージェント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38728"/>
            <a:ext cx="109728" cy="502920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538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mode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実装前に構造化プランを作成・レビュー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81728" y="804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新スラッシュコマンド &amp; 機能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90288" y="1261872"/>
            <a:ext cx="64008" cy="5120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61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/remote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15179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github.com/モバイルから進行中セッションをリモート操作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90288" y="1920240"/>
            <a:ext cx="64008" cy="512064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920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/compact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2176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長時間セッションのコンテキストを手動圧縮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90288" y="2578608"/>
            <a:ext cx="64008" cy="512064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5786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/chronicle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2834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standup / tips / improve / search — セッション履歴分析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90288" y="3236976"/>
            <a:ext cx="64008" cy="512064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2369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Debug Panel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34930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エージェント動作の時系列イベントログ（Public Preview）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90288" y="3895344"/>
            <a:ext cx="64008" cy="512064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8953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6B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Thinking Effort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41513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推論モデルの思考量を low / medium / high で調整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90288" y="4553712"/>
            <a:ext cx="64008" cy="512064"/>
          </a:xfrm>
          <a:prstGeom prst="rect">
            <a:avLst/>
          </a:prstGeom>
          <a:solidFill>
            <a:srgbClr val="8DE971"/>
          </a:solidFill>
          <a:ln w="12700">
            <a:solidFill>
              <a:srgbClr val="8DE9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5537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DE9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Customizations Editor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48097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カスタムエージェント・skills・instructions を一元管理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— VS Code Multi-Agent &amp; Visual Studio 2026 更新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49808"/>
            <a:ext cx="4315968" cy="2029968"/>
          </a:xfrm>
          <a:prstGeom prst="rect">
            <a:avLst/>
          </a:prstGeom>
          <a:solidFill>
            <a:srgbClr val="0D2440"/>
          </a:solidFill>
          <a:ln w="889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49808"/>
            <a:ext cx="64008" cy="20299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— Multi-Agent フレームワーク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1234440"/>
            <a:ext cx="384048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Orchestrator エージェントがタスクを分解し専門サブエージェントを並列実行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linting / test-gen / docs / security review などを同時処理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内でリアルタイムに監視・介入（コンテキストスイッチ不要）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907792"/>
            <a:ext cx="4315968" cy="2029968"/>
          </a:xfrm>
          <a:prstGeom prst="rect">
            <a:avLst/>
          </a:prstGeom>
          <a:solidFill>
            <a:srgbClr val="0D2440"/>
          </a:solidFill>
          <a:ln w="8890">
            <a:solidFill>
              <a:srgbClr val="49C5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2907792"/>
            <a:ext cx="64008" cy="2029968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980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— GA になった機能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" y="3401568"/>
            <a:ext cx="384048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skills・Agent hooks・Prompt files・Anthropic Thinking が GA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BYOK が Editor Preview フラグなしで利用可能に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CLI agent をデフォルトに移行中（段階展開）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749808"/>
            <a:ext cx="4297680" cy="2834640"/>
          </a:xfrm>
          <a:prstGeom prst="rect">
            <a:avLst/>
          </a:prstGeom>
          <a:solidFill>
            <a:srgbClr val="0D2440"/>
          </a:solidFill>
          <a:ln w="8890">
            <a:solidFill>
              <a:srgbClr val="8661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749808"/>
            <a:ext cx="64008" cy="2834640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822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2026 — Plan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82896" y="1243584"/>
            <a:ext cx="3886200" cy="2176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コードベースをスキャンして詳細を把握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不明点を質問しながらプランを起草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開発者がチャット or Markdown を直接編集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承認後、Agent mode でコード変更を実行
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.copilot/plans/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にバージョン管理可能な形式で保存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712464"/>
            <a:ext cx="4297680" cy="1225296"/>
          </a:xfrm>
          <a:prstGeom prst="rect">
            <a:avLst/>
          </a:prstGeom>
          <a:solidFill>
            <a:srgbClr val="0D2440"/>
          </a:solidFill>
          <a:ln w="8890">
            <a:solidFill>
              <a:srgbClr val="F436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712464"/>
            <a:ext cx="64008" cy="1225296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37764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2026 — Multi-file Change Summaries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82896" y="418795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複数ファイルにまたがる変更を統合ビューで一覧  ／  Accept / Undo をファイル単位・チャンク単位で選択可能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8661C5">
              <a:alpha val="12000"/>
            </a:srgbClr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2926080"/>
            <a:ext cx="2560320" cy="2560320"/>
          </a:xfrm>
          <a:prstGeom prst="ellipse">
            <a:avLst/>
          </a:prstGeom>
          <a:solidFill>
            <a:srgbClr val="8661C5">
              <a:alpha val="8000"/>
            </a:srgbClr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4864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54864" cy="1645920"/>
          </a:xfrm>
          <a:prstGeom prst="rect">
            <a:avLst/>
          </a:prstGeom>
          <a:solidFill>
            <a:srgbClr val="8661C5">
              <a:alpha val="65000"/>
            </a:srgbClr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9144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Agent / 継続コンテキスト / エコシステム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14600" y="20116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コードを超えた自動化・デバイス横断の記憶・広がるパートナーエコシステム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14600" y="2999232"/>
            <a:ext cx="2377440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2999232"/>
            <a:ext cx="3566160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— Cloud Agent：自動化の強化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49808"/>
            <a:ext cx="4370832" cy="4279392"/>
          </a:xfrm>
          <a:prstGeom prst="rect">
            <a:avLst/>
          </a:prstGeom>
          <a:solidFill>
            <a:srgbClr val="0D2440"/>
          </a:solidFill>
          <a:ln w="8890">
            <a:solidFill>
              <a:srgbClr val="8661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49808"/>
            <a:ext cx="64008" cy="4279392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Automations / Autopilot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1965960" cy="530352"/>
          </a:xfrm>
          <a:prstGeom prst="rect">
            <a:avLst/>
          </a:prstGeom>
          <a:solidFill>
            <a:srgbClr val="0A1A30"/>
          </a:solidFill>
          <a:ln w="15240">
            <a:solidFill>
              <a:srgbClr val="8661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261872"/>
            <a:ext cx="19659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スケジュール実行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0592" y="1261872"/>
            <a:ext cx="1965960" cy="530352"/>
          </a:xfrm>
          <a:prstGeom prst="rect">
            <a:avLst/>
          </a:prstGeom>
          <a:solidFill>
            <a:srgbClr val="0A1A30"/>
          </a:solidFill>
          <a:ln w="1524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261872"/>
            <a:ext cx="19659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イベント応答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920240"/>
            <a:ext cx="1965960" cy="530352"/>
          </a:xfrm>
          <a:prstGeom prst="rect">
            <a:avLst/>
          </a:prstGeom>
          <a:solidFill>
            <a:srgbClr val="0A1A30"/>
          </a:solidFill>
          <a:ln w="15240">
            <a:solidFill>
              <a:srgbClr val="49C5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1920240"/>
            <a:ext cx="19659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 起票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50592" y="1920240"/>
            <a:ext cx="1965960" cy="530352"/>
          </a:xfrm>
          <a:prstGeom prst="rect">
            <a:avLst/>
          </a:prstGeom>
          <a:solidFill>
            <a:srgbClr val="0A1A30"/>
          </a:solidFill>
          <a:ln w="15240">
            <a:solidFill>
              <a:srgbClr val="F436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50592" y="1920240"/>
            <a:ext cx="19659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コメント投稿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" y="26700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許可モデル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" y="3017520"/>
            <a:ext cx="384048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デフォルト：</a:t>
            </a:r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各書き込みアクションの前に許可を要求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信頼確立後：</a:t>
            </a:r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Autopilot モードに切り替え（完全自動化）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36592" y="749808"/>
            <a:ext cx="4224528" cy="2029968"/>
          </a:xfrm>
          <a:prstGeom prst="rect">
            <a:avLst/>
          </a:prstGeom>
          <a:solidFill>
            <a:srgbClr val="0D2440"/>
          </a:solidFill>
          <a:ln w="8890">
            <a:solidFill>
              <a:srgbClr val="49C5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749808"/>
            <a:ext cx="64008" cy="2029968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822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Workflows — PAT が不要に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56048" y="1261872"/>
            <a:ext cx="374904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GITHUB_TOKEN で動作（scope: copilot-requests: write）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長命トークン（PAT）の作成・管理・ローテーションが不要に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組織課金（organization-billed AI credits）に対応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単一ワークフロースコープの短命トークンでセキュリティ向上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36592" y="2907792"/>
            <a:ext cx="4224528" cy="2029968"/>
          </a:xfrm>
          <a:prstGeom prst="rect">
            <a:avLst/>
          </a:prstGeom>
          <a:solidFill>
            <a:srgbClr val="0D2440"/>
          </a:solidFill>
          <a:ln w="8890">
            <a:solidFill>
              <a:srgbClr val="F436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2907792"/>
            <a:ext cx="64008" cy="2029968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980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Agent の業務範囲拡張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56048" y="3401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"Engineering doesn't end with writing code."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6048" y="3822192"/>
            <a:ext cx="3749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 起票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ディスカッション開始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レビュアーへの返信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— Memory++ / Partner Apps / Gemini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49808"/>
            <a:ext cx="4370832" cy="2103120"/>
          </a:xfrm>
          <a:prstGeom prst="rect">
            <a:avLst/>
          </a:prstGeom>
          <a:solidFill>
            <a:srgbClr val="0D2440"/>
          </a:solidFill>
          <a:ln w="8890">
            <a:solidFill>
              <a:srgbClr val="8661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49808"/>
            <a:ext cx="64008" cy="2103120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Memory++ &amp; /chronicle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" y="12435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デバイスをまたぎ、時間を越えた継続性（continuity）：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" y="1645920"/>
            <a:ext cx="987552" cy="384048"/>
          </a:xfrm>
          <a:prstGeom prst="rect">
            <a:avLst/>
          </a:prstGeom>
          <a:solidFill>
            <a:srgbClr val="0A1A30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164592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62456" y="1645920"/>
            <a:ext cx="987552" cy="384048"/>
          </a:xfrm>
          <a:prstGeom prst="rect">
            <a:avLst/>
          </a:prstGeom>
          <a:solidFill>
            <a:srgbClr val="0A1A30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62456" y="164592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1645920"/>
            <a:ext cx="987552" cy="384048"/>
          </a:xfrm>
          <a:prstGeom prst="rect">
            <a:avLst/>
          </a:prstGeom>
          <a:solidFill>
            <a:srgbClr val="0A1A30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64592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83864" y="1645920"/>
            <a:ext cx="987552" cy="384048"/>
          </a:xfrm>
          <a:prstGeom prst="rect">
            <a:avLst/>
          </a:prstGeom>
          <a:solidFill>
            <a:srgbClr val="0A1A30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3864" y="164592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" y="2103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どのサーフェスのセッションコンテキストも横断的にクエリ可能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2999232"/>
            <a:ext cx="4370832" cy="1938528"/>
          </a:xfrm>
          <a:prstGeom prst="rect">
            <a:avLst/>
          </a:prstGeom>
          <a:solidFill>
            <a:srgbClr val="0D2440"/>
          </a:solidFill>
          <a:ln w="889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999232"/>
            <a:ext cx="64008" cy="19385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0723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モデル対応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01752" y="3529584"/>
            <a:ext cx="1335024" cy="402336"/>
          </a:xfrm>
          <a:prstGeom prst="rect">
            <a:avLst/>
          </a:prstGeom>
          <a:solidFill>
            <a:srgbClr val="0A1A30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3529584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App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83080" y="3529584"/>
            <a:ext cx="1335024" cy="402336"/>
          </a:xfrm>
          <a:prstGeom prst="rect">
            <a:avLst/>
          </a:prstGeom>
          <a:solidFill>
            <a:srgbClr val="0A1A30"/>
          </a:solidFill>
          <a:ln w="19050">
            <a:solidFill>
              <a:srgbClr val="49C5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3529584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64408" y="3529584"/>
            <a:ext cx="1335024" cy="402336"/>
          </a:xfrm>
          <a:prstGeom prst="rect">
            <a:avLst/>
          </a:prstGeom>
          <a:solidFill>
            <a:srgbClr val="0A1A30"/>
          </a:solidFill>
          <a:ln w="19050">
            <a:solidFill>
              <a:srgbClr val="F436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529584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Agent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" y="400507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でモデルファミリーを名前で指定：opus / sonnet / haiku / gpt / gemini など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804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Partner-built Agent Apps（9社）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12252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を離れずにお気に入りのツールを利用 / Issue を新しいエージェントに割り当て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1627632"/>
            <a:ext cx="1965960" cy="621792"/>
          </a:xfrm>
          <a:prstGeom prst="rect">
            <a:avLst/>
          </a:prstGeom>
          <a:solidFill>
            <a:srgbClr val="0D2440"/>
          </a:solidFill>
          <a:ln w="6350">
            <a:solidFill>
              <a:srgbClr val="2A44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627632"/>
            <a:ext cx="54864" cy="621792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16642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LaunchDarkly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82896" y="195681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フィーチャーフラグ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1627632"/>
            <a:ext cx="1965960" cy="621792"/>
          </a:xfrm>
          <a:prstGeom prst="rect">
            <a:avLst/>
          </a:prstGeom>
          <a:solidFill>
            <a:srgbClr val="0D2440"/>
          </a:solidFill>
          <a:ln w="6350">
            <a:solidFill>
              <a:srgbClr val="2A44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1627632"/>
            <a:ext cx="54864" cy="6217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86016" y="16642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Amplitude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86016" y="195681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プロダクトアナリティクス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340864"/>
            <a:ext cx="1965960" cy="621792"/>
          </a:xfrm>
          <a:prstGeom prst="rect">
            <a:avLst/>
          </a:prstGeom>
          <a:solidFill>
            <a:srgbClr val="0D2440"/>
          </a:solidFill>
          <a:ln w="6350">
            <a:solidFill>
              <a:srgbClr val="2A44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2340864"/>
            <a:ext cx="54864" cy="621792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2896" y="23774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Sonar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82896" y="26700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コード品質・静的解析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58000" y="2340864"/>
            <a:ext cx="1965960" cy="621792"/>
          </a:xfrm>
          <a:prstGeom prst="rect">
            <a:avLst/>
          </a:prstGeom>
          <a:solidFill>
            <a:srgbClr val="0D2440"/>
          </a:solidFill>
          <a:ln w="6350">
            <a:solidFill>
              <a:srgbClr val="2A44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58000" y="2340864"/>
            <a:ext cx="54864" cy="621792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86016" y="23774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Endor Labs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86016" y="26700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サプライチェーンセキュリティ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054096"/>
            <a:ext cx="1965960" cy="621792"/>
          </a:xfrm>
          <a:prstGeom prst="rect">
            <a:avLst/>
          </a:prstGeom>
          <a:solidFill>
            <a:srgbClr val="0D2440"/>
          </a:solidFill>
          <a:ln w="6350">
            <a:solidFill>
              <a:srgbClr val="2A44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3054096"/>
            <a:ext cx="54864" cy="62179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82896" y="30906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Octopus Deploy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82896" y="33832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デプロイ自動化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58000" y="3054096"/>
            <a:ext cx="1965960" cy="621792"/>
          </a:xfrm>
          <a:prstGeom prst="rect">
            <a:avLst/>
          </a:prstGeom>
          <a:solidFill>
            <a:srgbClr val="0D2440"/>
          </a:solidFill>
          <a:ln w="6350">
            <a:solidFill>
              <a:srgbClr val="2A44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58000" y="3054096"/>
            <a:ext cx="54864" cy="621792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86016" y="30906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PagerDuty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86016" y="33832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インシデント管理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54880" y="3767328"/>
            <a:ext cx="1965960" cy="621792"/>
          </a:xfrm>
          <a:prstGeom prst="rect">
            <a:avLst/>
          </a:prstGeom>
          <a:solidFill>
            <a:srgbClr val="0D2440"/>
          </a:solidFill>
          <a:ln w="6350">
            <a:solidFill>
              <a:srgbClr val="2A44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54880" y="3767328"/>
            <a:ext cx="54864" cy="621792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82896" y="380390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Miro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882896" y="40965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コラボレーション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858000" y="3767328"/>
            <a:ext cx="1965960" cy="621792"/>
          </a:xfrm>
          <a:prstGeom prst="rect">
            <a:avLst/>
          </a:prstGeom>
          <a:solidFill>
            <a:srgbClr val="0D2440"/>
          </a:solidFill>
          <a:ln w="6350">
            <a:solidFill>
              <a:srgbClr val="2A44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858000" y="3767328"/>
            <a:ext cx="54864" cy="621792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86016" y="380390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Bright / Packfiles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986016" y="409651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その他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— MAI モデルファミリー（Build 2026：7モデル）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323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が Build 2026 で発表した7つの自社製 AI モデル — すべてゼロから学習（他社モデルからの蒸留なし）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78992"/>
          <a:ext cx="877824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325880"/>
                <a:gridCol w="4114800"/>
                <a:gridCol w="1280160"/>
              </a:tblGrid>
              <a:tr h="6126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モデル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カテゴリ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主なスペック・特徴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4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状態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46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364F"/>
                          </a:solidFill>
                        </a:rPr>
                        <a:t>MAI-Code-1-Flash  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コーディング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8F4"/>
                          </a:solidFill>
                        </a:rPr>
                        <a:t>5B / GitHub Copilot 専用設計 / SWE-Bench Pro で Haiku 4.5 を +16pt 超 / トークン消費 60% 削減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4364F"/>
                          </a:solidFill>
                        </a:rPr>
                        <a:t>VS Code 展開中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661C5"/>
                          </a:solidFill>
                        </a:rPr>
                        <a:t>MAI-Thinking-1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推論（旗艦）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8F4"/>
                          </a:solidFill>
                        </a:rPr>
                        <a:t>35B active（MoE ~1T total）/ 256K ctx / SWE-Bench Pro 52.8% / AIME 97.0%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080A0"/>
                          </a:solidFill>
                        </a:rPr>
                        <a:t>Foundry Preview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78D4"/>
                          </a:solidFill>
                        </a:rPr>
                        <a:t>MAI-Image-2.5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画像生成・編集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8F4"/>
                          </a:solidFill>
                        </a:rPr>
                        <a:t>text/image-to-image / Arena.ai 2位 / Flash版（低コスト・高速）も提供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080A0"/>
                          </a:solidFill>
                        </a:rPr>
                        <a:t>展開済み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9C5B1"/>
                          </a:solidFill>
                        </a:rPr>
                        <a:t>MAI-Voice-2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音声合成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8F4"/>
                          </a:solidFill>
                        </a:rPr>
                        <a:t>15以上の言語 / 感情表現・プロソディ制御 / 短いサンプルから声紋クローニング / Flash版あり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080A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6B43"/>
                          </a:solidFill>
                        </a:rPr>
                        <a:t>MAI-Transcribe-1.5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D8F4"/>
                          </a:solidFill>
                        </a:rPr>
                        <a:t>音声認識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D8F4"/>
                          </a:solidFill>
                        </a:rPr>
                        <a:t>43言語対応 / FLEURS ベンチマーク最高精度 / 競合比最大 5 倍高速 / コンテンツバイアス補正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080A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4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" y="4681728"/>
            <a:ext cx="8778240" cy="274320"/>
          </a:xfrm>
          <a:prstGeom prst="rect">
            <a:avLst/>
          </a:prstGeom>
          <a:solidFill>
            <a:srgbClr val="0A1A30"/>
          </a:solidFill>
          <a:ln w="6350">
            <a:solidFill>
              <a:srgbClr val="8661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"We train our reasoning models from scratch. We don't distill from other labs." — Microsoft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— MAI-Code-1-Flash &amp; Frontier Tuning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49808"/>
            <a:ext cx="4370832" cy="4279392"/>
          </a:xfrm>
          <a:prstGeom prst="rect">
            <a:avLst/>
          </a:prstGeom>
          <a:solidFill>
            <a:srgbClr val="0D2440"/>
          </a:solidFill>
          <a:ln w="8890">
            <a:solidFill>
              <a:srgbClr val="F436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49808"/>
            <a:ext cx="64008" cy="4279392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MAI-Code-1-Flash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2336" y="12435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専用設計の最初の MAI モデル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" y="1645920"/>
            <a:ext cx="1298448" cy="987552"/>
          </a:xfrm>
          <a:prstGeom prst="rect">
            <a:avLst/>
          </a:prstGeom>
          <a:solidFill>
            <a:srgbClr val="0A1A30"/>
          </a:solidFill>
          <a:ln w="19050">
            <a:solidFill>
              <a:srgbClr val="F436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" y="1682496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01752" y="2157984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パラメータ数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46504" y="1645920"/>
            <a:ext cx="1298448" cy="987552"/>
          </a:xfrm>
          <a:prstGeom prst="rect">
            <a:avLst/>
          </a:prstGeom>
          <a:solidFill>
            <a:srgbClr val="0A1A30"/>
          </a:solidFill>
          <a:ln w="19050">
            <a:solidFill>
              <a:srgbClr val="49C5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46504" y="1682496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+16pt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46504" y="2157984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Haiku 4.5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SWE-Bench Pro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91256" y="1645920"/>
            <a:ext cx="1298448" cy="987552"/>
          </a:xfrm>
          <a:prstGeom prst="rect">
            <a:avLst/>
          </a:prstGeom>
          <a:solidFill>
            <a:srgbClr val="0A1A30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91256" y="1682496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-60%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191256" y="2157984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トークン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消費量削減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2336" y="2743200"/>
            <a:ext cx="384048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から提供開始、モデルピッカーで選択可能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提供プラン：Free / Student / Pro / Pro+ / Max（段階展開）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「Microsoft 製コーディングモデルの新しい波の第一弾」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36592" y="749808"/>
            <a:ext cx="4224528" cy="4279392"/>
          </a:xfrm>
          <a:prstGeom prst="rect">
            <a:avLst/>
          </a:prstGeom>
          <a:solidFill>
            <a:srgbClr val="0D2440"/>
          </a:solidFill>
          <a:ln w="8890">
            <a:solidFill>
              <a:srgbClr val="8661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36592" y="749808"/>
            <a:ext cx="64008" cy="4279392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822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Frontier Tuning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56048" y="12435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企業ワークフローでモデルをカスタム RL 学習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1664208"/>
            <a:ext cx="374904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強化学習（RL）を実際の業務環境で適用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学習データは企業自身のもの：エージェントが完了したタスクのトレース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チューニング後のモデルは企業環境内に留まり外部に出ない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383280"/>
            <a:ext cx="3977640" cy="1463040"/>
          </a:xfrm>
          <a:prstGeom prst="rect">
            <a:avLst/>
          </a:prstGeom>
          <a:solidFill>
            <a:srgbClr val="0A1A30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3447288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61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実績例 — Excel 向けチューニング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74336" y="3858768"/>
            <a:ext cx="3730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 5.4 と同等の精度 を
</a:t>
            </a:r>
            <a:pPr indent="0" marL="0">
              <a:buNone/>
            </a:pPr>
            <a:r>
              <a:rPr lang="en-US" sz="22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10倍の効率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で達成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まとめ — 3つのメッセージ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04672"/>
            <a:ext cx="8778240" cy="1280160"/>
          </a:xfrm>
          <a:prstGeom prst="rect">
            <a:avLst/>
          </a:prstGeom>
          <a:solidFill>
            <a:srgbClr val="0D2440"/>
          </a:solidFill>
          <a:ln w="889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04672"/>
            <a:ext cx="914400" cy="12801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04672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234440" y="8961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コントロールセンター化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316736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App + git worktree で複数エージェントを並列統制。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Merge でレビュー・チェック・マージまで自動化。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969264"/>
            <a:ext cx="1874520" cy="950976"/>
          </a:xfrm>
          <a:prstGeom prst="rect">
            <a:avLst/>
          </a:prstGeom>
          <a:solidFill>
            <a:srgbClr val="0A1A30"/>
          </a:solidFill>
          <a:ln w="762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969264"/>
            <a:ext cx="1783080" cy="9509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Work → worktree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Agent Merge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231136"/>
            <a:ext cx="8778240" cy="1280160"/>
          </a:xfrm>
          <a:prstGeom prst="rect">
            <a:avLst/>
          </a:prstGeom>
          <a:solidFill>
            <a:srgbClr val="0D2440"/>
          </a:solidFill>
          <a:ln w="8890">
            <a:solidFill>
              <a:srgbClr val="49C5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231136"/>
            <a:ext cx="914400" cy="1280160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231136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234440" y="232257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ひとつのシステム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743200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Canvas / Sandbox / Code Review / Cloud Automation / SDK / Partner Apps が連携。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エージェントが作業を担い、人は品質・ポリシー・デリバリーを統制。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2395728"/>
            <a:ext cx="1874520" cy="950976"/>
          </a:xfrm>
          <a:prstGeom prst="rect">
            <a:avLst/>
          </a:prstGeom>
          <a:solidFill>
            <a:srgbClr val="0A1A30"/>
          </a:solidFill>
          <a:ln w="7620">
            <a:solidFill>
              <a:srgbClr val="49C5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395728"/>
            <a:ext cx="1783080" cy="9509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35項目が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1つのエコシステム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9C5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として統合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3657600"/>
            <a:ext cx="8778240" cy="1280160"/>
          </a:xfrm>
          <a:prstGeom prst="rect">
            <a:avLst/>
          </a:prstGeom>
          <a:solidFill>
            <a:srgbClr val="0D2440"/>
          </a:solidFill>
          <a:ln w="8890">
            <a:solidFill>
              <a:srgbClr val="F436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3657600"/>
            <a:ext cx="914400" cy="1280160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365760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1234440" y="37490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基盤の強化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169664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MAI-Code-1-Flash が Copilot / VS Code に搭載。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 7モデルと Frontier Tuning でエコシステムが強化。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3822192"/>
            <a:ext cx="1874520" cy="950976"/>
          </a:xfrm>
          <a:prstGeom prst="rect">
            <a:avLst/>
          </a:prstGeom>
          <a:solidFill>
            <a:srgbClr val="0A1A30"/>
          </a:solidFill>
          <a:ln w="7620">
            <a:solidFill>
              <a:srgbClr val="F436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3822192"/>
            <a:ext cx="1783080" cy="9509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 7モデル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Frontier Tuning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436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IQ Layer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914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明日からの進め方（5ステップ）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84048" y="640080"/>
            <a:ext cx="3364992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640080"/>
            <a:ext cx="5047488" cy="36576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86384"/>
            <a:ext cx="8778240" cy="731520"/>
          </a:xfrm>
          <a:prstGeom prst="rect">
            <a:avLst/>
          </a:prstGeom>
          <a:solidFill>
            <a:srgbClr val="0D2440"/>
          </a:solidFill>
          <a:ln w="889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86384"/>
            <a:ext cx="1353312" cy="7315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78638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117043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試す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64208" y="786384"/>
            <a:ext cx="722376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App（技術プレビュー）を既存の Pro / Business / Enterprise プランで有効化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27632"/>
            <a:ext cx="8778240" cy="731520"/>
          </a:xfrm>
          <a:prstGeom prst="rect">
            <a:avLst/>
          </a:prstGeom>
          <a:solidFill>
            <a:srgbClr val="0D2440"/>
          </a:solidFill>
          <a:ln w="8890">
            <a:solidFill>
              <a:srgbClr val="49C5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627632"/>
            <a:ext cx="1353312" cy="731520"/>
          </a:xfrm>
          <a:prstGeom prst="rect">
            <a:avLst/>
          </a:prstGeom>
          <a:solidFill>
            <a:srgbClr val="49C5B1"/>
          </a:solidFill>
          <a:ln w="12700">
            <a:solidFill>
              <a:srgbClr val="49C5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62763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" y="201168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並列体験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64208" y="1627632"/>
            <a:ext cx="722376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 を Copilot に割り当て、git worktree で複数エージェントセッションを並走させる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" y="2468880"/>
            <a:ext cx="8778240" cy="731520"/>
          </a:xfrm>
          <a:prstGeom prst="rect">
            <a:avLst/>
          </a:prstGeom>
          <a:solidFill>
            <a:srgbClr val="0D2440"/>
          </a:solidFill>
          <a:ln w="8890">
            <a:solidFill>
              <a:srgbClr val="F436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2468880"/>
            <a:ext cx="1353312" cy="731520"/>
          </a:xfrm>
          <a:prstGeom prst="rect">
            <a:avLst/>
          </a:prstGeom>
          <a:solidFill>
            <a:srgbClr val="F4364F"/>
          </a:solidFill>
          <a:ln w="12700">
            <a:solidFill>
              <a:srgbClr val="F436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4688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" y="28529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統制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64208" y="2468880"/>
            <a:ext cx="722376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Review の low / medium 設定・サンドボックスのポリシー定義・Agent Merge の自動化範囲を決定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2880" y="3310128"/>
            <a:ext cx="8778240" cy="731520"/>
          </a:xfrm>
          <a:prstGeom prst="rect">
            <a:avLst/>
          </a:prstGeom>
          <a:solidFill>
            <a:srgbClr val="0D2440"/>
          </a:solidFill>
          <a:ln w="8890">
            <a:solidFill>
              <a:srgbClr val="8661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310128"/>
            <a:ext cx="1353312" cy="731520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331012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" y="3694176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拡張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64208" y="3310128"/>
            <a:ext cx="722376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SDK / CLI で自社ツールにエージェントを組み込み、MCP サーバー・パートナーアプリを接続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" y="4151376"/>
            <a:ext cx="8778240" cy="731520"/>
          </a:xfrm>
          <a:prstGeom prst="rect">
            <a:avLst/>
          </a:prstGeom>
          <a:solidFill>
            <a:srgbClr val="0D2440"/>
          </a:solidFill>
          <a:ln w="8890">
            <a:solidFill>
              <a:srgbClr val="F26B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4151376"/>
            <a:ext cx="1353312" cy="73152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4151376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" y="453542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モデル最適化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64208" y="4151376"/>
            <a:ext cx="722376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MAI-Code-1-Flash をモデルピッカーで選択し、Frontier Tuning で自社ワークフローへのカスタム RL 学習を検討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2026 — GitHub Copilot Update Deep Dive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9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5029200" cy="5029200"/>
          </a:xfrm>
          <a:prstGeom prst="ellipse">
            <a:avLst/>
          </a:prstGeom>
          <a:solidFill>
            <a:srgbClr val="0078D4">
              <a:alpha val="12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8661C5">
              <a:alpha val="10000"/>
            </a:srgbClr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084832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04872" y="1691640"/>
            <a:ext cx="3401568" cy="54864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Q&amp;A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一次情報ソース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3127248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Blog: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app — The agent-native desktop experience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Changelog: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MAI-Code-1-Flash / Copilot SDK GA / Copilot CLI / Sandboxes / JetBrains (2026-06-02)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Changelog: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workflows no longer need a PAT (2026-06-11)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AI: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a hill-climbing machine — 7 new MAI models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Docs: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D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docs.github.com/copilot  ／  microsoft/Build26-news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Build 2026 — GitHub Copilot Update Deep Dive</dc:title>
  <dc:subject>PptxGenJS Presentation</dc:subject>
  <dc:creator>PptxGenJS</dc:creator>
  <cp:lastModifiedBy>PptxGenJS</cp:lastModifiedBy>
  <cp:revision>1</cp:revision>
  <dcterms:created xsi:type="dcterms:W3CDTF">2026-06-20T23:31:34Z</dcterms:created>
  <dcterms:modified xsi:type="dcterms:W3CDTF">2026-06-20T23:31:34Z</dcterms:modified>
</cp:coreProperties>
</file>