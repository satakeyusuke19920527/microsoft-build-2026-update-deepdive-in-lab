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328"/>
        </a:solidFill>
      </p:bgPr>
    </p:bg>
    <p:spTree>
      <p:nvGrpSpPr>
        <p:cNvPr id="1" name=""/>
        <p:cNvGrpSpPr/>
        <p:nvPr/>
      </p:nvGrpSpPr>
      <p:grpSpPr>
        <a:xfrm>
          <a:off x="0" y="0"/>
          <a:ext cx="0" cy="0"/>
          <a:chOff x="0" y="0"/>
          <a:chExt cx="0" cy="0"/>
        </a:xfrm>
      </p:grpSpPr>
      <p:sp>
        <p:nvSpPr>
          <p:cNvPr id="2" name="Shape 0"/>
          <p:cNvSpPr/>
          <p:nvPr/>
        </p:nvSpPr>
        <p:spPr>
          <a:xfrm>
            <a:off x="6400800" y="-1371600"/>
            <a:ext cx="5029200" cy="5029200"/>
          </a:xfrm>
          <a:prstGeom prst="ellipse">
            <a:avLst/>
          </a:prstGeom>
          <a:solidFill>
            <a:srgbClr val="0969DA">
              <a:alpha val="18000"/>
            </a:srgbClr>
          </a:solidFill>
          <a:ln w="12700">
            <a:solidFill>
              <a:srgbClr val="0969DA"/>
            </a:solidFill>
            <a:prstDash val="solid"/>
          </a:ln>
        </p:spPr>
      </p:sp>
      <p:sp>
        <p:nvSpPr>
          <p:cNvPr id="3" name="Shape 1"/>
          <p:cNvSpPr/>
          <p:nvPr/>
        </p:nvSpPr>
        <p:spPr>
          <a:xfrm>
            <a:off x="-457200" y="3474720"/>
            <a:ext cx="3200400" cy="3200400"/>
          </a:xfrm>
          <a:prstGeom prst="ellipse">
            <a:avLst/>
          </a:prstGeom>
          <a:solidFill>
            <a:srgbClr val="2DA44E">
              <a:alpha val="13000"/>
            </a:srgbClr>
          </a:solidFill>
          <a:ln w="12700">
            <a:solidFill>
              <a:srgbClr val="2DA44E"/>
            </a:solidFill>
            <a:prstDash val="solid"/>
          </a:ln>
        </p:spPr>
      </p:sp>
      <p:sp>
        <p:nvSpPr>
          <p:cNvPr id="4" name="Shape 2"/>
          <p:cNvSpPr/>
          <p:nvPr/>
        </p:nvSpPr>
        <p:spPr>
          <a:xfrm>
            <a:off x="457200" y="502920"/>
            <a:ext cx="2834640" cy="402336"/>
          </a:xfrm>
          <a:prstGeom prst="rect">
            <a:avLst/>
          </a:prstGeom>
          <a:solidFill>
            <a:srgbClr val="0969DA"/>
          </a:solidFill>
          <a:ln w="12700">
            <a:solidFill>
              <a:srgbClr val="0969DA"/>
            </a:solidFill>
            <a:prstDash val="solid"/>
          </a:ln>
        </p:spPr>
      </p:sp>
      <p:sp>
        <p:nvSpPr>
          <p:cNvPr id="5" name="Text 3"/>
          <p:cNvSpPr/>
          <p:nvPr/>
        </p:nvSpPr>
        <p:spPr>
          <a:xfrm>
            <a:off x="457200" y="502920"/>
            <a:ext cx="283464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Microsoft Build 2026</a:t>
            </a:r>
            <a:endParaRPr lang="en-US" sz="1400" dirty="0"/>
          </a:p>
        </p:txBody>
      </p:sp>
      <p:sp>
        <p:nvSpPr>
          <p:cNvPr id="6" name="Text 4"/>
          <p:cNvSpPr/>
          <p:nvPr/>
        </p:nvSpPr>
        <p:spPr>
          <a:xfrm>
            <a:off x="457200" y="105156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Segoe UI" pitchFamily="34" charset="0"/>
                <a:ea typeface="Segoe UI" pitchFamily="34" charset="-122"/>
                <a:cs typeface="Segoe UI" pitchFamily="34" charset="-120"/>
              </a:rPr>
              <a:t>GitHub Copilot</a:t>
            </a:r>
            <a:endParaRPr lang="en-US" sz="5400" dirty="0"/>
          </a:p>
        </p:txBody>
      </p:sp>
      <p:sp>
        <p:nvSpPr>
          <p:cNvPr id="7" name="Text 5"/>
          <p:cNvSpPr/>
          <p:nvPr/>
        </p:nvSpPr>
        <p:spPr>
          <a:xfrm>
            <a:off x="457200" y="2084832"/>
            <a:ext cx="8229600" cy="713232"/>
          </a:xfrm>
          <a:prstGeom prst="rect">
            <a:avLst/>
          </a:prstGeom>
          <a:noFill/>
          <a:ln/>
        </p:spPr>
        <p:txBody>
          <a:bodyPr wrap="square" lIns="0" tIns="0" rIns="0" bIns="0" rtlCol="0" anchor="ctr"/>
          <a:lstStyle/>
          <a:p>
            <a:pPr indent="0" marL="0">
              <a:buNone/>
            </a:pPr>
            <a:r>
              <a:rPr lang="en-US" sz="3000" dirty="0">
                <a:solidFill>
                  <a:srgbClr val="CFE3FF"/>
                </a:solidFill>
                <a:latin typeface="Segoe UI" pitchFamily="34" charset="0"/>
                <a:ea typeface="Segoe UI" pitchFamily="34" charset="-122"/>
                <a:cs typeface="Segoe UI" pitchFamily="34" charset="-120"/>
              </a:rPr>
              <a:t>アップデート Deep Dive</a:t>
            </a:r>
            <a:endParaRPr lang="en-US" sz="3000" dirty="0"/>
          </a:p>
        </p:txBody>
      </p:sp>
      <p:sp>
        <p:nvSpPr>
          <p:cNvPr id="8" name="Shape 6"/>
          <p:cNvSpPr/>
          <p:nvPr/>
        </p:nvSpPr>
        <p:spPr>
          <a:xfrm>
            <a:off x="457200" y="2907792"/>
            <a:ext cx="3657600" cy="36576"/>
          </a:xfrm>
          <a:prstGeom prst="rect">
            <a:avLst/>
          </a:prstGeom>
          <a:solidFill>
            <a:srgbClr val="0969DA"/>
          </a:solidFill>
          <a:ln w="12700">
            <a:solidFill>
              <a:srgbClr val="0969DA"/>
            </a:solidFill>
            <a:prstDash val="solid"/>
          </a:ln>
        </p:spPr>
      </p:sp>
      <p:sp>
        <p:nvSpPr>
          <p:cNvPr id="9" name="Text 7"/>
          <p:cNvSpPr/>
          <p:nvPr/>
        </p:nvSpPr>
        <p:spPr>
          <a:xfrm>
            <a:off x="457200" y="3035808"/>
            <a:ext cx="8229600" cy="411480"/>
          </a:xfrm>
          <a:prstGeom prst="rect">
            <a:avLst/>
          </a:prstGeom>
          <a:noFill/>
          <a:ln/>
        </p:spPr>
        <p:txBody>
          <a:bodyPr wrap="square" lIns="0" tIns="0" rIns="0" bIns="0" rtlCol="0" anchor="ctr"/>
          <a:lstStyle/>
          <a:p>
            <a:pPr indent="0" marL="0">
              <a:buNone/>
            </a:pPr>
            <a:r>
              <a:rPr lang="en-US" sz="1500" dirty="0">
                <a:solidFill>
                  <a:srgbClr val="D0D7DE"/>
                </a:solidFill>
                <a:latin typeface="Segoe UI" pitchFamily="34" charset="0"/>
                <a:ea typeface="Segoe UI" pitchFamily="34" charset="-122"/>
                <a:cs typeface="Segoe UI" pitchFamily="34" charset="-120"/>
              </a:rPr>
              <a:t>エージェントネイティブ開発のコントロールセンターへ</a:t>
            </a:r>
            <a:endParaRPr lang="en-US" sz="1500" dirty="0"/>
          </a:p>
        </p:txBody>
      </p:sp>
      <p:sp>
        <p:nvSpPr>
          <p:cNvPr id="10" name="Text 8"/>
          <p:cNvSpPr/>
          <p:nvPr/>
        </p:nvSpPr>
        <p:spPr>
          <a:xfrm>
            <a:off x="457200" y="4343400"/>
            <a:ext cx="8229600" cy="365760"/>
          </a:xfrm>
          <a:prstGeom prst="rect">
            <a:avLst/>
          </a:prstGeom>
          <a:noFill/>
          <a:ln/>
        </p:spPr>
        <p:txBody>
          <a:bodyPr wrap="square" lIns="0" tIns="0" rIns="0" bIns="0" rtlCol="0" anchor="ctr"/>
          <a:lstStyle/>
          <a:p>
            <a:pPr indent="0" marL="0">
              <a:buNone/>
            </a:pPr>
            <a:r>
              <a:rPr lang="en-US" sz="1200" dirty="0">
                <a:solidFill>
                  <a:srgbClr val="6E7781"/>
                </a:solidFill>
                <a:latin typeface="Segoe UI" pitchFamily="34" charset="0"/>
                <a:ea typeface="Segoe UI" pitchFamily="34" charset="-122"/>
                <a:cs typeface="Segoe UI" pitchFamily="34" charset="-120"/>
              </a:rPr>
              <a:t>2026年6月2日 発表  ／  一次情報（GitHub Blog・Microsoft AI）ベースのまとめ  ／  全35項目</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F2328"/>
          </a:solidFill>
          <a:ln w="12700">
            <a:solidFill>
              <a:srgbClr val="1F2328"/>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アジェンダ — 4テーマ・35項目のアップデート</a:t>
            </a:r>
            <a:endParaRPr lang="en-US" sz="1900" dirty="0"/>
          </a:p>
        </p:txBody>
      </p:sp>
      <p:sp>
        <p:nvSpPr>
          <p:cNvPr id="4" name="Shape 2"/>
          <p:cNvSpPr/>
          <p:nvPr/>
        </p:nvSpPr>
        <p:spPr>
          <a:xfrm>
            <a:off x="137160" y="658368"/>
            <a:ext cx="2148840" cy="4251960"/>
          </a:xfrm>
          <a:prstGeom prst="rect">
            <a:avLst/>
          </a:prstGeom>
          <a:solidFill>
            <a:srgbClr val="0969DA"/>
          </a:solidFill>
          <a:ln w="12700">
            <a:solidFill>
              <a:srgbClr val="0969DA"/>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137160" y="694944"/>
            <a:ext cx="2148840" cy="822960"/>
          </a:xfrm>
          <a:prstGeom prst="rect">
            <a:avLst/>
          </a:prstGeom>
          <a:noFill/>
          <a:ln/>
        </p:spPr>
        <p:txBody>
          <a:bodyPr wrap="square" lIns="76200" tIns="76200" rIns="76200" bIns="76200" rtlCol="0" anchor="ctr"/>
          <a:lstStyle/>
          <a:p>
            <a:pPr algn="ctr" indent="0" marL="0">
              <a:buNone/>
            </a:pPr>
            <a:r>
              <a:rPr lang="en-US" sz="4200" b="1" dirty="0">
                <a:solidFill>
                  <a:srgbClr val="FFFFFF"/>
                </a:solidFill>
                <a:latin typeface="Segoe UI" pitchFamily="34" charset="0"/>
                <a:ea typeface="Segoe UI" pitchFamily="34" charset="-122"/>
                <a:cs typeface="Segoe UI" pitchFamily="34" charset="-120"/>
              </a:rPr>
              <a:t>01</a:t>
            </a:r>
            <a:endParaRPr lang="en-US" sz="4200" dirty="0"/>
          </a:p>
        </p:txBody>
      </p:sp>
      <p:sp>
        <p:nvSpPr>
          <p:cNvPr id="6" name="Text 4"/>
          <p:cNvSpPr/>
          <p:nvPr/>
        </p:nvSpPr>
        <p:spPr>
          <a:xfrm>
            <a:off x="201168" y="1481328"/>
            <a:ext cx="2020824" cy="804672"/>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Copilot App</a:t>
            </a:r>
            <a:endParaRPr lang="en-US" sz="1300" dirty="0"/>
          </a:p>
          <a:p>
            <a:pPr algn="ctr" indent="0" marL="0">
              <a:buNone/>
            </a:pPr>
            <a:r>
              <a:rPr lang="en-US" sz="1300" b="1" dirty="0">
                <a:solidFill>
                  <a:srgbClr val="FFFFFF"/>
                </a:solidFill>
                <a:latin typeface="Segoe UI" pitchFamily="34" charset="0"/>
                <a:ea typeface="Segoe UI" pitchFamily="34" charset="-122"/>
                <a:cs typeface="Segoe UI" pitchFamily="34" charset="-120"/>
              </a:rPr>
              <a:t>エージェント開発体験</a:t>
            </a:r>
            <a:endParaRPr lang="en-US" sz="1300" dirty="0"/>
          </a:p>
        </p:txBody>
      </p:sp>
      <p:sp>
        <p:nvSpPr>
          <p:cNvPr id="7" name="Shape 5"/>
          <p:cNvSpPr/>
          <p:nvPr/>
        </p:nvSpPr>
        <p:spPr>
          <a:xfrm>
            <a:off x="612648" y="2322576"/>
            <a:ext cx="1197864" cy="292608"/>
          </a:xfrm>
          <a:prstGeom prst="rect">
            <a:avLst/>
          </a:prstGeom>
          <a:solidFill>
            <a:srgbClr val="FFFFFF">
              <a:alpha val="80000"/>
            </a:srgbClr>
          </a:solidFill>
          <a:ln w="12700">
            <a:solidFill>
              <a:srgbClr val="FFFFFF"/>
            </a:solidFill>
            <a:prstDash val="solid"/>
          </a:ln>
        </p:spPr>
      </p:sp>
      <p:sp>
        <p:nvSpPr>
          <p:cNvPr id="8" name="Text 6"/>
          <p:cNvSpPr/>
          <p:nvPr/>
        </p:nvSpPr>
        <p:spPr>
          <a:xfrm>
            <a:off x="612648" y="2322576"/>
            <a:ext cx="119786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6項目</a:t>
            </a:r>
            <a:endParaRPr lang="en-US" sz="1200" dirty="0"/>
          </a:p>
        </p:txBody>
      </p:sp>
      <p:sp>
        <p:nvSpPr>
          <p:cNvPr id="9" name="Text 7"/>
          <p:cNvSpPr/>
          <p:nvPr/>
        </p:nvSpPr>
        <p:spPr>
          <a:xfrm>
            <a:off x="228600" y="2706624"/>
            <a:ext cx="1965960" cy="2148840"/>
          </a:xfrm>
          <a:prstGeom prst="rect">
            <a:avLst/>
          </a:prstGeom>
          <a:noFill/>
          <a:ln/>
        </p:spPr>
        <p:txBody>
          <a:bodyPr wrap="square" lIns="50800" tIns="50800" rIns="50800" bIns="50800" rtlCol="0" anchor="t"/>
          <a:lstStyle/>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Copilot app (My Work)</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Copilot Max</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Agent Merge</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Canvas / AX</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Local Sandboxes</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Cloud Sandboxes</a:t>
            </a:r>
            <a:endParaRPr lang="en-US" sz="1000" dirty="0"/>
          </a:p>
        </p:txBody>
      </p:sp>
      <p:sp>
        <p:nvSpPr>
          <p:cNvPr id="10" name="Shape 8"/>
          <p:cNvSpPr/>
          <p:nvPr/>
        </p:nvSpPr>
        <p:spPr>
          <a:xfrm>
            <a:off x="2377440" y="658368"/>
            <a:ext cx="2148840" cy="4251960"/>
          </a:xfrm>
          <a:prstGeom prst="rect">
            <a:avLst/>
          </a:prstGeom>
          <a:solidFill>
            <a:srgbClr val="2DA44E"/>
          </a:solidFill>
          <a:ln w="12700">
            <a:solidFill>
              <a:srgbClr val="2DA44E"/>
            </a:solidFill>
            <a:prstDash val="solid"/>
          </a:ln>
          <a:effectLst>
            <a:outerShdw sx="100000" sy="100000" kx="0" ky="0" algn="bl" rotWithShape="0" blurRad="63500" dist="25400" dir="8100000">
              <a:srgbClr val="000000">
                <a:alpha val="10000"/>
              </a:srgbClr>
            </a:outerShdw>
          </a:effectLst>
        </p:spPr>
      </p:sp>
      <p:sp>
        <p:nvSpPr>
          <p:cNvPr id="11" name="Text 9"/>
          <p:cNvSpPr/>
          <p:nvPr/>
        </p:nvSpPr>
        <p:spPr>
          <a:xfrm>
            <a:off x="2377440" y="694944"/>
            <a:ext cx="2148840" cy="822960"/>
          </a:xfrm>
          <a:prstGeom prst="rect">
            <a:avLst/>
          </a:prstGeom>
          <a:noFill/>
          <a:ln/>
        </p:spPr>
        <p:txBody>
          <a:bodyPr wrap="square" lIns="76200" tIns="76200" rIns="76200" bIns="76200" rtlCol="0" anchor="ctr"/>
          <a:lstStyle/>
          <a:p>
            <a:pPr algn="ctr" indent="0" marL="0">
              <a:buNone/>
            </a:pPr>
            <a:r>
              <a:rPr lang="en-US" sz="4200" b="1" dirty="0">
                <a:solidFill>
                  <a:srgbClr val="FFFFFF"/>
                </a:solidFill>
                <a:latin typeface="Segoe UI" pitchFamily="34" charset="0"/>
                <a:ea typeface="Segoe UI" pitchFamily="34" charset="-122"/>
                <a:cs typeface="Segoe UI" pitchFamily="34" charset="-120"/>
              </a:rPr>
              <a:t>02</a:t>
            </a:r>
            <a:endParaRPr lang="en-US" sz="4200" dirty="0"/>
          </a:p>
        </p:txBody>
      </p:sp>
      <p:sp>
        <p:nvSpPr>
          <p:cNvPr id="12" name="Text 10"/>
          <p:cNvSpPr/>
          <p:nvPr/>
        </p:nvSpPr>
        <p:spPr>
          <a:xfrm>
            <a:off x="2441448" y="1481328"/>
            <a:ext cx="2020824" cy="804672"/>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Copilot</a:t>
            </a:r>
            <a:endParaRPr lang="en-US" sz="1300" dirty="0"/>
          </a:p>
          <a:p>
            <a:pPr algn="ctr" indent="0" marL="0">
              <a:buNone/>
            </a:pPr>
            <a:r>
              <a:rPr lang="en-US" sz="1300" b="1" dirty="0">
                <a:solidFill>
                  <a:srgbClr val="FFFFFF"/>
                </a:solidFill>
                <a:latin typeface="Segoe UI" pitchFamily="34" charset="0"/>
                <a:ea typeface="Segoe UI" pitchFamily="34" charset="-122"/>
                <a:cs typeface="Segoe UI" pitchFamily="34" charset="-120"/>
              </a:rPr>
              <a:t>Code Review</a:t>
            </a:r>
            <a:endParaRPr lang="en-US" sz="1300" dirty="0"/>
          </a:p>
        </p:txBody>
      </p:sp>
      <p:sp>
        <p:nvSpPr>
          <p:cNvPr id="13" name="Shape 11"/>
          <p:cNvSpPr/>
          <p:nvPr/>
        </p:nvSpPr>
        <p:spPr>
          <a:xfrm>
            <a:off x="2852928" y="2322576"/>
            <a:ext cx="1197864" cy="292608"/>
          </a:xfrm>
          <a:prstGeom prst="rect">
            <a:avLst/>
          </a:prstGeom>
          <a:solidFill>
            <a:srgbClr val="FFFFFF">
              <a:alpha val="80000"/>
            </a:srgbClr>
          </a:solidFill>
          <a:ln w="12700">
            <a:solidFill>
              <a:srgbClr val="FFFFFF"/>
            </a:solidFill>
            <a:prstDash val="solid"/>
          </a:ln>
        </p:spPr>
      </p:sp>
      <p:sp>
        <p:nvSpPr>
          <p:cNvPr id="14" name="Text 12"/>
          <p:cNvSpPr/>
          <p:nvPr/>
        </p:nvSpPr>
        <p:spPr>
          <a:xfrm>
            <a:off x="2852928" y="2322576"/>
            <a:ext cx="119786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5項目</a:t>
            </a:r>
            <a:endParaRPr lang="en-US" sz="1200" dirty="0"/>
          </a:p>
        </p:txBody>
      </p:sp>
      <p:sp>
        <p:nvSpPr>
          <p:cNvPr id="15" name="Text 13"/>
          <p:cNvSpPr/>
          <p:nvPr/>
        </p:nvSpPr>
        <p:spPr>
          <a:xfrm>
            <a:off x="2468880" y="2706624"/>
            <a:ext cx="1965960" cy="2148840"/>
          </a:xfrm>
          <a:prstGeom prst="rect">
            <a:avLst/>
          </a:prstGeom>
          <a:noFill/>
          <a:ln/>
        </p:spPr>
        <p:txBody>
          <a:bodyPr wrap="square" lIns="50800" tIns="50800" rIns="50800" bIns="50800" rtlCol="0" anchor="t"/>
          <a:lstStyle/>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拡張性強化 (Custom/MCP)</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Medium tier review</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/security-review</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/rubberduck  GA</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Azure Repos 対応</a:t>
            </a:r>
            <a:endParaRPr lang="en-US" sz="1000" dirty="0"/>
          </a:p>
        </p:txBody>
      </p:sp>
      <p:sp>
        <p:nvSpPr>
          <p:cNvPr id="16" name="Shape 14"/>
          <p:cNvSpPr/>
          <p:nvPr/>
        </p:nvSpPr>
        <p:spPr>
          <a:xfrm>
            <a:off x="4617720" y="658368"/>
            <a:ext cx="2148840" cy="4251960"/>
          </a:xfrm>
          <a:prstGeom prst="rect">
            <a:avLst/>
          </a:prstGeom>
          <a:solidFill>
            <a:srgbClr val="CF222E"/>
          </a:solidFill>
          <a:ln w="12700">
            <a:solidFill>
              <a:srgbClr val="CF222E"/>
            </a:solidFill>
            <a:prstDash val="solid"/>
          </a:ln>
          <a:effectLst>
            <a:outerShdw sx="100000" sy="100000" kx="0" ky="0" algn="bl" rotWithShape="0" blurRad="63500" dist="25400" dir="8100000">
              <a:srgbClr val="000000">
                <a:alpha val="10000"/>
              </a:srgbClr>
            </a:outerShdw>
          </a:effectLst>
        </p:spPr>
      </p:sp>
      <p:sp>
        <p:nvSpPr>
          <p:cNvPr id="17" name="Text 15"/>
          <p:cNvSpPr/>
          <p:nvPr/>
        </p:nvSpPr>
        <p:spPr>
          <a:xfrm>
            <a:off x="4617720" y="694944"/>
            <a:ext cx="2148840" cy="822960"/>
          </a:xfrm>
          <a:prstGeom prst="rect">
            <a:avLst/>
          </a:prstGeom>
          <a:noFill/>
          <a:ln/>
        </p:spPr>
        <p:txBody>
          <a:bodyPr wrap="square" lIns="76200" tIns="76200" rIns="76200" bIns="76200" rtlCol="0" anchor="ctr"/>
          <a:lstStyle/>
          <a:p>
            <a:pPr algn="ctr" indent="0" marL="0">
              <a:buNone/>
            </a:pPr>
            <a:r>
              <a:rPr lang="en-US" sz="4200" b="1" dirty="0">
                <a:solidFill>
                  <a:srgbClr val="FFFFFF"/>
                </a:solidFill>
                <a:latin typeface="Segoe UI" pitchFamily="34" charset="0"/>
                <a:ea typeface="Segoe UI" pitchFamily="34" charset="-122"/>
                <a:cs typeface="Segoe UI" pitchFamily="34" charset="-120"/>
              </a:rPr>
              <a:t>03</a:t>
            </a:r>
            <a:endParaRPr lang="en-US" sz="4200" dirty="0"/>
          </a:p>
        </p:txBody>
      </p:sp>
      <p:sp>
        <p:nvSpPr>
          <p:cNvPr id="18" name="Text 16"/>
          <p:cNvSpPr/>
          <p:nvPr/>
        </p:nvSpPr>
        <p:spPr>
          <a:xfrm>
            <a:off x="4681728" y="1481328"/>
            <a:ext cx="2020824" cy="804672"/>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SDK / CLI</a:t>
            </a:r>
            <a:endParaRPr lang="en-US" sz="1300" dirty="0"/>
          </a:p>
          <a:p>
            <a:pPr algn="ctr" indent="0" marL="0">
              <a:buNone/>
            </a:pPr>
            <a:r>
              <a:rPr lang="en-US" sz="1300" b="1" dirty="0">
                <a:solidFill>
                  <a:srgbClr val="FFFFFF"/>
                </a:solidFill>
                <a:latin typeface="Segoe UI" pitchFamily="34" charset="0"/>
                <a:ea typeface="Segoe UI" pitchFamily="34" charset="-122"/>
                <a:cs typeface="Segoe UI" pitchFamily="34" charset="-120"/>
              </a:rPr>
              <a:t>実行基盤 / IDE</a:t>
            </a:r>
            <a:endParaRPr lang="en-US" sz="1300" dirty="0"/>
          </a:p>
        </p:txBody>
      </p:sp>
      <p:sp>
        <p:nvSpPr>
          <p:cNvPr id="19" name="Shape 17"/>
          <p:cNvSpPr/>
          <p:nvPr/>
        </p:nvSpPr>
        <p:spPr>
          <a:xfrm>
            <a:off x="5093208" y="2322576"/>
            <a:ext cx="1197864" cy="292608"/>
          </a:xfrm>
          <a:prstGeom prst="rect">
            <a:avLst/>
          </a:prstGeom>
          <a:solidFill>
            <a:srgbClr val="FFFFFF">
              <a:alpha val="80000"/>
            </a:srgbClr>
          </a:solidFill>
          <a:ln w="12700">
            <a:solidFill>
              <a:srgbClr val="FFFFFF"/>
            </a:solidFill>
            <a:prstDash val="solid"/>
          </a:ln>
        </p:spPr>
      </p:sp>
      <p:sp>
        <p:nvSpPr>
          <p:cNvPr id="20" name="Text 18"/>
          <p:cNvSpPr/>
          <p:nvPr/>
        </p:nvSpPr>
        <p:spPr>
          <a:xfrm>
            <a:off x="5093208" y="2322576"/>
            <a:ext cx="119786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15項目</a:t>
            </a:r>
            <a:endParaRPr lang="en-US" sz="1200" dirty="0"/>
          </a:p>
        </p:txBody>
      </p:sp>
      <p:sp>
        <p:nvSpPr>
          <p:cNvPr id="21" name="Text 19"/>
          <p:cNvSpPr/>
          <p:nvPr/>
        </p:nvSpPr>
        <p:spPr>
          <a:xfrm>
            <a:off x="4709160" y="2706624"/>
            <a:ext cx="1965960" cy="2148840"/>
          </a:xfrm>
          <a:prstGeom prst="rect">
            <a:avLst/>
          </a:prstGeom>
          <a:noFill/>
          <a:ln/>
        </p:spPr>
        <p:txBody>
          <a:bodyPr wrap="square" lIns="50800" tIns="50800" rIns="50800" bIns="50800" rtlCol="0" anchor="t"/>
          <a:lstStyle/>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Copilot SDK GA (6言語)</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CLI TUI / Voice / Schedule</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JetBrains 7機能強化</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VS Code Multi-Agent</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Visual Studio Plan agent</a:t>
            </a:r>
            <a:endParaRPr lang="en-US" sz="1000" dirty="0"/>
          </a:p>
        </p:txBody>
      </p:sp>
      <p:sp>
        <p:nvSpPr>
          <p:cNvPr id="22" name="Shape 20"/>
          <p:cNvSpPr/>
          <p:nvPr/>
        </p:nvSpPr>
        <p:spPr>
          <a:xfrm>
            <a:off x="6858000" y="658368"/>
            <a:ext cx="2148840" cy="4251960"/>
          </a:xfrm>
          <a:prstGeom prst="rect">
            <a:avLst/>
          </a:prstGeom>
          <a:solidFill>
            <a:srgbClr val="8250DF"/>
          </a:solidFill>
          <a:ln w="12700">
            <a:solidFill>
              <a:srgbClr val="8250DF"/>
            </a:solidFill>
            <a:prstDash val="solid"/>
          </a:ln>
          <a:effectLst>
            <a:outerShdw sx="100000" sy="100000" kx="0" ky="0" algn="bl" rotWithShape="0" blurRad="63500" dist="25400" dir="8100000">
              <a:srgbClr val="000000">
                <a:alpha val="10000"/>
              </a:srgbClr>
            </a:outerShdw>
          </a:effectLst>
        </p:spPr>
      </p:sp>
      <p:sp>
        <p:nvSpPr>
          <p:cNvPr id="23" name="Text 21"/>
          <p:cNvSpPr/>
          <p:nvPr/>
        </p:nvSpPr>
        <p:spPr>
          <a:xfrm>
            <a:off x="6858000" y="694944"/>
            <a:ext cx="2148840" cy="822960"/>
          </a:xfrm>
          <a:prstGeom prst="rect">
            <a:avLst/>
          </a:prstGeom>
          <a:noFill/>
          <a:ln/>
        </p:spPr>
        <p:txBody>
          <a:bodyPr wrap="square" lIns="76200" tIns="76200" rIns="76200" bIns="76200" rtlCol="0" anchor="ctr"/>
          <a:lstStyle/>
          <a:p>
            <a:pPr algn="ctr" indent="0" marL="0">
              <a:buNone/>
            </a:pPr>
            <a:r>
              <a:rPr lang="en-US" sz="4200" b="1" dirty="0">
                <a:solidFill>
                  <a:srgbClr val="FFFFFF"/>
                </a:solidFill>
                <a:latin typeface="Segoe UI" pitchFamily="34" charset="0"/>
                <a:ea typeface="Segoe UI" pitchFamily="34" charset="-122"/>
                <a:cs typeface="Segoe UI" pitchFamily="34" charset="-120"/>
              </a:rPr>
              <a:t>04</a:t>
            </a:r>
            <a:endParaRPr lang="en-US" sz="4200" dirty="0"/>
          </a:p>
        </p:txBody>
      </p:sp>
      <p:sp>
        <p:nvSpPr>
          <p:cNvPr id="24" name="Text 22"/>
          <p:cNvSpPr/>
          <p:nvPr/>
        </p:nvSpPr>
        <p:spPr>
          <a:xfrm>
            <a:off x="6922008" y="1481328"/>
            <a:ext cx="2020824" cy="804672"/>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Cloud Agent</a:t>
            </a:r>
            <a:endParaRPr lang="en-US" sz="1300" dirty="0"/>
          </a:p>
          <a:p>
            <a:pPr algn="ctr" indent="0" marL="0">
              <a:buNone/>
            </a:pPr>
            <a:r>
              <a:rPr lang="en-US" sz="1300" b="1" dirty="0">
                <a:solidFill>
                  <a:srgbClr val="FFFFFF"/>
                </a:solidFill>
                <a:latin typeface="Segoe UI" pitchFamily="34" charset="0"/>
                <a:ea typeface="Segoe UI" pitchFamily="34" charset="-122"/>
                <a:cs typeface="Segoe UI" pitchFamily="34" charset="-120"/>
              </a:rPr>
              <a:t>エコシステム</a:t>
            </a:r>
            <a:endParaRPr lang="en-US" sz="1300" dirty="0"/>
          </a:p>
        </p:txBody>
      </p:sp>
      <p:sp>
        <p:nvSpPr>
          <p:cNvPr id="25" name="Shape 23"/>
          <p:cNvSpPr/>
          <p:nvPr/>
        </p:nvSpPr>
        <p:spPr>
          <a:xfrm>
            <a:off x="7333488" y="2322576"/>
            <a:ext cx="1197864" cy="292608"/>
          </a:xfrm>
          <a:prstGeom prst="rect">
            <a:avLst/>
          </a:prstGeom>
          <a:solidFill>
            <a:srgbClr val="FFFFFF">
              <a:alpha val="80000"/>
            </a:srgbClr>
          </a:solidFill>
          <a:ln w="12700">
            <a:solidFill>
              <a:srgbClr val="FFFFFF"/>
            </a:solidFill>
            <a:prstDash val="solid"/>
          </a:ln>
        </p:spPr>
      </p:sp>
      <p:sp>
        <p:nvSpPr>
          <p:cNvPr id="26" name="Text 24"/>
          <p:cNvSpPr/>
          <p:nvPr/>
        </p:nvSpPr>
        <p:spPr>
          <a:xfrm>
            <a:off x="7333488" y="2322576"/>
            <a:ext cx="119786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9項目</a:t>
            </a:r>
            <a:endParaRPr lang="en-US" sz="1200" dirty="0"/>
          </a:p>
        </p:txBody>
      </p:sp>
      <p:sp>
        <p:nvSpPr>
          <p:cNvPr id="27" name="Text 25"/>
          <p:cNvSpPr/>
          <p:nvPr/>
        </p:nvSpPr>
        <p:spPr>
          <a:xfrm>
            <a:off x="6949440" y="2706624"/>
            <a:ext cx="1965960" cy="2148840"/>
          </a:xfrm>
          <a:prstGeom prst="rect">
            <a:avLst/>
          </a:prstGeom>
          <a:noFill/>
          <a:ln/>
        </p:spPr>
        <p:txBody>
          <a:bodyPr wrap="square" lIns="50800" tIns="50800" rIns="50800" bIns="50800" rtlCol="0" anchor="t"/>
          <a:lstStyle/>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Cloud Automations</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PAT 不要</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Memory++ / /chronicle</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Partner Apps (9社)</a:t>
            </a:r>
            <a:endParaRPr lang="en-US" sz="1000" dirty="0"/>
          </a:p>
          <a:p>
            <a:pPr marL="342900" indent="-342900">
              <a:spcAft>
                <a:spcPts val="300"/>
              </a:spcAft>
              <a:buSzPct val="100000"/>
              <a:buChar char="•"/>
            </a:pPr>
            <a:r>
              <a:rPr lang="en-US" sz="1000" dirty="0">
                <a:solidFill>
                  <a:srgbClr val="FFFFFF"/>
                </a:solidFill>
                <a:latin typeface="Segoe UI" pitchFamily="34" charset="0"/>
                <a:ea typeface="Segoe UI" pitchFamily="34" charset="-122"/>
                <a:cs typeface="Segoe UI" pitchFamily="34" charset="-120"/>
              </a:rPr>
              <a:t>MAI モデルファミリー (7)</a:t>
            </a:r>
            <a:endParaRPr lang="en-US" sz="1000" dirty="0"/>
          </a:p>
        </p:txBody>
      </p:sp>
      <p:sp>
        <p:nvSpPr>
          <p:cNvPr id="28" name="Text 26"/>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69DA"/>
        </a:solidFill>
      </p:bgPr>
    </p:bg>
    <p:spTree>
      <p:nvGrpSpPr>
        <p:cNvPr id="1" name=""/>
        <p:cNvGrpSpPr/>
        <p:nvPr/>
      </p:nvGrpSpPr>
      <p:grpSpPr>
        <a:xfrm>
          <a:off x="0" y="0"/>
          <a:ext cx="0" cy="0"/>
          <a:chOff x="0" y="0"/>
          <a:chExt cx="0" cy="0"/>
        </a:xfrm>
      </p:grpSpPr>
      <p:sp>
        <p:nvSpPr>
          <p:cNvPr id="2" name="Shape 0"/>
          <p:cNvSpPr/>
          <p:nvPr/>
        </p:nvSpPr>
        <p:spPr>
          <a:xfrm>
            <a:off x="6400800" y="-1645920"/>
            <a:ext cx="5486400" cy="5486400"/>
          </a:xfrm>
          <a:prstGeom prst="ellipse">
            <a:avLst/>
          </a:prstGeom>
          <a:solidFill>
            <a:srgbClr val="FFFFFF">
              <a:alpha val="10000"/>
            </a:srgbClr>
          </a:solidFill>
          <a:ln w="12700">
            <a:solidFill>
              <a:srgbClr val="FFFFFF"/>
            </a:solidFill>
            <a:prstDash val="solid"/>
          </a:ln>
        </p:spPr>
      </p:sp>
      <p:sp>
        <p:nvSpPr>
          <p:cNvPr id="3" name="Shape 1"/>
          <p:cNvSpPr/>
          <p:nvPr/>
        </p:nvSpPr>
        <p:spPr>
          <a:xfrm>
            <a:off x="-914400" y="3200400"/>
            <a:ext cx="3200400" cy="3200400"/>
          </a:xfrm>
          <a:prstGeom prst="ellipse">
            <a:avLst/>
          </a:prstGeom>
          <a:solidFill>
            <a:srgbClr val="FFFFFF">
              <a:alpha val="7000"/>
            </a:srgbClr>
          </a:solidFill>
          <a:ln w="12700">
            <a:solidFill>
              <a:srgbClr val="FFFFFF"/>
            </a:solidFill>
            <a:prstDash val="solid"/>
          </a:ln>
        </p:spPr>
      </p:sp>
      <p:sp>
        <p:nvSpPr>
          <p:cNvPr id="4" name="Text 2"/>
          <p:cNvSpPr/>
          <p:nvPr/>
        </p:nvSpPr>
        <p:spPr>
          <a:xfrm>
            <a:off x="365760" y="731520"/>
            <a:ext cx="1463040" cy="1828800"/>
          </a:xfrm>
          <a:prstGeom prst="rect">
            <a:avLst/>
          </a:prstGeom>
          <a:noFill/>
          <a:ln/>
        </p:spPr>
        <p:txBody>
          <a:bodyPr wrap="square" lIns="0" tIns="0" rIns="0" bIns="0"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01</a:t>
            </a:r>
            <a:endParaRPr lang="en-US" sz="8000" dirty="0"/>
          </a:p>
        </p:txBody>
      </p:sp>
      <p:sp>
        <p:nvSpPr>
          <p:cNvPr id="5" name="Shape 3"/>
          <p:cNvSpPr/>
          <p:nvPr/>
        </p:nvSpPr>
        <p:spPr>
          <a:xfrm>
            <a:off x="2011680" y="1005840"/>
            <a:ext cx="64008" cy="1554480"/>
          </a:xfrm>
          <a:prstGeom prst="rect">
            <a:avLst/>
          </a:prstGeom>
          <a:solidFill>
            <a:srgbClr val="FFFFFF">
              <a:alpha val="60000"/>
            </a:srgbClr>
          </a:solidFill>
          <a:ln w="12700">
            <a:solidFill>
              <a:srgbClr val="FFFFFF"/>
            </a:solidFill>
            <a:prstDash val="solid"/>
          </a:ln>
        </p:spPr>
      </p:sp>
      <p:sp>
        <p:nvSpPr>
          <p:cNvPr id="6" name="Text 4"/>
          <p:cNvSpPr/>
          <p:nvPr/>
        </p:nvSpPr>
        <p:spPr>
          <a:xfrm>
            <a:off x="2286000" y="868680"/>
            <a:ext cx="6492240" cy="1005840"/>
          </a:xfrm>
          <a:prstGeom prst="rect">
            <a:avLst/>
          </a:prstGeom>
          <a:noFill/>
          <a:ln/>
        </p:spPr>
        <p:txBody>
          <a:bodyPr wrap="square" lIns="0" tIns="0" rIns="0" bIns="0"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Copilot App &amp; エージェント開発体験</a:t>
            </a:r>
            <a:endParaRPr lang="en-US" sz="3200" dirty="0"/>
          </a:p>
        </p:txBody>
      </p:sp>
      <p:sp>
        <p:nvSpPr>
          <p:cNvPr id="7" name="Text 5"/>
          <p:cNvSpPr/>
          <p:nvPr/>
        </p:nvSpPr>
        <p:spPr>
          <a:xfrm>
            <a:off x="2286000" y="2011680"/>
            <a:ext cx="6492240" cy="822960"/>
          </a:xfrm>
          <a:prstGeom prst="rect">
            <a:avLst/>
          </a:prstGeom>
          <a:noFill/>
          <a:ln/>
        </p:spPr>
        <p:txBody>
          <a:bodyPr wrap="square" lIns="0" tIns="0" rIns="0" bIns="0"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エージェントネイティブなデスクトップ体験 ／ 並列エージェントのコントロールセンター</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969DA"/>
          </a:solidFill>
          <a:ln w="12700">
            <a:solidFill>
              <a:srgbClr val="0969DA"/>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01 — GitHub Copilot App：My Work ダッシュボード</a:t>
            </a:r>
            <a:endParaRPr lang="en-US" sz="1900" dirty="0"/>
          </a:p>
        </p:txBody>
      </p:sp>
      <p:sp>
        <p:nvSpPr>
          <p:cNvPr id="4" name="Shape 2"/>
          <p:cNvSpPr/>
          <p:nvPr/>
        </p:nvSpPr>
        <p:spPr>
          <a:xfrm>
            <a:off x="182880" y="640080"/>
            <a:ext cx="4572000" cy="429768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40080"/>
            <a:ext cx="64008" cy="4297680"/>
          </a:xfrm>
          <a:prstGeom prst="rect">
            <a:avLst/>
          </a:prstGeom>
          <a:solidFill>
            <a:srgbClr val="0969DA"/>
          </a:solidFill>
          <a:ln w="12700">
            <a:solidFill>
              <a:srgbClr val="0969DA"/>
            </a:solidFill>
            <a:prstDash val="solid"/>
          </a:ln>
        </p:spPr>
      </p:sp>
      <p:sp>
        <p:nvSpPr>
          <p:cNvPr id="6" name="Text 4"/>
          <p:cNvSpPr/>
          <p:nvPr/>
        </p:nvSpPr>
        <p:spPr>
          <a:xfrm>
            <a:off x="411480" y="694944"/>
            <a:ext cx="4206240" cy="365760"/>
          </a:xfrm>
          <a:prstGeom prst="rect">
            <a:avLst/>
          </a:prstGeom>
          <a:noFill/>
          <a:ln/>
        </p:spPr>
        <p:txBody>
          <a:bodyPr wrap="square" lIns="0" tIns="0" rIns="0" bIns="0" rtlCol="0" anchor="ctr"/>
          <a:lstStyle/>
          <a:p>
            <a:pPr indent="0" marL="0">
              <a:buNone/>
            </a:pPr>
            <a:r>
              <a:rPr lang="en-US" sz="1400" b="1" dirty="0">
                <a:solidFill>
                  <a:srgbClr val="0969DA"/>
                </a:solidFill>
                <a:latin typeface="Segoe UI" pitchFamily="34" charset="0"/>
                <a:ea typeface="Segoe UI" pitchFamily="34" charset="-122"/>
                <a:cs typeface="Segoe UI" pitchFamily="34" charset="-120"/>
              </a:rPr>
              <a:t>何が登場したか</a:t>
            </a:r>
            <a:endParaRPr lang="en-US" sz="1400" dirty="0"/>
          </a:p>
        </p:txBody>
      </p:sp>
      <p:sp>
        <p:nvSpPr>
          <p:cNvPr id="7" name="Text 5"/>
          <p:cNvSpPr/>
          <p:nvPr/>
        </p:nvSpPr>
        <p:spPr>
          <a:xfrm>
            <a:off x="411480" y="1115568"/>
            <a:ext cx="4023360" cy="3749040"/>
          </a:xfrm>
          <a:prstGeom prst="rect">
            <a:avLst/>
          </a:prstGeom>
          <a:noFill/>
          <a:ln/>
        </p:spPr>
        <p:txBody>
          <a:bodyPr wrap="square" lIns="0" tIns="0" rIns="0" bIns="0" rtlCol="0" anchor="t"/>
          <a:lstStyle/>
          <a:p>
            <a:pPr indent="0" marL="0">
              <a:spcAft>
                <a:spcPts val="400"/>
              </a:spcAft>
              <a:buNone/>
            </a:pPr>
            <a:r>
              <a:rPr lang="en-US" sz="1200" b="1" dirty="0">
                <a:solidFill>
                  <a:srgbClr val="1F2328"/>
                </a:solidFill>
                <a:latin typeface="Segoe UI" pitchFamily="34" charset="0"/>
                <a:ea typeface="Segoe UI" pitchFamily="34" charset="-122"/>
                <a:cs typeface="Segoe UI" pitchFamily="34" charset="-120"/>
              </a:rPr>
              <a:t>スタンドアロンのデスクトップアプリ
</a:t>
            </a:r>
            <a:pPr indent="0" marL="0">
              <a:spcAft>
                <a:spcPts val="400"/>
              </a:spcAft>
              <a:buNone/>
            </a:pPr>
            <a:r>
              <a:rPr lang="en-US" sz="1200" dirty="0">
                <a:solidFill>
                  <a:srgbClr val="1F2328"/>
                </a:solidFill>
                <a:latin typeface="Segoe UI" pitchFamily="34" charset="0"/>
                <a:ea typeface="Segoe UI" pitchFamily="34" charset="-122"/>
                <a:cs typeface="Segoe UI" pitchFamily="34" charset="-120"/>
              </a:rPr>
              <a:t>（エディタのサイドバーではなく独立したアプリ）
</a:t>
            </a:r>
            <a:pPr indent="0" marL="0">
              <a:spcAft>
                <a:spcPts val="400"/>
              </a:spcAft>
              <a:buNone/>
            </a:pPr>
            <a:r>
              <a:rPr lang="en-US" sz="1200" b="1" dirty="0">
                <a:solidFill>
                  <a:srgbClr val="1F2328"/>
                </a:solidFill>
                <a:latin typeface="Segoe UI" pitchFamily="34" charset="0"/>
                <a:ea typeface="Segoe UI" pitchFamily="34" charset="-122"/>
                <a:cs typeface="Segoe UI" pitchFamily="34" charset="-120"/>
              </a:rPr>
              <a:t>My Work ビューで一元管理：
</a:t>
            </a:r>
            <a:endParaRPr lang="en-US" sz="1200" dirty="0"/>
          </a:p>
          <a:p>
            <a:pPr marL="342900" indent="-342900">
              <a:spcAft>
                <a:spcPts val="400"/>
              </a:spcAft>
              <a:buSzPct val="100000"/>
              <a:buChar char="•"/>
            </a:pPr>
            <a:r>
              <a:rPr lang="en-US" sz="1200" dirty="0">
                <a:solidFill>
                  <a:srgbClr val="1F2328"/>
                </a:solidFill>
                <a:latin typeface="Segoe UI" pitchFamily="34" charset="0"/>
                <a:ea typeface="Segoe UI" pitchFamily="34" charset="-122"/>
                <a:cs typeface="Segoe UI" pitchFamily="34" charset="-120"/>
              </a:rPr>
              <a:t>アクティブなセッション</a:t>
            </a:r>
            <a:endParaRPr lang="en-US" sz="1200" dirty="0"/>
          </a:p>
          <a:p>
            <a:pPr marL="342900" indent="-342900">
              <a:spcAft>
                <a:spcPts val="400"/>
              </a:spcAft>
              <a:buSzPct val="100000"/>
              <a:buChar char="•"/>
            </a:pPr>
            <a:r>
              <a:rPr lang="en-US" sz="1200" dirty="0">
                <a:solidFill>
                  <a:srgbClr val="1F2328"/>
                </a:solidFill>
                <a:latin typeface="Segoe UI" pitchFamily="34" charset="0"/>
                <a:ea typeface="Segoe UI" pitchFamily="34" charset="-122"/>
                <a:cs typeface="Segoe UI" pitchFamily="34" charset="-120"/>
              </a:rPr>
              <a:t>Issue / Pull Request</a:t>
            </a:r>
            <a:endParaRPr lang="en-US" sz="1200" dirty="0"/>
          </a:p>
          <a:p>
            <a:pPr marL="342900" indent="-342900">
              <a:spcAft>
                <a:spcPts val="400"/>
              </a:spcAft>
              <a:buSzPct val="100000"/>
              <a:buChar char="•"/>
            </a:pPr>
            <a:r>
              <a:rPr lang="en-US" sz="1200" dirty="0">
                <a:solidFill>
                  <a:srgbClr val="1F2328"/>
                </a:solidFill>
                <a:latin typeface="Segoe UI" pitchFamily="34" charset="0"/>
                <a:ea typeface="Segoe UI" pitchFamily="34" charset="-122"/>
                <a:cs typeface="Segoe UI" pitchFamily="34" charset="-120"/>
              </a:rPr>
              <a:t>バックグラウンド自動化</a:t>
            </a:r>
            <a:pPr indent="0" marL="0">
              <a:spcAft>
                <a:spcPts val="400"/>
              </a:spcAft>
              <a:buNone/>
            </a:pPr>
            <a:r>
              <a:rPr lang="en-US" sz="1200" b="1" dirty="0">
                <a:solidFill>
                  <a:srgbClr val="1F2328"/>
                </a:solidFill>
                <a:latin typeface="Segoe UI" pitchFamily="34" charset="0"/>
                <a:ea typeface="Segoe UI" pitchFamily="34" charset="-122"/>
                <a:cs typeface="Segoe UI" pitchFamily="34" charset="-120"/>
              </a:rPr>
              <a:t>
対象プラン（技術プレビュー）：
</a:t>
            </a:r>
            <a:endParaRPr lang="en-US" sz="1200" dirty="0"/>
          </a:p>
          <a:p>
            <a:pPr marL="342900" indent="-342900">
              <a:spcAft>
                <a:spcPts val="400"/>
              </a:spcAft>
              <a:buSzPct val="100000"/>
              <a:buChar char="•"/>
            </a:pPr>
            <a:r>
              <a:rPr lang="en-US" sz="1200" dirty="0">
                <a:solidFill>
                  <a:srgbClr val="1F2328"/>
                </a:solidFill>
                <a:latin typeface="Segoe UI" pitchFamily="34" charset="0"/>
                <a:ea typeface="Segoe UI" pitchFamily="34" charset="-122"/>
                <a:cs typeface="Segoe UI" pitchFamily="34" charset="-120"/>
              </a:rPr>
              <a:t>Pro / Pro+ / Business / Enterprise</a:t>
            </a:r>
            <a:endParaRPr lang="en-US" sz="1200" dirty="0"/>
          </a:p>
        </p:txBody>
      </p:sp>
      <p:sp>
        <p:nvSpPr>
          <p:cNvPr id="8" name="Text 6"/>
          <p:cNvSpPr/>
          <p:nvPr/>
        </p:nvSpPr>
        <p:spPr>
          <a:xfrm>
            <a:off x="4937760" y="694944"/>
            <a:ext cx="3931920" cy="347472"/>
          </a:xfrm>
          <a:prstGeom prst="rect">
            <a:avLst/>
          </a:prstGeom>
          <a:noFill/>
          <a:ln/>
        </p:spPr>
        <p:txBody>
          <a:bodyPr wrap="square" lIns="0" tIns="0" rIns="0" bIns="0" rtlCol="0" anchor="ctr"/>
          <a:lstStyle/>
          <a:p>
            <a:pPr indent="0" marL="0">
              <a:buNone/>
            </a:pPr>
            <a:r>
              <a:rPr lang="en-US" sz="1300" b="1" dirty="0">
                <a:solidFill>
                  <a:srgbClr val="1F2328"/>
                </a:solidFill>
                <a:latin typeface="Segoe UI" pitchFamily="34" charset="0"/>
                <a:ea typeface="Segoe UI" pitchFamily="34" charset="-122"/>
                <a:cs typeface="Segoe UI" pitchFamily="34" charset="-120"/>
              </a:rPr>
              <a:t>朝の時点で3つの作業が並列実行中</a:t>
            </a:r>
            <a:endParaRPr lang="en-US" sz="1300" dirty="0"/>
          </a:p>
        </p:txBody>
      </p:sp>
      <p:sp>
        <p:nvSpPr>
          <p:cNvPr id="9" name="Shape 7"/>
          <p:cNvSpPr/>
          <p:nvPr/>
        </p:nvSpPr>
        <p:spPr>
          <a:xfrm>
            <a:off x="4937760" y="1097280"/>
            <a:ext cx="3931920" cy="117043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0" name="Shape 8"/>
          <p:cNvSpPr/>
          <p:nvPr/>
        </p:nvSpPr>
        <p:spPr>
          <a:xfrm>
            <a:off x="4937760" y="1097280"/>
            <a:ext cx="64008" cy="1170432"/>
          </a:xfrm>
          <a:prstGeom prst="rect">
            <a:avLst/>
          </a:prstGeom>
          <a:solidFill>
            <a:srgbClr val="CF222E"/>
          </a:solidFill>
          <a:ln w="12700">
            <a:solidFill>
              <a:srgbClr val="CF222E"/>
            </a:solidFill>
            <a:prstDash val="solid"/>
          </a:ln>
        </p:spPr>
      </p:sp>
      <p:sp>
        <p:nvSpPr>
          <p:cNvPr id="11" name="Shape 9"/>
          <p:cNvSpPr/>
          <p:nvPr/>
        </p:nvSpPr>
        <p:spPr>
          <a:xfrm>
            <a:off x="5074920" y="1170432"/>
            <a:ext cx="502920" cy="347472"/>
          </a:xfrm>
          <a:prstGeom prst="rect">
            <a:avLst/>
          </a:prstGeom>
          <a:solidFill>
            <a:srgbClr val="CF222E"/>
          </a:solidFill>
          <a:ln w="12700">
            <a:solidFill>
              <a:srgbClr val="CF222E"/>
            </a:solidFill>
            <a:prstDash val="solid"/>
          </a:ln>
        </p:spPr>
      </p:sp>
      <p:sp>
        <p:nvSpPr>
          <p:cNvPr id="12" name="Text 10"/>
          <p:cNvSpPr/>
          <p:nvPr/>
        </p:nvSpPr>
        <p:spPr>
          <a:xfrm>
            <a:off x="5074920" y="1170432"/>
            <a:ext cx="5029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Bug</a:t>
            </a:r>
            <a:endParaRPr lang="en-US" sz="1000" dirty="0"/>
          </a:p>
        </p:txBody>
      </p:sp>
      <p:sp>
        <p:nvSpPr>
          <p:cNvPr id="13" name="Text 11"/>
          <p:cNvSpPr/>
          <p:nvPr/>
        </p:nvSpPr>
        <p:spPr>
          <a:xfrm>
            <a:off x="5669280" y="1170432"/>
            <a:ext cx="3108960" cy="384048"/>
          </a:xfrm>
          <a:prstGeom prst="rect">
            <a:avLst/>
          </a:prstGeom>
          <a:noFill/>
          <a:ln/>
        </p:spPr>
        <p:txBody>
          <a:bodyPr wrap="square" lIns="0" tIns="0" rIns="0" bIns="0" rtlCol="0" anchor="ctr"/>
          <a:lstStyle/>
          <a:p>
            <a:pPr indent="0" marL="0">
              <a:buNone/>
            </a:pPr>
            <a:r>
              <a:rPr lang="en-US" sz="1300" b="1" dirty="0">
                <a:solidFill>
                  <a:srgbClr val="1F2328"/>
                </a:solidFill>
                <a:latin typeface="Segoe UI" pitchFamily="34" charset="0"/>
                <a:ea typeface="Segoe UI" pitchFamily="34" charset="-122"/>
                <a:cs typeface="Segoe UI" pitchFamily="34" charset="-120"/>
              </a:rPr>
              <a:t>本番バグ調査中</a:t>
            </a:r>
            <a:endParaRPr lang="en-US" sz="1300" dirty="0"/>
          </a:p>
        </p:txBody>
      </p:sp>
      <p:sp>
        <p:nvSpPr>
          <p:cNvPr id="14" name="Text 12"/>
          <p:cNvSpPr/>
          <p:nvPr/>
        </p:nvSpPr>
        <p:spPr>
          <a:xfrm>
            <a:off x="5669280" y="1645920"/>
            <a:ext cx="3108960" cy="384048"/>
          </a:xfrm>
          <a:prstGeom prst="rect">
            <a:avLst/>
          </a:prstGeom>
          <a:noFill/>
          <a:ln/>
        </p:spPr>
        <p:txBody>
          <a:bodyPr wrap="square" lIns="0" tIns="0" rIns="0" bIns="0" rtlCol="0" anchor="ctr"/>
          <a:lstStyle/>
          <a:p>
            <a:pPr indent="0" marL="0">
              <a:buNone/>
            </a:pPr>
            <a:r>
              <a:rPr lang="en-US" sz="1200" dirty="0">
                <a:solidFill>
                  <a:srgbClr val="6E7781"/>
                </a:solidFill>
                <a:latin typeface="Segoe UI" pitchFamily="34" charset="0"/>
                <a:ea typeface="Segoe UI" pitchFamily="34" charset="-122"/>
                <a:cs typeface="Segoe UI" pitchFamily="34" charset="-120"/>
              </a:rPr>
              <a:t>エージェントが並列で調査</a:t>
            </a:r>
            <a:endParaRPr lang="en-US" sz="1200" dirty="0"/>
          </a:p>
        </p:txBody>
      </p:sp>
      <p:sp>
        <p:nvSpPr>
          <p:cNvPr id="15" name="Shape 13"/>
          <p:cNvSpPr/>
          <p:nvPr/>
        </p:nvSpPr>
        <p:spPr>
          <a:xfrm>
            <a:off x="4937760" y="2423160"/>
            <a:ext cx="3931920" cy="117043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6" name="Shape 14"/>
          <p:cNvSpPr/>
          <p:nvPr/>
        </p:nvSpPr>
        <p:spPr>
          <a:xfrm>
            <a:off x="4937760" y="2423160"/>
            <a:ext cx="64008" cy="1170432"/>
          </a:xfrm>
          <a:prstGeom prst="rect">
            <a:avLst/>
          </a:prstGeom>
          <a:solidFill>
            <a:srgbClr val="2DA44E"/>
          </a:solidFill>
          <a:ln w="12700">
            <a:solidFill>
              <a:srgbClr val="2DA44E"/>
            </a:solidFill>
            <a:prstDash val="solid"/>
          </a:ln>
        </p:spPr>
      </p:sp>
      <p:sp>
        <p:nvSpPr>
          <p:cNvPr id="17" name="Shape 15"/>
          <p:cNvSpPr/>
          <p:nvPr/>
        </p:nvSpPr>
        <p:spPr>
          <a:xfrm>
            <a:off x="5074920" y="2496312"/>
            <a:ext cx="502920" cy="347472"/>
          </a:xfrm>
          <a:prstGeom prst="rect">
            <a:avLst/>
          </a:prstGeom>
          <a:solidFill>
            <a:srgbClr val="2DA44E"/>
          </a:solidFill>
          <a:ln w="12700">
            <a:solidFill>
              <a:srgbClr val="2DA44E"/>
            </a:solidFill>
            <a:prstDash val="solid"/>
          </a:ln>
        </p:spPr>
      </p:sp>
      <p:sp>
        <p:nvSpPr>
          <p:cNvPr id="18" name="Text 16"/>
          <p:cNvSpPr/>
          <p:nvPr/>
        </p:nvSpPr>
        <p:spPr>
          <a:xfrm>
            <a:off x="5074920" y="2496312"/>
            <a:ext cx="5029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Feat</a:t>
            </a:r>
            <a:endParaRPr lang="en-US" sz="1000" dirty="0"/>
          </a:p>
        </p:txBody>
      </p:sp>
      <p:sp>
        <p:nvSpPr>
          <p:cNvPr id="19" name="Text 17"/>
          <p:cNvSpPr/>
          <p:nvPr/>
        </p:nvSpPr>
        <p:spPr>
          <a:xfrm>
            <a:off x="5669280" y="2496312"/>
            <a:ext cx="3108960" cy="384048"/>
          </a:xfrm>
          <a:prstGeom prst="rect">
            <a:avLst/>
          </a:prstGeom>
          <a:noFill/>
          <a:ln/>
        </p:spPr>
        <p:txBody>
          <a:bodyPr wrap="square" lIns="0" tIns="0" rIns="0" bIns="0" rtlCol="0" anchor="ctr"/>
          <a:lstStyle/>
          <a:p>
            <a:pPr indent="0" marL="0">
              <a:buNone/>
            </a:pPr>
            <a:r>
              <a:rPr lang="en-US" sz="1300" b="1" dirty="0">
                <a:solidFill>
                  <a:srgbClr val="1F2328"/>
                </a:solidFill>
                <a:latin typeface="Segoe UI" pitchFamily="34" charset="0"/>
                <a:ea typeface="Segoe UI" pitchFamily="34" charset="-122"/>
                <a:cs typeface="Segoe UI" pitchFamily="34" charset="-120"/>
              </a:rPr>
              <a:t>バックログ実装中</a:t>
            </a:r>
            <a:endParaRPr lang="en-US" sz="1300" dirty="0"/>
          </a:p>
        </p:txBody>
      </p:sp>
      <p:sp>
        <p:nvSpPr>
          <p:cNvPr id="20" name="Text 18"/>
          <p:cNvSpPr/>
          <p:nvPr/>
        </p:nvSpPr>
        <p:spPr>
          <a:xfrm>
            <a:off x="5669280" y="2971800"/>
            <a:ext cx="3108960" cy="384048"/>
          </a:xfrm>
          <a:prstGeom prst="rect">
            <a:avLst/>
          </a:prstGeom>
          <a:noFill/>
          <a:ln/>
        </p:spPr>
        <p:txBody>
          <a:bodyPr wrap="square" lIns="0" tIns="0" rIns="0" bIns="0" rtlCol="0" anchor="ctr"/>
          <a:lstStyle/>
          <a:p>
            <a:pPr indent="0" marL="0">
              <a:buNone/>
            </a:pPr>
            <a:r>
              <a:rPr lang="en-US" sz="1200" dirty="0">
                <a:solidFill>
                  <a:srgbClr val="6E7781"/>
                </a:solidFill>
                <a:latin typeface="Segoe UI" pitchFamily="34" charset="0"/>
                <a:ea typeface="Segoe UI" pitchFamily="34" charset="-122"/>
                <a:cs typeface="Segoe UI" pitchFamily="34" charset="-120"/>
              </a:rPr>
              <a:t>IssueをCopilotに割り当て</a:t>
            </a:r>
            <a:endParaRPr lang="en-US" sz="1200" dirty="0"/>
          </a:p>
        </p:txBody>
      </p:sp>
      <p:sp>
        <p:nvSpPr>
          <p:cNvPr id="21" name="Shape 19"/>
          <p:cNvSpPr/>
          <p:nvPr/>
        </p:nvSpPr>
        <p:spPr>
          <a:xfrm>
            <a:off x="4937760" y="3749040"/>
            <a:ext cx="3931920" cy="117043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22" name="Shape 20"/>
          <p:cNvSpPr/>
          <p:nvPr/>
        </p:nvSpPr>
        <p:spPr>
          <a:xfrm>
            <a:off x="4937760" y="3749040"/>
            <a:ext cx="64008" cy="1170432"/>
          </a:xfrm>
          <a:prstGeom prst="rect">
            <a:avLst/>
          </a:prstGeom>
          <a:solidFill>
            <a:srgbClr val="8250DF"/>
          </a:solidFill>
          <a:ln w="12700">
            <a:solidFill>
              <a:srgbClr val="8250DF"/>
            </a:solidFill>
            <a:prstDash val="solid"/>
          </a:ln>
        </p:spPr>
      </p:sp>
      <p:sp>
        <p:nvSpPr>
          <p:cNvPr id="23" name="Shape 21"/>
          <p:cNvSpPr/>
          <p:nvPr/>
        </p:nvSpPr>
        <p:spPr>
          <a:xfrm>
            <a:off x="5074920" y="3822192"/>
            <a:ext cx="502920" cy="347472"/>
          </a:xfrm>
          <a:prstGeom prst="rect">
            <a:avLst/>
          </a:prstGeom>
          <a:solidFill>
            <a:srgbClr val="8250DF"/>
          </a:solidFill>
          <a:ln w="12700">
            <a:solidFill>
              <a:srgbClr val="8250DF"/>
            </a:solidFill>
            <a:prstDash val="solid"/>
          </a:ln>
        </p:spPr>
      </p:sp>
      <p:sp>
        <p:nvSpPr>
          <p:cNvPr id="24" name="Text 22"/>
          <p:cNvSpPr/>
          <p:nvPr/>
        </p:nvSpPr>
        <p:spPr>
          <a:xfrm>
            <a:off x="5074920" y="3822192"/>
            <a:ext cx="5029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PR</a:t>
            </a:r>
            <a:endParaRPr lang="en-US" sz="1000" dirty="0"/>
          </a:p>
        </p:txBody>
      </p:sp>
      <p:sp>
        <p:nvSpPr>
          <p:cNvPr id="25" name="Text 23"/>
          <p:cNvSpPr/>
          <p:nvPr/>
        </p:nvSpPr>
        <p:spPr>
          <a:xfrm>
            <a:off x="5669280" y="3822192"/>
            <a:ext cx="3108960" cy="384048"/>
          </a:xfrm>
          <a:prstGeom prst="rect">
            <a:avLst/>
          </a:prstGeom>
          <a:noFill/>
          <a:ln/>
        </p:spPr>
        <p:txBody>
          <a:bodyPr wrap="square" lIns="0" tIns="0" rIns="0" bIns="0" rtlCol="0" anchor="ctr"/>
          <a:lstStyle/>
          <a:p>
            <a:pPr indent="0" marL="0">
              <a:buNone/>
            </a:pPr>
            <a:r>
              <a:rPr lang="en-US" sz="1300" b="1" dirty="0">
                <a:solidFill>
                  <a:srgbClr val="1F2328"/>
                </a:solidFill>
                <a:latin typeface="Segoe UI" pitchFamily="34" charset="0"/>
                <a:ea typeface="Segoe UI" pitchFamily="34" charset="-122"/>
                <a:cs typeface="Segoe UI" pitchFamily="34" charset="-120"/>
              </a:rPr>
              <a:t>PRフィードバック対応中</a:t>
            </a:r>
            <a:endParaRPr lang="en-US" sz="1300" dirty="0"/>
          </a:p>
        </p:txBody>
      </p:sp>
      <p:sp>
        <p:nvSpPr>
          <p:cNvPr id="26" name="Text 24"/>
          <p:cNvSpPr/>
          <p:nvPr/>
        </p:nvSpPr>
        <p:spPr>
          <a:xfrm>
            <a:off x="5669280" y="4297680"/>
            <a:ext cx="3108960" cy="384048"/>
          </a:xfrm>
          <a:prstGeom prst="rect">
            <a:avLst/>
          </a:prstGeom>
          <a:noFill/>
          <a:ln/>
        </p:spPr>
        <p:txBody>
          <a:bodyPr wrap="square" lIns="0" tIns="0" rIns="0" bIns="0" rtlCol="0" anchor="ctr"/>
          <a:lstStyle/>
          <a:p>
            <a:pPr indent="0" marL="0">
              <a:buNone/>
            </a:pPr>
            <a:r>
              <a:rPr lang="en-US" sz="1200" dirty="0">
                <a:solidFill>
                  <a:srgbClr val="6E7781"/>
                </a:solidFill>
                <a:latin typeface="Segoe UI" pitchFamily="34" charset="0"/>
                <a:ea typeface="Segoe UI" pitchFamily="34" charset="-122"/>
                <a:cs typeface="Segoe UI" pitchFamily="34" charset="-120"/>
              </a:rPr>
              <a:t>レビュー指摘を自動修正</a:t>
            </a:r>
            <a:endParaRPr lang="en-US" sz="1200" dirty="0"/>
          </a:p>
        </p:txBody>
      </p:sp>
      <p:sp>
        <p:nvSpPr>
          <p:cNvPr id="27" name="Text 25"/>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969DA"/>
          </a:solidFill>
          <a:ln w="12700">
            <a:solidFill>
              <a:srgbClr val="0969DA"/>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01 — Agent Merge &amp; git worktree による並列セッション</a:t>
            </a:r>
            <a:endParaRPr lang="en-US" sz="1900" dirty="0"/>
          </a:p>
        </p:txBody>
      </p:sp>
      <p:sp>
        <p:nvSpPr>
          <p:cNvPr id="4" name="Shape 2"/>
          <p:cNvSpPr/>
          <p:nvPr/>
        </p:nvSpPr>
        <p:spPr>
          <a:xfrm>
            <a:off x="182880" y="640080"/>
            <a:ext cx="4343400" cy="429768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40080"/>
            <a:ext cx="64008" cy="4297680"/>
          </a:xfrm>
          <a:prstGeom prst="rect">
            <a:avLst/>
          </a:prstGeom>
          <a:solidFill>
            <a:srgbClr val="0969DA"/>
          </a:solidFill>
          <a:ln w="12700">
            <a:solidFill>
              <a:srgbClr val="0969DA"/>
            </a:solidFill>
            <a:prstDash val="solid"/>
          </a:ln>
        </p:spPr>
      </p:sp>
      <p:sp>
        <p:nvSpPr>
          <p:cNvPr id="6" name="Text 4"/>
          <p:cNvSpPr/>
          <p:nvPr/>
        </p:nvSpPr>
        <p:spPr>
          <a:xfrm>
            <a:off x="411480" y="713232"/>
            <a:ext cx="3931920" cy="384048"/>
          </a:xfrm>
          <a:prstGeom prst="rect">
            <a:avLst/>
          </a:prstGeom>
          <a:noFill/>
          <a:ln/>
        </p:spPr>
        <p:txBody>
          <a:bodyPr wrap="square" lIns="0" tIns="0" rIns="0" bIns="0" rtlCol="0" anchor="ctr"/>
          <a:lstStyle/>
          <a:p>
            <a:pPr indent="0" marL="0">
              <a:buNone/>
            </a:pPr>
            <a:r>
              <a:rPr lang="en-US" sz="1600" b="1" dirty="0">
                <a:solidFill>
                  <a:srgbClr val="0969DA"/>
                </a:solidFill>
                <a:latin typeface="Segoe UI" pitchFamily="34" charset="0"/>
                <a:ea typeface="Segoe UI" pitchFamily="34" charset="-122"/>
                <a:cs typeface="Segoe UI" pitchFamily="34" charset="-120"/>
              </a:rPr>
              <a:t>Agent Merge</a:t>
            </a:r>
            <a:endParaRPr lang="en-US" sz="1600" dirty="0"/>
          </a:p>
        </p:txBody>
      </p:sp>
      <p:sp>
        <p:nvSpPr>
          <p:cNvPr id="7" name="Text 5"/>
          <p:cNvSpPr/>
          <p:nvPr/>
        </p:nvSpPr>
        <p:spPr>
          <a:xfrm>
            <a:off x="411480" y="1133856"/>
            <a:ext cx="3931920" cy="347472"/>
          </a:xfrm>
          <a:prstGeom prst="rect">
            <a:avLst/>
          </a:prstGeom>
          <a:noFill/>
          <a:ln/>
        </p:spPr>
        <p:txBody>
          <a:bodyPr wrap="square" lIns="0" tIns="0" rIns="0" bIns="0" rtlCol="0" anchor="ctr"/>
          <a:lstStyle/>
          <a:p>
            <a:pPr indent="0" marL="0">
              <a:buNone/>
            </a:pPr>
            <a:r>
              <a:rPr lang="en-US" sz="1200" dirty="0">
                <a:solidFill>
                  <a:srgbClr val="1F2328"/>
                </a:solidFill>
                <a:latin typeface="Segoe UI" pitchFamily="34" charset="0"/>
                <a:ea typeface="Segoe UI" pitchFamily="34" charset="-122"/>
                <a:cs typeface="Segoe UI" pitchFamily="34" charset="-120"/>
              </a:rPr>
              <a:t>PR をレビュー・チェック・マージまで自動化</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572768"/>
          <a:ext cx="4023360" cy="914400"/>
        </p:xfrm>
        <a:graphic>
          <a:graphicData uri="http://schemas.openxmlformats.org/drawingml/2006/table">
            <a:tbl>
              <a:tblPr/>
              <a:tblGrid>
                <a:gridCol w="1828800"/>
                <a:gridCol w="2194560"/>
              </a:tblGrid>
              <a:tr h="402336">
                <a:tc>
                  <a:txBody>
                    <a:bodyPr/>
                    <a:lstStyle/>
                    <a:p>
                      <a:pPr indent="0" marL="0">
                        <a:buNone/>
                      </a:pPr>
                      <a:r>
                        <a:rPr lang="en-US" sz="1100" b="1" dirty="0">
                          <a:solidFill>
                            <a:srgbClr val="FFFFFF"/>
                          </a:solidFill>
                        </a:rPr>
                        <a:t>選択肢</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969DA"/>
                    </a:solidFill>
                  </a:tcPr>
                </a:tc>
                <a:tc>
                  <a:txBody>
                    <a:bodyPr/>
                    <a:lstStyle/>
                    <a:p>
                      <a:pPr indent="0" marL="0">
                        <a:buNone/>
                      </a:pPr>
                      <a:r>
                        <a:rPr lang="en-US" sz="1100" b="1" dirty="0">
                          <a:solidFill>
                            <a:srgbClr val="FFFFFF"/>
                          </a:solidFill>
                        </a:rPr>
                        <a:t>内容</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969DA"/>
                    </a:solidFill>
                  </a:tcPr>
                </a:tc>
              </a:tr>
              <a:tr h="402336">
                <a:tc>
                  <a:txBody>
                    <a:bodyPr/>
                    <a:lstStyle/>
                    <a:p>
                      <a:pPr indent="0" marL="0">
                        <a:buNone/>
                      </a:pPr>
                      <a:r>
                        <a:rPr lang="en-US" sz="1100" dirty="0">
                          <a:solidFill>
                            <a:srgbClr val="000000"/>
                          </a:solidFill>
                        </a:rPr>
                        <a:t>CI をグリーンに戻す</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失敗チェックを解消して再実行</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402336">
                <a:tc>
                  <a:txBody>
                    <a:bodyPr/>
                    <a:lstStyle/>
                    <a:p>
                      <a:pPr indent="0" marL="0">
                        <a:buNone/>
                      </a:pPr>
                      <a:r>
                        <a:rPr lang="en-US" sz="1100" dirty="0">
                          <a:solidFill>
                            <a:srgbClr val="000000"/>
                          </a:solidFill>
                        </a:rPr>
                        <a:t>フィードバック対応</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レビュー指摘に自動対応</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402336">
                <a:tc>
                  <a:txBody>
                    <a:bodyPr/>
                    <a:lstStyle/>
                    <a:p>
                      <a:pPr indent="0" marL="0">
                        <a:buNone/>
                      </a:pPr>
                      <a:r>
                        <a:rPr lang="en-US" sz="1100" dirty="0">
                          <a:solidFill>
                            <a:srgbClr val="000000"/>
                          </a:solidFill>
                        </a:rPr>
                        <a:t>条件達成でマージ</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全条件を満たしたら自動マージ</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bl>
          </a:graphicData>
        </a:graphic>
      </p:graphicFrame>
      <p:sp>
        <p:nvSpPr>
          <p:cNvPr id="9" name="Shape 6"/>
          <p:cNvSpPr/>
          <p:nvPr/>
        </p:nvSpPr>
        <p:spPr>
          <a:xfrm>
            <a:off x="320040" y="3346704"/>
            <a:ext cx="4069080" cy="749808"/>
          </a:xfrm>
          <a:prstGeom prst="rect">
            <a:avLst/>
          </a:prstGeom>
          <a:solidFill>
            <a:srgbClr val="CFE3FF"/>
          </a:solidFill>
          <a:ln w="12700">
            <a:solidFill>
              <a:srgbClr val="0969DA"/>
            </a:solidFill>
            <a:prstDash val="solid"/>
          </a:ln>
        </p:spPr>
      </p:sp>
      <p:sp>
        <p:nvSpPr>
          <p:cNvPr id="10" name="Text 7"/>
          <p:cNvSpPr/>
          <p:nvPr/>
        </p:nvSpPr>
        <p:spPr>
          <a:xfrm>
            <a:off x="411480" y="3364992"/>
            <a:ext cx="3886200" cy="713232"/>
          </a:xfrm>
          <a:prstGeom prst="rect">
            <a:avLst/>
          </a:prstGeom>
          <a:noFill/>
          <a:ln/>
        </p:spPr>
        <p:txBody>
          <a:bodyPr wrap="square" lIns="50800" tIns="50800" rIns="50800" bIns="50800" rtlCol="0" anchor="ctr"/>
          <a:lstStyle/>
          <a:p>
            <a:pPr indent="0" marL="0">
              <a:buNone/>
            </a:pPr>
            <a:r>
              <a:rPr lang="en-US" sz="1200" i="1" dirty="0">
                <a:solidFill>
                  <a:srgbClr val="0969DA"/>
                </a:solidFill>
                <a:latin typeface="Segoe UI" pitchFamily="34" charset="0"/>
                <a:ea typeface="Segoe UI" pitchFamily="34" charset="-122"/>
                <a:cs typeface="Segoe UI" pitchFamily="34" charset="-120"/>
              </a:rPr>
              <a:t>"You decide what automation is enabled and what ships."</a:t>
            </a:r>
            <a:endParaRPr lang="en-US" sz="1200" dirty="0"/>
          </a:p>
        </p:txBody>
      </p:sp>
      <p:sp>
        <p:nvSpPr>
          <p:cNvPr id="11" name="Shape 8"/>
          <p:cNvSpPr/>
          <p:nvPr/>
        </p:nvSpPr>
        <p:spPr>
          <a:xfrm>
            <a:off x="4709160" y="640080"/>
            <a:ext cx="4206240" cy="429768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2" name="Shape 9"/>
          <p:cNvSpPr/>
          <p:nvPr/>
        </p:nvSpPr>
        <p:spPr>
          <a:xfrm>
            <a:off x="4709160" y="640080"/>
            <a:ext cx="64008" cy="4297680"/>
          </a:xfrm>
          <a:prstGeom prst="rect">
            <a:avLst/>
          </a:prstGeom>
          <a:solidFill>
            <a:srgbClr val="2DA44E"/>
          </a:solidFill>
          <a:ln w="12700">
            <a:solidFill>
              <a:srgbClr val="2DA44E"/>
            </a:solidFill>
            <a:prstDash val="solid"/>
          </a:ln>
        </p:spPr>
      </p:sp>
      <p:sp>
        <p:nvSpPr>
          <p:cNvPr id="13" name="Text 10"/>
          <p:cNvSpPr/>
          <p:nvPr/>
        </p:nvSpPr>
        <p:spPr>
          <a:xfrm>
            <a:off x="4937760" y="713232"/>
            <a:ext cx="3749040" cy="384048"/>
          </a:xfrm>
          <a:prstGeom prst="rect">
            <a:avLst/>
          </a:prstGeom>
          <a:noFill/>
          <a:ln/>
        </p:spPr>
        <p:txBody>
          <a:bodyPr wrap="square" lIns="0" tIns="0" rIns="0" bIns="0" rtlCol="0" anchor="ctr"/>
          <a:lstStyle/>
          <a:p>
            <a:pPr indent="0" marL="0">
              <a:buNone/>
            </a:pPr>
            <a:r>
              <a:rPr lang="en-US" sz="1400" b="1" dirty="0">
                <a:solidFill>
                  <a:srgbClr val="2DA44E"/>
                </a:solidFill>
                <a:latin typeface="Segoe UI" pitchFamily="34" charset="0"/>
                <a:ea typeface="Segoe UI" pitchFamily="34" charset="-122"/>
                <a:cs typeface="Segoe UI" pitchFamily="34" charset="-120"/>
              </a:rPr>
              <a:t>git worktree による並列セッション</a:t>
            </a:r>
            <a:endParaRPr lang="en-US" sz="1400" dirty="0"/>
          </a:p>
        </p:txBody>
      </p:sp>
      <p:sp>
        <p:nvSpPr>
          <p:cNvPr id="14" name="Text 11"/>
          <p:cNvSpPr/>
          <p:nvPr/>
        </p:nvSpPr>
        <p:spPr>
          <a:xfrm>
            <a:off x="4937760" y="1188720"/>
            <a:ext cx="3749040" cy="2286000"/>
          </a:xfrm>
          <a:prstGeom prst="rect">
            <a:avLst/>
          </a:prstGeom>
          <a:noFill/>
          <a:ln/>
        </p:spPr>
        <p:txBody>
          <a:bodyPr wrap="square" lIns="50800" tIns="50800" rIns="50800" bIns="50800" rtlCol="0" anchor="t"/>
          <a:lstStyle/>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各セッションは独立した git worktree 上で動作</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複数エージェントが互いに干渉せず並行作業</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worktree の作成・後始末・ブランチ管理はアプリが自動処理</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手動セットアップ不要 → 並列実行が現実的な運用に</a:t>
            </a:r>
            <a:endParaRPr lang="en-US" sz="1200" dirty="0"/>
          </a:p>
        </p:txBody>
      </p:sp>
      <p:sp>
        <p:nvSpPr>
          <p:cNvPr id="15" name="Text 12"/>
          <p:cNvSpPr/>
          <p:nvPr/>
        </p:nvSpPr>
        <p:spPr>
          <a:xfrm>
            <a:off x="4937760" y="3566160"/>
            <a:ext cx="3749040" cy="274320"/>
          </a:xfrm>
          <a:prstGeom prst="rect">
            <a:avLst/>
          </a:prstGeom>
          <a:noFill/>
          <a:ln/>
        </p:spPr>
        <p:txBody>
          <a:bodyPr wrap="square" lIns="0" tIns="0" rIns="0" bIns="0" rtlCol="0" anchor="ctr"/>
          <a:lstStyle/>
          <a:p>
            <a:pPr indent="0" marL="0">
              <a:buNone/>
            </a:pPr>
            <a:r>
              <a:rPr lang="en-US" sz="1100" b="1" dirty="0">
                <a:solidFill>
                  <a:srgbClr val="6E7781"/>
                </a:solidFill>
                <a:latin typeface="Segoe UI" pitchFamily="34" charset="0"/>
                <a:ea typeface="Segoe UI" pitchFamily="34" charset="-122"/>
                <a:cs typeface="Segoe UI" pitchFamily="34" charset="-120"/>
              </a:rPr>
              <a:t>並列 worktree イメージ</a:t>
            </a:r>
            <a:endParaRPr lang="en-US" sz="1100" dirty="0"/>
          </a:p>
        </p:txBody>
      </p:sp>
      <p:sp>
        <p:nvSpPr>
          <p:cNvPr id="16" name="Shape 13"/>
          <p:cNvSpPr/>
          <p:nvPr/>
        </p:nvSpPr>
        <p:spPr>
          <a:xfrm>
            <a:off x="4800600" y="3913632"/>
            <a:ext cx="1261872" cy="914400"/>
          </a:xfrm>
          <a:prstGeom prst="rect">
            <a:avLst/>
          </a:prstGeom>
          <a:solidFill>
            <a:srgbClr val="FFEBE9"/>
          </a:solidFill>
          <a:ln w="19050">
            <a:solidFill>
              <a:srgbClr val="CF222E"/>
            </a:solidFill>
            <a:prstDash val="solid"/>
          </a:ln>
        </p:spPr>
      </p:sp>
      <p:sp>
        <p:nvSpPr>
          <p:cNvPr id="17" name="Text 14"/>
          <p:cNvSpPr/>
          <p:nvPr/>
        </p:nvSpPr>
        <p:spPr>
          <a:xfrm>
            <a:off x="4800600" y="3913632"/>
            <a:ext cx="1261872" cy="914400"/>
          </a:xfrm>
          <a:prstGeom prst="rect">
            <a:avLst/>
          </a:prstGeom>
          <a:noFill/>
          <a:ln/>
        </p:spPr>
        <p:txBody>
          <a:bodyPr wrap="square" lIns="50800" tIns="50800" rIns="50800" bIns="50800" rtlCol="0" anchor="ctr"/>
          <a:lstStyle/>
          <a:p>
            <a:pPr algn="ctr" indent="0" marL="0">
              <a:buNone/>
            </a:pPr>
            <a:r>
              <a:rPr lang="en-US" sz="1000" dirty="0">
                <a:solidFill>
                  <a:srgbClr val="1F2328"/>
                </a:solidFill>
                <a:latin typeface="Segoe UI" pitchFamily="34" charset="0"/>
                <a:ea typeface="Segoe UI" pitchFamily="34" charset="-122"/>
                <a:cs typeface="Segoe UI" pitchFamily="34" charset="-120"/>
              </a:rPr>
              <a:t>Session A</a:t>
            </a:r>
            <a:endParaRPr lang="en-US" sz="1000" dirty="0"/>
          </a:p>
          <a:p>
            <a:pPr algn="ctr" indent="0" marL="0">
              <a:buNone/>
            </a:pPr>
            <a:r>
              <a:rPr lang="en-US" sz="1000" dirty="0">
                <a:solidFill>
                  <a:srgbClr val="1F2328"/>
                </a:solidFill>
                <a:latin typeface="Segoe UI" pitchFamily="34" charset="0"/>
                <a:ea typeface="Segoe UI" pitchFamily="34" charset="-122"/>
                <a:cs typeface="Segoe UI" pitchFamily="34" charset="-120"/>
              </a:rPr>
              <a:t>(バグ修正)</a:t>
            </a:r>
            <a:endParaRPr lang="en-US" sz="1000" dirty="0"/>
          </a:p>
        </p:txBody>
      </p:sp>
      <p:sp>
        <p:nvSpPr>
          <p:cNvPr id="18" name="Shape 15"/>
          <p:cNvSpPr/>
          <p:nvPr/>
        </p:nvSpPr>
        <p:spPr>
          <a:xfrm>
            <a:off x="6190488" y="3913632"/>
            <a:ext cx="1261872" cy="914400"/>
          </a:xfrm>
          <a:prstGeom prst="rect">
            <a:avLst/>
          </a:prstGeom>
          <a:solidFill>
            <a:srgbClr val="DAFBE1"/>
          </a:solidFill>
          <a:ln w="19050">
            <a:solidFill>
              <a:srgbClr val="2DA44E"/>
            </a:solidFill>
            <a:prstDash val="solid"/>
          </a:ln>
        </p:spPr>
      </p:sp>
      <p:sp>
        <p:nvSpPr>
          <p:cNvPr id="19" name="Text 16"/>
          <p:cNvSpPr/>
          <p:nvPr/>
        </p:nvSpPr>
        <p:spPr>
          <a:xfrm>
            <a:off x="6190488" y="3913632"/>
            <a:ext cx="1261872" cy="914400"/>
          </a:xfrm>
          <a:prstGeom prst="rect">
            <a:avLst/>
          </a:prstGeom>
          <a:noFill/>
          <a:ln/>
        </p:spPr>
        <p:txBody>
          <a:bodyPr wrap="square" lIns="50800" tIns="50800" rIns="50800" bIns="50800" rtlCol="0" anchor="ctr"/>
          <a:lstStyle/>
          <a:p>
            <a:pPr algn="ctr" indent="0" marL="0">
              <a:buNone/>
            </a:pPr>
            <a:r>
              <a:rPr lang="en-US" sz="1000" dirty="0">
                <a:solidFill>
                  <a:srgbClr val="1F2328"/>
                </a:solidFill>
                <a:latin typeface="Segoe UI" pitchFamily="34" charset="0"/>
                <a:ea typeface="Segoe UI" pitchFamily="34" charset="-122"/>
                <a:cs typeface="Segoe UI" pitchFamily="34" charset="-120"/>
              </a:rPr>
              <a:t>Session B</a:t>
            </a:r>
            <a:endParaRPr lang="en-US" sz="1000" dirty="0"/>
          </a:p>
          <a:p>
            <a:pPr algn="ctr" indent="0" marL="0">
              <a:buNone/>
            </a:pPr>
            <a:r>
              <a:rPr lang="en-US" sz="1000" dirty="0">
                <a:solidFill>
                  <a:srgbClr val="1F2328"/>
                </a:solidFill>
                <a:latin typeface="Segoe UI" pitchFamily="34" charset="0"/>
                <a:ea typeface="Segoe UI" pitchFamily="34" charset="-122"/>
                <a:cs typeface="Segoe UI" pitchFamily="34" charset="-120"/>
              </a:rPr>
              <a:t>(機能実装)</a:t>
            </a:r>
            <a:endParaRPr lang="en-US" sz="1000" dirty="0"/>
          </a:p>
        </p:txBody>
      </p:sp>
      <p:sp>
        <p:nvSpPr>
          <p:cNvPr id="20" name="Shape 17"/>
          <p:cNvSpPr/>
          <p:nvPr/>
        </p:nvSpPr>
        <p:spPr>
          <a:xfrm>
            <a:off x="7580376" y="3913632"/>
            <a:ext cx="1261872" cy="914400"/>
          </a:xfrm>
          <a:prstGeom prst="rect">
            <a:avLst/>
          </a:prstGeom>
          <a:solidFill>
            <a:srgbClr val="FBEFFF"/>
          </a:solidFill>
          <a:ln w="19050">
            <a:solidFill>
              <a:srgbClr val="8250DF"/>
            </a:solidFill>
            <a:prstDash val="solid"/>
          </a:ln>
        </p:spPr>
      </p:sp>
      <p:sp>
        <p:nvSpPr>
          <p:cNvPr id="21" name="Text 18"/>
          <p:cNvSpPr/>
          <p:nvPr/>
        </p:nvSpPr>
        <p:spPr>
          <a:xfrm>
            <a:off x="7580376" y="3913632"/>
            <a:ext cx="1261872" cy="914400"/>
          </a:xfrm>
          <a:prstGeom prst="rect">
            <a:avLst/>
          </a:prstGeom>
          <a:noFill/>
          <a:ln/>
        </p:spPr>
        <p:txBody>
          <a:bodyPr wrap="square" lIns="50800" tIns="50800" rIns="50800" bIns="50800" rtlCol="0" anchor="ctr"/>
          <a:lstStyle/>
          <a:p>
            <a:pPr algn="ctr" indent="0" marL="0">
              <a:buNone/>
            </a:pPr>
            <a:r>
              <a:rPr lang="en-US" sz="1000" dirty="0">
                <a:solidFill>
                  <a:srgbClr val="1F2328"/>
                </a:solidFill>
                <a:latin typeface="Segoe UI" pitchFamily="34" charset="0"/>
                <a:ea typeface="Segoe UI" pitchFamily="34" charset="-122"/>
                <a:cs typeface="Segoe UI" pitchFamily="34" charset="-120"/>
              </a:rPr>
              <a:t>Session C</a:t>
            </a:r>
            <a:endParaRPr lang="en-US" sz="1000" dirty="0"/>
          </a:p>
          <a:p>
            <a:pPr algn="ctr" indent="0" marL="0">
              <a:buNone/>
            </a:pPr>
            <a:r>
              <a:rPr lang="en-US" sz="1000" dirty="0">
                <a:solidFill>
                  <a:srgbClr val="1F2328"/>
                </a:solidFill>
                <a:latin typeface="Segoe UI" pitchFamily="34" charset="0"/>
                <a:ea typeface="Segoe UI" pitchFamily="34" charset="-122"/>
                <a:cs typeface="Segoe UI" pitchFamily="34" charset="-120"/>
              </a:rPr>
              <a:t>(レビュー対応)</a:t>
            </a:r>
            <a:endParaRPr lang="en-US" sz="1000" dirty="0"/>
          </a:p>
        </p:txBody>
      </p:sp>
      <p:sp>
        <p:nvSpPr>
          <p:cNvPr id="22" name="Text 19"/>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969DA"/>
          </a:solidFill>
          <a:ln w="12700">
            <a:solidFill>
              <a:srgbClr val="0969DA"/>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01 — Canvas &amp; Agent Experience (AX)</a:t>
            </a:r>
            <a:endParaRPr lang="en-US" sz="1900" dirty="0"/>
          </a:p>
        </p:txBody>
      </p:sp>
      <p:sp>
        <p:nvSpPr>
          <p:cNvPr id="4" name="Shape 2"/>
          <p:cNvSpPr/>
          <p:nvPr/>
        </p:nvSpPr>
        <p:spPr>
          <a:xfrm>
            <a:off x="182880" y="640080"/>
            <a:ext cx="4663440" cy="429768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40080"/>
            <a:ext cx="64008" cy="4297680"/>
          </a:xfrm>
          <a:prstGeom prst="rect">
            <a:avLst/>
          </a:prstGeom>
          <a:solidFill>
            <a:srgbClr val="0969DA"/>
          </a:solidFill>
          <a:ln w="12700">
            <a:solidFill>
              <a:srgbClr val="0969DA"/>
            </a:solidFill>
            <a:prstDash val="solid"/>
          </a:ln>
        </p:spPr>
      </p:sp>
      <p:sp>
        <p:nvSpPr>
          <p:cNvPr id="6" name="Text 4"/>
          <p:cNvSpPr/>
          <p:nvPr/>
        </p:nvSpPr>
        <p:spPr>
          <a:xfrm>
            <a:off x="411480" y="713232"/>
            <a:ext cx="4206240" cy="384048"/>
          </a:xfrm>
          <a:prstGeom prst="rect">
            <a:avLst/>
          </a:prstGeom>
          <a:noFill/>
          <a:ln/>
        </p:spPr>
        <p:txBody>
          <a:bodyPr wrap="square" lIns="0" tIns="0" rIns="0" bIns="0" rtlCol="0" anchor="ctr"/>
          <a:lstStyle/>
          <a:p>
            <a:pPr indent="0" marL="0">
              <a:buNone/>
            </a:pPr>
            <a:r>
              <a:rPr lang="en-US" sz="1600" b="1" dirty="0">
                <a:solidFill>
                  <a:srgbClr val="0969DA"/>
                </a:solidFill>
                <a:latin typeface="Segoe UI" pitchFamily="34" charset="0"/>
                <a:ea typeface="Segoe UI" pitchFamily="34" charset="-122"/>
                <a:cs typeface="Segoe UI" pitchFamily="34" charset="-120"/>
              </a:rPr>
              <a:t>Canvas とは</a:t>
            </a:r>
            <a:endParaRPr lang="en-US" sz="1600" dirty="0"/>
          </a:p>
        </p:txBody>
      </p:sp>
      <p:sp>
        <p:nvSpPr>
          <p:cNvPr id="7" name="Text 5"/>
          <p:cNvSpPr/>
          <p:nvPr/>
        </p:nvSpPr>
        <p:spPr>
          <a:xfrm>
            <a:off x="411480" y="1152144"/>
            <a:ext cx="4206240" cy="365760"/>
          </a:xfrm>
          <a:prstGeom prst="rect">
            <a:avLst/>
          </a:prstGeom>
          <a:noFill/>
          <a:ln/>
        </p:spPr>
        <p:txBody>
          <a:bodyPr wrap="square" lIns="0" tIns="0" rIns="0" bIns="0" rtlCol="0" anchor="ctr"/>
          <a:lstStyle/>
          <a:p>
            <a:pPr indent="0" marL="0">
              <a:buNone/>
            </a:pPr>
            <a:r>
              <a:rPr lang="en-US" sz="1300" b="1" dirty="0">
                <a:solidFill>
                  <a:srgbClr val="1F2328"/>
                </a:solidFill>
                <a:latin typeface="Segoe UI" pitchFamily="34" charset="0"/>
                <a:ea typeface="Segoe UI" pitchFamily="34" charset="-122"/>
                <a:cs typeface="Segoe UI" pitchFamily="34" charset="-120"/>
              </a:rPr>
              <a:t>人とエージェントの 双方向ワークサーフェス</a:t>
            </a:r>
            <a:endParaRPr lang="en-US" sz="1300" dirty="0"/>
          </a:p>
        </p:txBody>
      </p:sp>
      <p:sp>
        <p:nvSpPr>
          <p:cNvPr id="8" name="Text 6"/>
          <p:cNvSpPr/>
          <p:nvPr/>
        </p:nvSpPr>
        <p:spPr>
          <a:xfrm>
            <a:off x="411480" y="1572768"/>
            <a:ext cx="4114800" cy="274320"/>
          </a:xfrm>
          <a:prstGeom prst="rect">
            <a:avLst/>
          </a:prstGeom>
          <a:noFill/>
          <a:ln/>
        </p:spPr>
        <p:txBody>
          <a:bodyPr wrap="square" lIns="0" tIns="0" rIns="0" bIns="0" rtlCol="0" anchor="ctr"/>
          <a:lstStyle/>
          <a:p>
            <a:pPr indent="0" marL="0">
              <a:buNone/>
            </a:pPr>
            <a:r>
              <a:rPr lang="en-US" sz="1200" b="1" dirty="0">
                <a:solidFill>
                  <a:srgbClr val="6E7781"/>
                </a:solidFill>
                <a:latin typeface="Segoe UI" pitchFamily="34" charset="0"/>
                <a:ea typeface="Segoe UI" pitchFamily="34" charset="-122"/>
                <a:cs typeface="Segoe UI" pitchFamily="34" charset="-120"/>
              </a:rPr>
              <a:t>表示できるもの：</a:t>
            </a:r>
            <a:endParaRPr lang="en-US" sz="1200" dirty="0"/>
          </a:p>
        </p:txBody>
      </p:sp>
      <p:sp>
        <p:nvSpPr>
          <p:cNvPr id="9" name="Text 7"/>
          <p:cNvSpPr/>
          <p:nvPr/>
        </p:nvSpPr>
        <p:spPr>
          <a:xfrm>
            <a:off x="411480" y="1874520"/>
            <a:ext cx="4114800" cy="1371600"/>
          </a:xfrm>
          <a:prstGeom prst="rect">
            <a:avLst/>
          </a:prstGeom>
          <a:noFill/>
          <a:ln/>
        </p:spPr>
        <p:txBody>
          <a:bodyPr wrap="square" lIns="50800" tIns="50800" rIns="50800" bIns="50800" rtlCol="0" anchor="t"/>
          <a:lstStyle/>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プラン（計画） / Pull Request</a:t>
            </a:r>
            <a:endParaRPr lang="en-US" sz="1200" dirty="0"/>
          </a:p>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ブラウザセッション / ターミナル</a:t>
            </a:r>
            <a:endParaRPr lang="en-US" sz="1200" dirty="0"/>
          </a:p>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デプロイメント / ダッシュボード</a:t>
            </a:r>
            <a:endParaRPr lang="en-US" sz="1200" dirty="0"/>
          </a:p>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ワークフローの状態</a:t>
            </a:r>
            <a:endParaRPr lang="en-US" sz="1200" dirty="0"/>
          </a:p>
        </p:txBody>
      </p:sp>
      <p:sp>
        <p:nvSpPr>
          <p:cNvPr id="10" name="Shape 8"/>
          <p:cNvSpPr/>
          <p:nvPr/>
        </p:nvSpPr>
        <p:spPr>
          <a:xfrm>
            <a:off x="320040" y="3346704"/>
            <a:ext cx="4297680" cy="749808"/>
          </a:xfrm>
          <a:prstGeom prst="rect">
            <a:avLst/>
          </a:prstGeom>
          <a:solidFill>
            <a:srgbClr val="CFE3FF"/>
          </a:solidFill>
          <a:ln w="12700">
            <a:solidFill>
              <a:srgbClr val="0969DA"/>
            </a:solidFill>
            <a:prstDash val="solid"/>
          </a:ln>
        </p:spPr>
      </p:sp>
      <p:sp>
        <p:nvSpPr>
          <p:cNvPr id="11" name="Text 9"/>
          <p:cNvSpPr/>
          <p:nvPr/>
        </p:nvSpPr>
        <p:spPr>
          <a:xfrm>
            <a:off x="411480" y="3364992"/>
            <a:ext cx="4114800" cy="713232"/>
          </a:xfrm>
          <a:prstGeom prst="rect">
            <a:avLst/>
          </a:prstGeom>
          <a:noFill/>
          <a:ln/>
        </p:spPr>
        <p:txBody>
          <a:bodyPr wrap="square" lIns="50800" tIns="50800" rIns="50800" bIns="50800" rtlCol="0" anchor="ctr"/>
          <a:lstStyle/>
          <a:p>
            <a:pPr indent="0" marL="0">
              <a:buNone/>
            </a:pPr>
            <a:r>
              <a:rPr lang="en-US" sz="1100" i="1" dirty="0">
                <a:solidFill>
                  <a:srgbClr val="0969DA"/>
                </a:solidFill>
                <a:latin typeface="Segoe UI" pitchFamily="34" charset="0"/>
                <a:ea typeface="Segoe UI" pitchFamily="34" charset="-122"/>
                <a:cs typeface="Segoe UI" pitchFamily="34" charset="-120"/>
              </a:rPr>
              <a:t>"Canvases are where that intent becomes visible work you can inspect, steer, and verify."</a:t>
            </a:r>
            <a:endParaRPr lang="en-US" sz="1100" dirty="0"/>
          </a:p>
        </p:txBody>
      </p:sp>
      <p:sp>
        <p:nvSpPr>
          <p:cNvPr id="12" name="Text 10"/>
          <p:cNvSpPr/>
          <p:nvPr/>
        </p:nvSpPr>
        <p:spPr>
          <a:xfrm>
            <a:off x="4937760" y="685800"/>
            <a:ext cx="3931920" cy="384048"/>
          </a:xfrm>
          <a:prstGeom prst="rect">
            <a:avLst/>
          </a:prstGeom>
          <a:noFill/>
          <a:ln/>
        </p:spPr>
        <p:txBody>
          <a:bodyPr wrap="square" lIns="0" tIns="0" rIns="0" bIns="0" rtlCol="0" anchor="ctr"/>
          <a:lstStyle/>
          <a:p>
            <a:pPr indent="0" marL="0">
              <a:buNone/>
            </a:pPr>
            <a:r>
              <a:rPr lang="en-US" sz="1400" b="1" dirty="0">
                <a:solidFill>
                  <a:srgbClr val="1F2328"/>
                </a:solidFill>
                <a:latin typeface="Segoe UI" pitchFamily="34" charset="0"/>
                <a:ea typeface="Segoe UI" pitchFamily="34" charset="-122"/>
                <a:cs typeface="Segoe UI" pitchFamily="34" charset="-120"/>
              </a:rPr>
              <a:t>Chat vs Canvas — AX の進化</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92040" y="1115568"/>
          <a:ext cx="3931920" cy="914400"/>
        </p:xfrm>
        <a:graphic>
          <a:graphicData uri="http://schemas.openxmlformats.org/drawingml/2006/table">
            <a:tbl>
              <a:tblPr/>
              <a:tblGrid>
                <a:gridCol w="1005840"/>
                <a:gridCol w="1371600"/>
                <a:gridCol w="1554480"/>
              </a:tblGrid>
              <a:tr h="457200">
                <a:tc>
                  <a:txBody>
                    <a:bodyPr/>
                    <a:lstStyle/>
                    <a:p>
                      <a:pPr indent="0" marL="0">
                        <a:buNone/>
                      </a:pP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F2328"/>
                    </a:solidFill>
                  </a:tcPr>
                </a:tc>
                <a:tc>
                  <a:txBody>
                    <a:bodyPr/>
                    <a:lstStyle/>
                    <a:p>
                      <a:pPr algn="ctr" indent="0" marL="0">
                        <a:buNone/>
                      </a:pPr>
                      <a:r>
                        <a:rPr lang="en-US" sz="1100" b="1" dirty="0">
                          <a:solidFill>
                            <a:srgbClr val="FFFFFF"/>
                          </a:solidFill>
                        </a:rPr>
                        <a:t>Chat</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F2328"/>
                    </a:solidFill>
                  </a:tcPr>
                </a:tc>
                <a:tc>
                  <a:txBody>
                    <a:bodyPr/>
                    <a:lstStyle/>
                    <a:p>
                      <a:pPr algn="ctr" indent="0" marL="0">
                        <a:buNone/>
                      </a:pPr>
                      <a:r>
                        <a:rPr lang="en-US" sz="1100" b="1" dirty="0">
                          <a:solidFill>
                            <a:srgbClr val="FFFFFF"/>
                          </a:solidFill>
                        </a:rPr>
                        <a:t>Canvas</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969DA"/>
                    </a:solidFill>
                  </a:tcPr>
                </a:tc>
              </a:tr>
              <a:tr h="457200">
                <a:tc>
                  <a:txBody>
                    <a:bodyPr/>
                    <a:lstStyle/>
                    <a:p>
                      <a:pPr indent="0" marL="0">
                        <a:buNone/>
                      </a:pPr>
                      <a:r>
                        <a:rPr lang="en-US" sz="1100" b="1" dirty="0">
                          <a:solidFill>
                            <a:srgbClr val="000000"/>
                          </a:solidFill>
                        </a:rPr>
                        <a:t>目的</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指示・議論・推論</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作業の可視化・操作</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457200">
                <a:tc>
                  <a:txBody>
                    <a:bodyPr/>
                    <a:lstStyle/>
                    <a:p>
                      <a:pPr indent="0" marL="0">
                        <a:buNone/>
                      </a:pPr>
                      <a:r>
                        <a:rPr lang="en-US" sz="1100" b="1" dirty="0">
                          <a:solidFill>
                            <a:srgbClr val="000000"/>
                          </a:solidFill>
                        </a:rPr>
                        <a:t>方向性</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人 → エージェント</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双方向（人 ⇄ エージェント）</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457200">
                <a:tc>
                  <a:txBody>
                    <a:bodyPr/>
                    <a:lstStyle/>
                    <a:p>
                      <a:pPr indent="0" marL="0">
                        <a:buNone/>
                      </a:pPr>
                      <a:r>
                        <a:rPr lang="en-US" sz="1100" b="1" dirty="0">
                          <a:solidFill>
                            <a:srgbClr val="000000"/>
                          </a:solidFill>
                        </a:rPr>
                        <a:t>表現形式</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テキストの流れ</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プラン / PR / ターミナル 等</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457200">
                <a:tc>
                  <a:txBody>
                    <a:bodyPr/>
                    <a:lstStyle/>
                    <a:p>
                      <a:pPr indent="0" marL="0">
                        <a:buNone/>
                      </a:pPr>
                      <a:r>
                        <a:rPr lang="en-US" sz="1100" b="1" dirty="0">
                          <a:solidFill>
                            <a:srgbClr val="000000"/>
                          </a:solidFill>
                        </a:rPr>
                        <a:t>操作性</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提案を読む</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b="1" dirty="0">
                          <a:solidFill>
                            <a:srgbClr val="0969DA"/>
                          </a:solidFill>
                        </a:rPr>
                        <a:t>作業を一緒に操作する</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bl>
          </a:graphicData>
        </a:graphic>
      </p:graphicFrame>
      <p:sp>
        <p:nvSpPr>
          <p:cNvPr id="14" name="Shape 11"/>
          <p:cNvSpPr/>
          <p:nvPr/>
        </p:nvSpPr>
        <p:spPr>
          <a:xfrm>
            <a:off x="4892040" y="3566160"/>
            <a:ext cx="3931920" cy="1051560"/>
          </a:xfrm>
          <a:prstGeom prst="rect">
            <a:avLst/>
          </a:prstGeom>
          <a:solidFill>
            <a:srgbClr val="CFE3FF"/>
          </a:solidFill>
          <a:ln w="12700">
            <a:solidFill>
              <a:srgbClr val="0969DA"/>
            </a:solidFill>
            <a:prstDash val="solid"/>
          </a:ln>
        </p:spPr>
      </p:sp>
      <p:sp>
        <p:nvSpPr>
          <p:cNvPr id="15" name="Text 12"/>
          <p:cNvSpPr/>
          <p:nvPr/>
        </p:nvSpPr>
        <p:spPr>
          <a:xfrm>
            <a:off x="5029200" y="3611880"/>
            <a:ext cx="3703320" cy="960120"/>
          </a:xfrm>
          <a:prstGeom prst="rect">
            <a:avLst/>
          </a:prstGeom>
          <a:noFill/>
          <a:ln/>
        </p:spPr>
        <p:txBody>
          <a:bodyPr wrap="square" lIns="0" tIns="0" rIns="0" bIns="0" rtlCol="0" anchor="ctr"/>
          <a:lstStyle/>
          <a:p>
            <a:pPr indent="0" marL="0">
              <a:buNone/>
            </a:pPr>
            <a:r>
              <a:rPr lang="en-US" sz="1200" b="1" dirty="0">
                <a:solidFill>
                  <a:srgbClr val="1F2328"/>
                </a:solidFill>
                <a:latin typeface="Segoe UI" pitchFamily="34" charset="0"/>
                <a:ea typeface="Segoe UI" pitchFamily="34" charset="-122"/>
                <a:cs typeface="Segoe UI" pitchFamily="34" charset="-120"/>
              </a:rPr>
              <a:t>Agent Experience (AX) </a:t>
            </a:r>
            <a:pPr indent="0" marL="0">
              <a:buNone/>
            </a:pPr>
            <a:r>
              <a:rPr lang="en-US" sz="1200" dirty="0">
                <a:solidFill>
                  <a:srgbClr val="1F2328"/>
                </a:solidFill>
                <a:latin typeface="Segoe UI" pitchFamily="34" charset="0"/>
                <a:ea typeface="Segoe UI" pitchFamily="34" charset="-122"/>
                <a:cs typeface="Segoe UI" pitchFamily="34" charset="-120"/>
              </a:rPr>
              <a:t>= 人とエージェントが</a:t>
            </a:r>
            <a:endParaRPr lang="en-US" sz="1200" dirty="0"/>
          </a:p>
          <a:p>
            <a:pPr indent="0" marL="0">
              <a:buNone/>
            </a:pPr>
            <a:r>
              <a:rPr lang="en-US" sz="1200" dirty="0">
                <a:solidFill>
                  <a:srgbClr val="1F2328"/>
                </a:solidFill>
                <a:latin typeface="Segoe UI" pitchFamily="34" charset="0"/>
                <a:ea typeface="Segoe UI" pitchFamily="34" charset="-122"/>
                <a:cs typeface="Segoe UI" pitchFamily="34" charset="-120"/>
              </a:rPr>
              <a:t>共に操作するインターフェースの幕開け</a:t>
            </a:r>
            <a:endParaRPr lang="en-US" sz="1200" dirty="0"/>
          </a:p>
        </p:txBody>
      </p:sp>
      <p:sp>
        <p:nvSpPr>
          <p:cNvPr id="16" name="Text 13"/>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969DA"/>
          </a:solidFill>
          <a:ln w="12700">
            <a:solidFill>
              <a:srgbClr val="0969DA"/>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01 — サンドボックス：ローカル vs クラウド（Public Preview）</a:t>
            </a:r>
            <a:endParaRPr lang="en-US" sz="1900" dirty="0"/>
          </a:p>
        </p:txBody>
      </p:sp>
      <p:sp>
        <p:nvSpPr>
          <p:cNvPr id="4" name="Text 2"/>
          <p:cNvSpPr/>
          <p:nvPr/>
        </p:nvSpPr>
        <p:spPr>
          <a:xfrm>
            <a:off x="274320" y="621792"/>
            <a:ext cx="8595360" cy="329184"/>
          </a:xfrm>
          <a:prstGeom prst="rect">
            <a:avLst/>
          </a:prstGeom>
          <a:noFill/>
          <a:ln/>
        </p:spPr>
        <p:txBody>
          <a:bodyPr wrap="square" lIns="0" tIns="0" rIns="0" bIns="0" rtlCol="0" anchor="ctr"/>
          <a:lstStyle/>
          <a:p>
            <a:pPr indent="0" marL="0">
              <a:buNone/>
            </a:pPr>
            <a:r>
              <a:rPr lang="en-US" sz="1200" dirty="0">
                <a:solidFill>
                  <a:srgbClr val="6E7781"/>
                </a:solidFill>
                <a:latin typeface="Segoe UI" pitchFamily="34" charset="0"/>
                <a:ea typeface="Segoe UI" pitchFamily="34" charset="-122"/>
                <a:cs typeface="Segoe UI" pitchFamily="34" charset="-120"/>
              </a:rPr>
              <a:t>エージェントが安全に「実行・検査・テスト・反復」できる境界づけられた場所</a:t>
            </a:r>
            <a:endParaRPr lang="en-US" sz="1200" dirty="0"/>
          </a:p>
        </p:txBody>
      </p:sp>
      <p:sp>
        <p:nvSpPr>
          <p:cNvPr id="5" name="Shape 3"/>
          <p:cNvSpPr/>
          <p:nvPr/>
        </p:nvSpPr>
        <p:spPr>
          <a:xfrm>
            <a:off x="182880" y="1024128"/>
            <a:ext cx="4251960" cy="356616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182880" y="1024128"/>
            <a:ext cx="64008" cy="3566160"/>
          </a:xfrm>
          <a:prstGeom prst="rect">
            <a:avLst/>
          </a:prstGeom>
          <a:solidFill>
            <a:srgbClr val="0969DA"/>
          </a:solidFill>
          <a:ln w="12700">
            <a:solidFill>
              <a:srgbClr val="0969DA"/>
            </a:solidFill>
            <a:prstDash val="solid"/>
          </a:ln>
        </p:spPr>
      </p:sp>
      <p:sp>
        <p:nvSpPr>
          <p:cNvPr id="7" name="Text 5"/>
          <p:cNvSpPr/>
          <p:nvPr/>
        </p:nvSpPr>
        <p:spPr>
          <a:xfrm>
            <a:off x="411480" y="1097280"/>
            <a:ext cx="3840480" cy="384048"/>
          </a:xfrm>
          <a:prstGeom prst="rect">
            <a:avLst/>
          </a:prstGeom>
          <a:noFill/>
          <a:ln/>
        </p:spPr>
        <p:txBody>
          <a:bodyPr wrap="square" lIns="0" tIns="0" rIns="0" bIns="0" rtlCol="0" anchor="ctr"/>
          <a:lstStyle/>
          <a:p>
            <a:pPr indent="0" marL="0">
              <a:buNone/>
            </a:pPr>
            <a:r>
              <a:rPr lang="en-US" sz="1500" b="1" dirty="0">
                <a:solidFill>
                  <a:srgbClr val="0969DA"/>
                </a:solidFill>
                <a:latin typeface="Segoe UI" pitchFamily="34" charset="0"/>
                <a:ea typeface="Segoe UI" pitchFamily="34" charset="-122"/>
                <a:cs typeface="Segoe UI" pitchFamily="34" charset="-120"/>
              </a:rPr>
              <a:t>ローカルサンドボックス</a:t>
            </a:r>
            <a:endParaRPr lang="en-US" sz="1500" dirty="0"/>
          </a:p>
        </p:txBody>
      </p:sp>
      <p:sp>
        <p:nvSpPr>
          <p:cNvPr id="8" name="Text 6"/>
          <p:cNvSpPr/>
          <p:nvPr/>
        </p:nvSpPr>
        <p:spPr>
          <a:xfrm>
            <a:off x="411480" y="1572768"/>
            <a:ext cx="3840480" cy="2286000"/>
          </a:xfrm>
          <a:prstGeom prst="rect">
            <a:avLst/>
          </a:prstGeom>
          <a:noFill/>
          <a:ln/>
        </p:spPr>
        <p:txBody>
          <a:bodyPr wrap="square" lIns="50800" tIns="50800" rIns="50800" bIns="50800" rtlCol="0" anchor="t"/>
          <a:lstStyle/>
          <a:p>
            <a:pPr marL="342900" indent="-342900">
              <a:spcAft>
                <a:spcPts val="700"/>
              </a:spcAft>
              <a:buSzPct val="100000"/>
              <a:buChar char="•"/>
            </a:pPr>
            <a:r>
              <a:rPr lang="en-US" sz="1200" dirty="0">
                <a:solidFill>
                  <a:srgbClr val="1F2328"/>
                </a:solidFill>
                <a:latin typeface="Segoe UI" pitchFamily="34" charset="0"/>
                <a:ea typeface="Segoe UI" pitchFamily="34" charset="-122"/>
                <a:cs typeface="Segoe UI" pitchFamily="34" charset="-120"/>
              </a:rPr>
              <a:t>自分のマシン上の隔離環境で動作</a:t>
            </a:r>
            <a:endParaRPr lang="en-US" sz="1200" dirty="0"/>
          </a:p>
          <a:p>
            <a:pPr marL="342900" indent="-342900">
              <a:spcAft>
                <a:spcPts val="700"/>
              </a:spcAft>
              <a:buSzPct val="100000"/>
              <a:buChar char="•"/>
            </a:pPr>
            <a:r>
              <a:rPr lang="en-US" sz="1200" dirty="0">
                <a:solidFill>
                  <a:srgbClr val="1F2328"/>
                </a:solidFill>
                <a:latin typeface="Segoe UI" pitchFamily="34" charset="0"/>
                <a:ea typeface="Segoe UI" pitchFamily="34" charset="-122"/>
                <a:cs typeface="Segoe UI" pitchFamily="34" charset="-120"/>
              </a:rPr>
              <a:t>FS・ネットワーク・システム機能へのアクセスを制限</a:t>
            </a:r>
            <a:endParaRPr lang="en-US" sz="1200" dirty="0"/>
          </a:p>
          <a:p>
            <a:pPr marL="342900" indent="-342900">
              <a:spcAft>
                <a:spcPts val="700"/>
              </a:spcAft>
              <a:buSzPct val="100000"/>
              <a:buChar char="•"/>
            </a:pPr>
            <a:r>
              <a:rPr lang="en-US" sz="1200" dirty="0">
                <a:solidFill>
                  <a:srgbClr val="1F2328"/>
                </a:solidFill>
                <a:latin typeface="Segoe UI" pitchFamily="34" charset="0"/>
                <a:ea typeface="Segoe UI" pitchFamily="34" charset="-122"/>
                <a:cs typeface="Segoe UI" pitchFamily="34" charset="-120"/>
              </a:rPr>
              <a:t>ポリシーを集中管理・強制可能</a:t>
            </a:r>
            <a:endParaRPr lang="en-US" sz="1200" dirty="0"/>
          </a:p>
          <a:p>
            <a:pPr marL="342900" indent="-342900">
              <a:spcAft>
                <a:spcPts val="700"/>
              </a:spcAft>
              <a:buSzPct val="100000"/>
              <a:buChar char="•"/>
            </a:pPr>
            <a:r>
              <a:rPr lang="en-US" sz="1200" dirty="0">
                <a:solidFill>
                  <a:srgbClr val="1F2328"/>
                </a:solidFill>
                <a:latin typeface="Segoe UI" pitchFamily="34" charset="0"/>
                <a:ea typeface="Segoe UI" pitchFamily="34" charset="-122"/>
                <a:cs typeface="Segoe UI" pitchFamily="34" charset="-120"/>
              </a:rPr>
              <a:t>低レイテンシ・手元で完結</a:t>
            </a:r>
            <a:endParaRPr lang="en-US" sz="1200" dirty="0"/>
          </a:p>
        </p:txBody>
      </p:sp>
      <p:sp>
        <p:nvSpPr>
          <p:cNvPr id="9" name="Shape 7"/>
          <p:cNvSpPr/>
          <p:nvPr/>
        </p:nvSpPr>
        <p:spPr>
          <a:xfrm>
            <a:off x="411480" y="4187952"/>
            <a:ext cx="1645920" cy="274320"/>
          </a:xfrm>
          <a:prstGeom prst="rect">
            <a:avLst/>
          </a:prstGeom>
          <a:solidFill>
            <a:srgbClr val="0969DA"/>
          </a:solidFill>
          <a:ln w="12700">
            <a:solidFill>
              <a:srgbClr val="0969DA"/>
            </a:solidFill>
            <a:prstDash val="solid"/>
          </a:ln>
        </p:spPr>
      </p:sp>
      <p:sp>
        <p:nvSpPr>
          <p:cNvPr id="10" name="Text 8"/>
          <p:cNvSpPr/>
          <p:nvPr/>
        </p:nvSpPr>
        <p:spPr>
          <a:xfrm>
            <a:off x="411480" y="4187952"/>
            <a:ext cx="16459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Public Preview</a:t>
            </a:r>
            <a:endParaRPr lang="en-US" sz="1100" dirty="0"/>
          </a:p>
        </p:txBody>
      </p:sp>
      <p:sp>
        <p:nvSpPr>
          <p:cNvPr id="11" name="Shape 9"/>
          <p:cNvSpPr/>
          <p:nvPr/>
        </p:nvSpPr>
        <p:spPr>
          <a:xfrm>
            <a:off x="4709160" y="1024128"/>
            <a:ext cx="4251960" cy="356616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2" name="Shape 10"/>
          <p:cNvSpPr/>
          <p:nvPr/>
        </p:nvSpPr>
        <p:spPr>
          <a:xfrm>
            <a:off x="4709160" y="1024128"/>
            <a:ext cx="64008" cy="3566160"/>
          </a:xfrm>
          <a:prstGeom prst="rect">
            <a:avLst/>
          </a:prstGeom>
          <a:solidFill>
            <a:srgbClr val="2DA44E"/>
          </a:solidFill>
          <a:ln w="12700">
            <a:solidFill>
              <a:srgbClr val="2DA44E"/>
            </a:solidFill>
            <a:prstDash val="solid"/>
          </a:ln>
        </p:spPr>
      </p:sp>
      <p:sp>
        <p:nvSpPr>
          <p:cNvPr id="13" name="Text 11"/>
          <p:cNvSpPr/>
          <p:nvPr/>
        </p:nvSpPr>
        <p:spPr>
          <a:xfrm>
            <a:off x="4937760" y="1097280"/>
            <a:ext cx="3840480" cy="384048"/>
          </a:xfrm>
          <a:prstGeom prst="rect">
            <a:avLst/>
          </a:prstGeom>
          <a:noFill/>
          <a:ln/>
        </p:spPr>
        <p:txBody>
          <a:bodyPr wrap="square" lIns="0" tIns="0" rIns="0" bIns="0" rtlCol="0" anchor="ctr"/>
          <a:lstStyle/>
          <a:p>
            <a:pPr indent="0" marL="0">
              <a:buNone/>
            </a:pPr>
            <a:r>
              <a:rPr lang="en-US" sz="1500" b="1" dirty="0">
                <a:solidFill>
                  <a:srgbClr val="2DA44E"/>
                </a:solidFill>
                <a:latin typeface="Segoe UI" pitchFamily="34" charset="0"/>
                <a:ea typeface="Segoe UI" pitchFamily="34" charset="-122"/>
                <a:cs typeface="Segoe UI" pitchFamily="34" charset="-120"/>
              </a:rPr>
              <a:t>クラウドサンドボックス</a:t>
            </a:r>
            <a:endParaRPr lang="en-US" sz="1500" dirty="0"/>
          </a:p>
        </p:txBody>
      </p:sp>
      <p:sp>
        <p:nvSpPr>
          <p:cNvPr id="14" name="Text 12"/>
          <p:cNvSpPr/>
          <p:nvPr/>
        </p:nvSpPr>
        <p:spPr>
          <a:xfrm>
            <a:off x="4937760" y="1572768"/>
            <a:ext cx="3840480" cy="2286000"/>
          </a:xfrm>
          <a:prstGeom prst="rect">
            <a:avLst/>
          </a:prstGeom>
          <a:noFill/>
          <a:ln/>
        </p:spPr>
        <p:txBody>
          <a:bodyPr wrap="square" lIns="50800" tIns="50800" rIns="50800" bIns="50800" rtlCol="0" anchor="t"/>
          <a:lstStyle/>
          <a:p>
            <a:pPr marL="342900" indent="-342900">
              <a:spcAft>
                <a:spcPts val="700"/>
              </a:spcAft>
              <a:buSzPct val="100000"/>
              <a:buChar char="•"/>
            </a:pPr>
            <a:r>
              <a:rPr lang="en-US" sz="1200" dirty="0">
                <a:solidFill>
                  <a:srgbClr val="1F2328"/>
                </a:solidFill>
                <a:latin typeface="Segoe UI" pitchFamily="34" charset="0"/>
                <a:ea typeface="Segoe UI" pitchFamily="34" charset="-122"/>
                <a:cs typeface="Segoe UI" pitchFamily="34" charset="-120"/>
              </a:rPr>
              <a:t>GitHub ホストの完全隔離エフェメラル Linux 環境</a:t>
            </a:r>
            <a:endParaRPr lang="en-US" sz="1200" dirty="0"/>
          </a:p>
          <a:p>
            <a:pPr marL="342900" indent="-342900">
              <a:spcAft>
                <a:spcPts val="700"/>
              </a:spcAft>
              <a:buSzPct val="100000"/>
              <a:buChar char="•"/>
            </a:pPr>
            <a:r>
              <a:rPr lang="en-US" sz="1200" dirty="0">
                <a:solidFill>
                  <a:srgbClr val="1F2328"/>
                </a:solidFill>
                <a:latin typeface="Segoe UI" pitchFamily="34" charset="0"/>
                <a:ea typeface="Segoe UI" pitchFamily="34" charset="-122"/>
                <a:cs typeface="Segoe UI" pitchFamily="34" charset="-120"/>
              </a:rPr>
              <a:t>組織が独自のポリシーを定義可能</a:t>
            </a:r>
            <a:endParaRPr lang="en-US" sz="1200" dirty="0"/>
          </a:p>
          <a:p>
            <a:pPr marL="342900" indent="-342900">
              <a:spcAft>
                <a:spcPts val="700"/>
              </a:spcAft>
              <a:buSzPct val="100000"/>
              <a:buChar char="•"/>
            </a:pPr>
            <a:r>
              <a:rPr lang="en-US" sz="1200" dirty="0">
                <a:solidFill>
                  <a:srgbClr val="1F2328"/>
                </a:solidFill>
                <a:latin typeface="Segoe UI" pitchFamily="34" charset="0"/>
                <a:ea typeface="Segoe UI" pitchFamily="34" charset="-122"/>
                <a:cs typeface="Segoe UI" pitchFamily="34" charset="-120"/>
              </a:rPr>
              <a:t>どのデバイスからでもセッションをリモートで引き継ぎ可能</a:t>
            </a:r>
            <a:endParaRPr lang="en-US" sz="1200" dirty="0"/>
          </a:p>
          <a:p>
            <a:pPr marL="342900" indent="-342900">
              <a:spcAft>
                <a:spcPts val="700"/>
              </a:spcAft>
              <a:buSzPct val="100000"/>
              <a:buChar char="•"/>
            </a:pPr>
            <a:r>
              <a:rPr lang="en-US" sz="1200" dirty="0">
                <a:solidFill>
                  <a:srgbClr val="1F2328"/>
                </a:solidFill>
                <a:latin typeface="Segoe UI" pitchFamily="34" charset="0"/>
                <a:ea typeface="Segoe UI" pitchFamily="34" charset="-122"/>
                <a:cs typeface="Segoe UI" pitchFamily="34" charset="-120"/>
              </a:rPr>
              <a:t>デバイス非依存・リソース制約なし</a:t>
            </a:r>
            <a:endParaRPr lang="en-US" sz="1200" dirty="0"/>
          </a:p>
        </p:txBody>
      </p:sp>
      <p:sp>
        <p:nvSpPr>
          <p:cNvPr id="15" name="Shape 13"/>
          <p:cNvSpPr/>
          <p:nvPr/>
        </p:nvSpPr>
        <p:spPr>
          <a:xfrm>
            <a:off x="4937760" y="4187952"/>
            <a:ext cx="1645920" cy="274320"/>
          </a:xfrm>
          <a:prstGeom prst="rect">
            <a:avLst/>
          </a:prstGeom>
          <a:solidFill>
            <a:srgbClr val="2DA44E"/>
          </a:solidFill>
          <a:ln w="12700">
            <a:solidFill>
              <a:srgbClr val="2DA44E"/>
            </a:solidFill>
            <a:prstDash val="solid"/>
          </a:ln>
        </p:spPr>
      </p:sp>
      <p:sp>
        <p:nvSpPr>
          <p:cNvPr id="16" name="Text 14"/>
          <p:cNvSpPr/>
          <p:nvPr/>
        </p:nvSpPr>
        <p:spPr>
          <a:xfrm>
            <a:off x="4937760" y="4187952"/>
            <a:ext cx="16459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Public Preview</a:t>
            </a:r>
            <a:endParaRPr lang="en-US" sz="1100" dirty="0"/>
          </a:p>
        </p:txBody>
      </p:sp>
      <p:sp>
        <p:nvSpPr>
          <p:cNvPr id="17" name="Shape 15"/>
          <p:cNvSpPr/>
          <p:nvPr/>
        </p:nvSpPr>
        <p:spPr>
          <a:xfrm>
            <a:off x="182880" y="4645152"/>
            <a:ext cx="8778240" cy="310896"/>
          </a:xfrm>
          <a:prstGeom prst="rect">
            <a:avLst/>
          </a:prstGeom>
          <a:solidFill>
            <a:srgbClr val="FFF8C5"/>
          </a:solidFill>
          <a:ln w="6350">
            <a:solidFill>
              <a:srgbClr val="BF8700"/>
            </a:solidFill>
            <a:prstDash val="solid"/>
          </a:ln>
        </p:spPr>
      </p:sp>
      <p:sp>
        <p:nvSpPr>
          <p:cNvPr id="18" name="Text 16"/>
          <p:cNvSpPr/>
          <p:nvPr/>
        </p:nvSpPr>
        <p:spPr>
          <a:xfrm>
            <a:off x="320040" y="4645152"/>
            <a:ext cx="8503920" cy="310896"/>
          </a:xfrm>
          <a:prstGeom prst="rect">
            <a:avLst/>
          </a:prstGeom>
          <a:noFill/>
          <a:ln/>
        </p:spPr>
        <p:txBody>
          <a:bodyPr wrap="square" lIns="0" tIns="0" rIns="0" bIns="0" rtlCol="0" anchor="ctr"/>
          <a:lstStyle/>
          <a:p>
            <a:pPr indent="0" marL="0">
              <a:buNone/>
            </a:pPr>
            <a:r>
              <a:rPr lang="en-US" sz="1100" dirty="0">
                <a:solidFill>
                  <a:srgbClr val="1F2328"/>
                </a:solidFill>
                <a:latin typeface="Segoe UI" pitchFamily="34" charset="0"/>
                <a:ea typeface="Segoe UI" pitchFamily="34" charset="-122"/>
                <a:cs typeface="Segoe UI" pitchFamily="34" charset="-120"/>
              </a:rPr>
              <a:t>MXC (Microsoft Execution Containers) — OS自体が封じ込めを強制するエンタープライズグレードのサンドボックス（プレビュー）</a:t>
            </a:r>
            <a:endParaRPr lang="en-US" sz="1100" dirty="0"/>
          </a:p>
        </p:txBody>
      </p:sp>
      <p:sp>
        <p:nvSpPr>
          <p:cNvPr id="19" name="Text 17"/>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A44E"/>
        </a:solidFill>
      </p:bgPr>
    </p:bg>
    <p:spTree>
      <p:nvGrpSpPr>
        <p:cNvPr id="1" name=""/>
        <p:cNvGrpSpPr/>
        <p:nvPr/>
      </p:nvGrpSpPr>
      <p:grpSpPr>
        <a:xfrm>
          <a:off x="0" y="0"/>
          <a:ext cx="0" cy="0"/>
          <a:chOff x="0" y="0"/>
          <a:chExt cx="0" cy="0"/>
        </a:xfrm>
      </p:grpSpPr>
      <p:sp>
        <p:nvSpPr>
          <p:cNvPr id="2" name="Shape 0"/>
          <p:cNvSpPr/>
          <p:nvPr/>
        </p:nvSpPr>
        <p:spPr>
          <a:xfrm>
            <a:off x="6400800" y="-1645920"/>
            <a:ext cx="5486400" cy="5486400"/>
          </a:xfrm>
          <a:prstGeom prst="ellipse">
            <a:avLst/>
          </a:prstGeom>
          <a:solidFill>
            <a:srgbClr val="FFFFFF">
              <a:alpha val="10000"/>
            </a:srgbClr>
          </a:solidFill>
          <a:ln w="12700">
            <a:solidFill>
              <a:srgbClr val="FFFFFF"/>
            </a:solidFill>
            <a:prstDash val="solid"/>
          </a:ln>
        </p:spPr>
      </p:sp>
      <p:sp>
        <p:nvSpPr>
          <p:cNvPr id="3" name="Shape 1"/>
          <p:cNvSpPr/>
          <p:nvPr/>
        </p:nvSpPr>
        <p:spPr>
          <a:xfrm>
            <a:off x="-914400" y="3200400"/>
            <a:ext cx="3200400" cy="3200400"/>
          </a:xfrm>
          <a:prstGeom prst="ellipse">
            <a:avLst/>
          </a:prstGeom>
          <a:solidFill>
            <a:srgbClr val="FFFFFF">
              <a:alpha val="7000"/>
            </a:srgbClr>
          </a:solidFill>
          <a:ln w="12700">
            <a:solidFill>
              <a:srgbClr val="FFFFFF"/>
            </a:solidFill>
            <a:prstDash val="solid"/>
          </a:ln>
        </p:spPr>
      </p:sp>
      <p:sp>
        <p:nvSpPr>
          <p:cNvPr id="4" name="Text 2"/>
          <p:cNvSpPr/>
          <p:nvPr/>
        </p:nvSpPr>
        <p:spPr>
          <a:xfrm>
            <a:off x="365760" y="731520"/>
            <a:ext cx="1463040" cy="1828800"/>
          </a:xfrm>
          <a:prstGeom prst="rect">
            <a:avLst/>
          </a:prstGeom>
          <a:noFill/>
          <a:ln/>
        </p:spPr>
        <p:txBody>
          <a:bodyPr wrap="square" lIns="0" tIns="0" rIns="0" bIns="0"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02</a:t>
            </a:r>
            <a:endParaRPr lang="en-US" sz="8000" dirty="0"/>
          </a:p>
        </p:txBody>
      </p:sp>
      <p:sp>
        <p:nvSpPr>
          <p:cNvPr id="5" name="Shape 3"/>
          <p:cNvSpPr/>
          <p:nvPr/>
        </p:nvSpPr>
        <p:spPr>
          <a:xfrm>
            <a:off x="2011680" y="1005840"/>
            <a:ext cx="64008" cy="1554480"/>
          </a:xfrm>
          <a:prstGeom prst="rect">
            <a:avLst/>
          </a:prstGeom>
          <a:solidFill>
            <a:srgbClr val="FFFFFF">
              <a:alpha val="60000"/>
            </a:srgbClr>
          </a:solidFill>
          <a:ln w="12700">
            <a:solidFill>
              <a:srgbClr val="FFFFFF"/>
            </a:solidFill>
            <a:prstDash val="solid"/>
          </a:ln>
        </p:spPr>
      </p:sp>
      <p:sp>
        <p:nvSpPr>
          <p:cNvPr id="6" name="Text 4"/>
          <p:cNvSpPr/>
          <p:nvPr/>
        </p:nvSpPr>
        <p:spPr>
          <a:xfrm>
            <a:off x="2286000" y="868680"/>
            <a:ext cx="6492240" cy="1005840"/>
          </a:xfrm>
          <a:prstGeom prst="rect">
            <a:avLst/>
          </a:prstGeom>
          <a:noFill/>
          <a:ln/>
        </p:spPr>
        <p:txBody>
          <a:bodyPr wrap="square" lIns="0" tIns="0" rIns="0" bIns="0"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Copilot Code Review</a:t>
            </a:r>
            <a:endParaRPr lang="en-US" sz="3200" dirty="0"/>
          </a:p>
        </p:txBody>
      </p:sp>
      <p:sp>
        <p:nvSpPr>
          <p:cNvPr id="7" name="Text 5"/>
          <p:cNvSpPr/>
          <p:nvPr/>
        </p:nvSpPr>
        <p:spPr>
          <a:xfrm>
            <a:off x="2286000" y="2011680"/>
            <a:ext cx="6492240" cy="822960"/>
          </a:xfrm>
          <a:prstGeom prst="rect">
            <a:avLst/>
          </a:prstGeom>
          <a:noFill/>
          <a:ln/>
        </p:spPr>
        <p:txBody>
          <a:bodyPr wrap="square" lIns="0" tIns="0" rIns="0" bIns="0"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エージェント出力にスケールする適応的・エージェント的レビューシステム</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DA44E"/>
          </a:solidFill>
          <a:ln w="12700">
            <a:solidFill>
              <a:srgbClr val="2DA44E"/>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02 — Copilot Code Review：5つの強化ポイント</a:t>
            </a:r>
            <a:endParaRPr lang="en-US" sz="1900" dirty="0"/>
          </a:p>
        </p:txBody>
      </p:sp>
      <p:sp>
        <p:nvSpPr>
          <p:cNvPr id="4" name="Shape 2"/>
          <p:cNvSpPr/>
          <p:nvPr/>
        </p:nvSpPr>
        <p:spPr>
          <a:xfrm>
            <a:off x="182880" y="658368"/>
            <a:ext cx="4297680" cy="135331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58368"/>
            <a:ext cx="64008" cy="1353312"/>
          </a:xfrm>
          <a:prstGeom prst="rect">
            <a:avLst/>
          </a:prstGeom>
          <a:solidFill>
            <a:srgbClr val="2DA44E"/>
          </a:solidFill>
          <a:ln w="12700">
            <a:solidFill>
              <a:srgbClr val="2DA44E"/>
            </a:solidFill>
            <a:prstDash val="solid"/>
          </a:ln>
        </p:spPr>
      </p:sp>
      <p:sp>
        <p:nvSpPr>
          <p:cNvPr id="6" name="Text 4"/>
          <p:cNvSpPr/>
          <p:nvPr/>
        </p:nvSpPr>
        <p:spPr>
          <a:xfrm>
            <a:off x="347472" y="749808"/>
            <a:ext cx="4059936" cy="384048"/>
          </a:xfrm>
          <a:prstGeom prst="rect">
            <a:avLst/>
          </a:prstGeom>
          <a:noFill/>
          <a:ln/>
        </p:spPr>
        <p:txBody>
          <a:bodyPr wrap="square" lIns="0" tIns="0" rIns="0" bIns="0" rtlCol="0" anchor="ctr"/>
          <a:lstStyle/>
          <a:p>
            <a:pPr indent="0" marL="0">
              <a:buNone/>
            </a:pPr>
            <a:r>
              <a:rPr lang="en-US" sz="1400" b="1" dirty="0">
                <a:solidFill>
                  <a:srgbClr val="2DA44E"/>
                </a:solidFill>
                <a:latin typeface="Segoe UI" pitchFamily="34" charset="0"/>
                <a:ea typeface="Segoe UI" pitchFamily="34" charset="-122"/>
                <a:cs typeface="Segoe UI" pitchFamily="34" charset="-120"/>
              </a:rPr>
              <a:t>拡張性強化</a:t>
            </a:r>
            <a:endParaRPr lang="en-US" sz="1400" dirty="0"/>
          </a:p>
        </p:txBody>
      </p:sp>
      <p:sp>
        <p:nvSpPr>
          <p:cNvPr id="7" name="Text 5"/>
          <p:cNvSpPr/>
          <p:nvPr/>
        </p:nvSpPr>
        <p:spPr>
          <a:xfrm>
            <a:off x="347472" y="1170432"/>
            <a:ext cx="4059936" cy="768096"/>
          </a:xfrm>
          <a:prstGeom prst="rect">
            <a:avLst/>
          </a:prstGeom>
          <a:noFill/>
          <a:ln/>
        </p:spPr>
        <p:txBody>
          <a:bodyPr wrap="square" lIns="0" tIns="0" rIns="0" bIns="0" rtlCol="0" anchor="t"/>
          <a:lstStyle/>
          <a:p>
            <a:pPr indent="0" marL="0">
              <a:buNone/>
            </a:pPr>
            <a:r>
              <a:rPr lang="en-US" sz="1100" dirty="0">
                <a:solidFill>
                  <a:srgbClr val="1F2328"/>
                </a:solidFill>
                <a:latin typeface="Segoe UI" pitchFamily="34" charset="0"/>
                <a:ea typeface="Segoe UI" pitchFamily="34" charset="-122"/>
                <a:cs typeface="Segoe UI" pitchFamily="34" charset="-120"/>
              </a:rPr>
              <a:t>Custom Skills・MCP Server・Actions Workflow で</a:t>
            </a:r>
            <a:endParaRPr lang="en-US" sz="1100" dirty="0"/>
          </a:p>
          <a:p>
            <a:pPr indent="0" marL="0">
              <a:buNone/>
            </a:pPr>
            <a:r>
              <a:rPr lang="en-US" sz="1100" dirty="0">
                <a:solidFill>
                  <a:srgbClr val="1F2328"/>
                </a:solidFill>
                <a:latin typeface="Segoe UI" pitchFamily="34" charset="0"/>
                <a:ea typeface="Segoe UI" pitchFamily="34" charset="-122"/>
                <a:cs typeface="Segoe UI" pitchFamily="34" charset="-120"/>
              </a:rPr>
              <a:t>社内基準・内部システムを反映したレビューを実現</a:t>
            </a:r>
            <a:endParaRPr lang="en-US" sz="1100" dirty="0"/>
          </a:p>
        </p:txBody>
      </p:sp>
      <p:sp>
        <p:nvSpPr>
          <p:cNvPr id="8" name="Shape 6"/>
          <p:cNvSpPr/>
          <p:nvPr/>
        </p:nvSpPr>
        <p:spPr>
          <a:xfrm>
            <a:off x="4663440" y="658368"/>
            <a:ext cx="4297680" cy="135331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9" name="Shape 7"/>
          <p:cNvSpPr/>
          <p:nvPr/>
        </p:nvSpPr>
        <p:spPr>
          <a:xfrm>
            <a:off x="4663440" y="658368"/>
            <a:ext cx="64008" cy="1353312"/>
          </a:xfrm>
          <a:prstGeom prst="rect">
            <a:avLst/>
          </a:prstGeom>
          <a:solidFill>
            <a:srgbClr val="0969DA"/>
          </a:solidFill>
          <a:ln w="12700">
            <a:solidFill>
              <a:srgbClr val="0969DA"/>
            </a:solidFill>
            <a:prstDash val="solid"/>
          </a:ln>
        </p:spPr>
      </p:sp>
      <p:sp>
        <p:nvSpPr>
          <p:cNvPr id="10" name="Text 8"/>
          <p:cNvSpPr/>
          <p:nvPr/>
        </p:nvSpPr>
        <p:spPr>
          <a:xfrm>
            <a:off x="4828032" y="749808"/>
            <a:ext cx="4059936" cy="384048"/>
          </a:xfrm>
          <a:prstGeom prst="rect">
            <a:avLst/>
          </a:prstGeom>
          <a:noFill/>
          <a:ln/>
        </p:spPr>
        <p:txBody>
          <a:bodyPr wrap="square" lIns="0" tIns="0" rIns="0" bIns="0" rtlCol="0" anchor="ctr"/>
          <a:lstStyle/>
          <a:p>
            <a:pPr indent="0" marL="0">
              <a:buNone/>
            </a:pPr>
            <a:r>
              <a:rPr lang="en-US" sz="1400" b="1" dirty="0">
                <a:solidFill>
                  <a:srgbClr val="0969DA"/>
                </a:solidFill>
                <a:latin typeface="Segoe UI" pitchFamily="34" charset="0"/>
                <a:ea typeface="Segoe UI" pitchFamily="34" charset="-122"/>
                <a:cs typeface="Segoe UI" pitchFamily="34" charset="-120"/>
              </a:rPr>
              <a:t>Medium Tier Review</a:t>
            </a:r>
            <a:endParaRPr lang="en-US" sz="1400" dirty="0"/>
          </a:p>
        </p:txBody>
      </p:sp>
      <p:sp>
        <p:nvSpPr>
          <p:cNvPr id="11" name="Text 9"/>
          <p:cNvSpPr/>
          <p:nvPr/>
        </p:nvSpPr>
        <p:spPr>
          <a:xfrm>
            <a:off x="4828032" y="1170432"/>
            <a:ext cx="4059936" cy="768096"/>
          </a:xfrm>
          <a:prstGeom prst="rect">
            <a:avLst/>
          </a:prstGeom>
          <a:noFill/>
          <a:ln/>
        </p:spPr>
        <p:txBody>
          <a:bodyPr wrap="square" lIns="0" tIns="0" rIns="0" bIns="0" rtlCol="0" anchor="t"/>
          <a:lstStyle/>
          <a:p>
            <a:pPr indent="0" marL="0">
              <a:buNone/>
            </a:pPr>
            <a:r>
              <a:rPr lang="en-US" sz="1100" dirty="0">
                <a:solidFill>
                  <a:srgbClr val="1F2328"/>
                </a:solidFill>
                <a:latin typeface="Segoe UI" pitchFamily="34" charset="0"/>
                <a:ea typeface="Segoe UI" pitchFamily="34" charset="-122"/>
                <a:cs typeface="Segoe UI" pitchFamily="34" charset="-120"/>
              </a:rPr>
              <a:t>高推論モデルへルーティング → 精度・再現率を向上</a:t>
            </a:r>
            <a:endParaRPr lang="en-US" sz="1100" dirty="0"/>
          </a:p>
          <a:p>
            <a:pPr indent="0" marL="0">
              <a:buNone/>
            </a:pPr>
            <a:r>
              <a:rPr lang="en-US" sz="1100" dirty="0">
                <a:solidFill>
                  <a:srgbClr val="1F2328"/>
                </a:solidFill>
                <a:latin typeface="Segoe UI" pitchFamily="34" charset="0"/>
                <a:ea typeface="Segoe UI" pitchFamily="34" charset="-122"/>
                <a:cs typeface="Segoe UI" pitchFamily="34" charset="-120"/>
              </a:rPr>
              <a:t>管理者がリポジトリ単位で low / medium を設定</a:t>
            </a:r>
            <a:endParaRPr lang="en-US" sz="1100" dirty="0"/>
          </a:p>
        </p:txBody>
      </p:sp>
      <p:sp>
        <p:nvSpPr>
          <p:cNvPr id="12" name="Shape 10"/>
          <p:cNvSpPr/>
          <p:nvPr/>
        </p:nvSpPr>
        <p:spPr>
          <a:xfrm>
            <a:off x="182880" y="2121408"/>
            <a:ext cx="4297680" cy="135331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182880" y="2121408"/>
            <a:ext cx="64008" cy="1353312"/>
          </a:xfrm>
          <a:prstGeom prst="rect">
            <a:avLst/>
          </a:prstGeom>
          <a:solidFill>
            <a:srgbClr val="CF222E"/>
          </a:solidFill>
          <a:ln w="12700">
            <a:solidFill>
              <a:srgbClr val="CF222E"/>
            </a:solidFill>
            <a:prstDash val="solid"/>
          </a:ln>
        </p:spPr>
      </p:sp>
      <p:sp>
        <p:nvSpPr>
          <p:cNvPr id="14" name="Text 12"/>
          <p:cNvSpPr/>
          <p:nvPr/>
        </p:nvSpPr>
        <p:spPr>
          <a:xfrm>
            <a:off x="347472" y="2212848"/>
            <a:ext cx="4059936" cy="384048"/>
          </a:xfrm>
          <a:prstGeom prst="rect">
            <a:avLst/>
          </a:prstGeom>
          <a:noFill/>
          <a:ln/>
        </p:spPr>
        <p:txBody>
          <a:bodyPr wrap="square" lIns="0" tIns="0" rIns="0" bIns="0" rtlCol="0" anchor="ctr"/>
          <a:lstStyle/>
          <a:p>
            <a:pPr indent="0" marL="0">
              <a:buNone/>
            </a:pPr>
            <a:r>
              <a:rPr lang="en-US" sz="1400" b="1" dirty="0">
                <a:solidFill>
                  <a:srgbClr val="CF222E"/>
                </a:solidFill>
                <a:latin typeface="Segoe UI" pitchFamily="34" charset="0"/>
                <a:ea typeface="Segoe UI" pitchFamily="34" charset="-122"/>
                <a:cs typeface="Segoe UI" pitchFamily="34" charset="-120"/>
              </a:rPr>
              <a:t>/security-review</a:t>
            </a:r>
            <a:endParaRPr lang="en-US" sz="1400" dirty="0"/>
          </a:p>
        </p:txBody>
      </p:sp>
      <p:sp>
        <p:nvSpPr>
          <p:cNvPr id="15" name="Text 13"/>
          <p:cNvSpPr/>
          <p:nvPr/>
        </p:nvSpPr>
        <p:spPr>
          <a:xfrm>
            <a:off x="347472" y="2633472"/>
            <a:ext cx="4059936" cy="768096"/>
          </a:xfrm>
          <a:prstGeom prst="rect">
            <a:avLst/>
          </a:prstGeom>
          <a:noFill/>
          <a:ln/>
        </p:spPr>
        <p:txBody>
          <a:bodyPr wrap="square" lIns="0" tIns="0" rIns="0" bIns="0" rtlCol="0" anchor="t"/>
          <a:lstStyle/>
          <a:p>
            <a:pPr indent="0" marL="0">
              <a:buNone/>
            </a:pPr>
            <a:r>
              <a:rPr lang="en-US" sz="1100" dirty="0">
                <a:solidFill>
                  <a:srgbClr val="1F2328"/>
                </a:solidFill>
                <a:latin typeface="Segoe UI" pitchFamily="34" charset="0"/>
                <a:ea typeface="Segoe UI" pitchFamily="34" charset="-122"/>
                <a:cs typeface="Segoe UI" pitchFamily="34" charset="-120"/>
              </a:rPr>
              <a:t>セキュリティ観点に特化した評価専用スキル</a:t>
            </a:r>
            <a:endParaRPr lang="en-US" sz="1100" dirty="0"/>
          </a:p>
          <a:p>
            <a:pPr indent="0" marL="0">
              <a:buNone/>
            </a:pPr>
            <a:r>
              <a:rPr lang="en-US" sz="1100" dirty="0">
                <a:solidFill>
                  <a:srgbClr val="1F2328"/>
                </a:solidFill>
                <a:latin typeface="Segoe UI" pitchFamily="34" charset="0"/>
                <a:ea typeface="Segoe UI" pitchFamily="34" charset="-122"/>
                <a:cs typeface="Segoe UI" pitchFamily="34" charset="-120"/>
              </a:rPr>
              <a:t>脆弱性検出に集中したレビューパスを提供</a:t>
            </a:r>
            <a:endParaRPr lang="en-US" sz="1100" dirty="0"/>
          </a:p>
        </p:txBody>
      </p:sp>
      <p:sp>
        <p:nvSpPr>
          <p:cNvPr id="16" name="Shape 14"/>
          <p:cNvSpPr/>
          <p:nvPr/>
        </p:nvSpPr>
        <p:spPr>
          <a:xfrm>
            <a:off x="4663440" y="2121408"/>
            <a:ext cx="4297680" cy="135331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7" name="Shape 15"/>
          <p:cNvSpPr/>
          <p:nvPr/>
        </p:nvSpPr>
        <p:spPr>
          <a:xfrm>
            <a:off x="4663440" y="2121408"/>
            <a:ext cx="64008" cy="1353312"/>
          </a:xfrm>
          <a:prstGeom prst="rect">
            <a:avLst/>
          </a:prstGeom>
          <a:solidFill>
            <a:srgbClr val="8250DF"/>
          </a:solidFill>
          <a:ln w="12700">
            <a:solidFill>
              <a:srgbClr val="8250DF"/>
            </a:solidFill>
            <a:prstDash val="solid"/>
          </a:ln>
        </p:spPr>
      </p:sp>
      <p:sp>
        <p:nvSpPr>
          <p:cNvPr id="18" name="Text 16"/>
          <p:cNvSpPr/>
          <p:nvPr/>
        </p:nvSpPr>
        <p:spPr>
          <a:xfrm>
            <a:off x="4828032" y="2212848"/>
            <a:ext cx="4059936" cy="384048"/>
          </a:xfrm>
          <a:prstGeom prst="rect">
            <a:avLst/>
          </a:prstGeom>
          <a:noFill/>
          <a:ln/>
        </p:spPr>
        <p:txBody>
          <a:bodyPr wrap="square" lIns="0" tIns="0" rIns="0" bIns="0" rtlCol="0" anchor="ctr"/>
          <a:lstStyle/>
          <a:p>
            <a:pPr indent="0" marL="0">
              <a:buNone/>
            </a:pPr>
            <a:r>
              <a:rPr lang="en-US" sz="1400" b="1" dirty="0">
                <a:solidFill>
                  <a:srgbClr val="8250DF"/>
                </a:solidFill>
                <a:latin typeface="Segoe UI" pitchFamily="34" charset="0"/>
                <a:ea typeface="Segoe UI" pitchFamily="34" charset="-122"/>
                <a:cs typeface="Segoe UI" pitchFamily="34" charset="-120"/>
              </a:rPr>
              <a:t>/rubberduck  GA</a:t>
            </a:r>
            <a:endParaRPr lang="en-US" sz="1400" dirty="0"/>
          </a:p>
        </p:txBody>
      </p:sp>
      <p:sp>
        <p:nvSpPr>
          <p:cNvPr id="19" name="Text 17"/>
          <p:cNvSpPr/>
          <p:nvPr/>
        </p:nvSpPr>
        <p:spPr>
          <a:xfrm>
            <a:off x="4828032" y="2633472"/>
            <a:ext cx="4059936" cy="768096"/>
          </a:xfrm>
          <a:prstGeom prst="rect">
            <a:avLst/>
          </a:prstGeom>
          <a:noFill/>
          <a:ln/>
        </p:spPr>
        <p:txBody>
          <a:bodyPr wrap="square" lIns="0" tIns="0" rIns="0" bIns="0" rtlCol="0" anchor="t"/>
          <a:lstStyle/>
          <a:p>
            <a:pPr indent="0" marL="0">
              <a:buNone/>
            </a:pPr>
            <a:r>
              <a:rPr lang="en-US" sz="1100" dirty="0">
                <a:solidFill>
                  <a:srgbClr val="1F2328"/>
                </a:solidFill>
                <a:latin typeface="Segoe UI" pitchFamily="34" charset="0"/>
                <a:ea typeface="Segoe UI" pitchFamily="34" charset="-122"/>
                <a:cs typeface="Segoe UI" pitchFamily="34" charset="-120"/>
              </a:rPr>
              <a:t>複数モデルファミリーで実装を批評し新規の問題を発見</a:t>
            </a:r>
            <a:endParaRPr lang="en-US" sz="1100" dirty="0"/>
          </a:p>
          <a:p>
            <a:pPr indent="0" marL="0">
              <a:buNone/>
            </a:pPr>
            <a:r>
              <a:rPr lang="en-US" sz="1100" dirty="0">
                <a:solidFill>
                  <a:srgbClr val="1F2328"/>
                </a:solidFill>
                <a:latin typeface="Segoe UI" pitchFamily="34" charset="0"/>
                <a:ea typeface="Segoe UI" pitchFamily="34" charset="-122"/>
                <a:cs typeface="Segoe UI" pitchFamily="34" charset="-120"/>
              </a:rPr>
              <a:t>一般提供（GA）、設計・実装・テストのセカンドオピニオン</a:t>
            </a:r>
            <a:endParaRPr lang="en-US" sz="1100" dirty="0"/>
          </a:p>
        </p:txBody>
      </p:sp>
      <p:sp>
        <p:nvSpPr>
          <p:cNvPr id="20" name="Shape 18"/>
          <p:cNvSpPr/>
          <p:nvPr/>
        </p:nvSpPr>
        <p:spPr>
          <a:xfrm>
            <a:off x="7589520" y="2176272"/>
            <a:ext cx="1188720" cy="274320"/>
          </a:xfrm>
          <a:prstGeom prst="rect">
            <a:avLst/>
          </a:prstGeom>
          <a:solidFill>
            <a:srgbClr val="8250DF"/>
          </a:solidFill>
          <a:ln w="12700">
            <a:solidFill>
              <a:srgbClr val="8250DF"/>
            </a:solidFill>
            <a:prstDash val="solid"/>
          </a:ln>
        </p:spPr>
      </p:sp>
      <p:sp>
        <p:nvSpPr>
          <p:cNvPr id="21" name="Text 19"/>
          <p:cNvSpPr/>
          <p:nvPr/>
        </p:nvSpPr>
        <p:spPr>
          <a:xfrm>
            <a:off x="7589520" y="2176272"/>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GA</a:t>
            </a:r>
            <a:endParaRPr lang="en-US" sz="1000" dirty="0"/>
          </a:p>
        </p:txBody>
      </p:sp>
      <p:sp>
        <p:nvSpPr>
          <p:cNvPr id="22" name="Shape 20"/>
          <p:cNvSpPr/>
          <p:nvPr/>
        </p:nvSpPr>
        <p:spPr>
          <a:xfrm>
            <a:off x="182880" y="3593592"/>
            <a:ext cx="8778240" cy="135331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23" name="Shape 21"/>
          <p:cNvSpPr/>
          <p:nvPr/>
        </p:nvSpPr>
        <p:spPr>
          <a:xfrm>
            <a:off x="182880" y="3593592"/>
            <a:ext cx="64008" cy="1353312"/>
          </a:xfrm>
          <a:prstGeom prst="rect">
            <a:avLst/>
          </a:prstGeom>
          <a:solidFill>
            <a:srgbClr val="BC4C00"/>
          </a:solidFill>
          <a:ln w="12700">
            <a:solidFill>
              <a:srgbClr val="BC4C00"/>
            </a:solidFill>
            <a:prstDash val="solid"/>
          </a:ln>
        </p:spPr>
      </p:sp>
      <p:sp>
        <p:nvSpPr>
          <p:cNvPr id="24" name="Text 22"/>
          <p:cNvSpPr/>
          <p:nvPr/>
        </p:nvSpPr>
        <p:spPr>
          <a:xfrm>
            <a:off x="347472" y="3685032"/>
            <a:ext cx="8540496" cy="384048"/>
          </a:xfrm>
          <a:prstGeom prst="rect">
            <a:avLst/>
          </a:prstGeom>
          <a:noFill/>
          <a:ln/>
        </p:spPr>
        <p:txBody>
          <a:bodyPr wrap="square" lIns="0" tIns="0" rIns="0" bIns="0" rtlCol="0" anchor="ctr"/>
          <a:lstStyle/>
          <a:p>
            <a:pPr indent="0" marL="0">
              <a:buNone/>
            </a:pPr>
            <a:r>
              <a:rPr lang="en-US" sz="1400" b="1" dirty="0">
                <a:solidFill>
                  <a:srgbClr val="BC4C00"/>
                </a:solidFill>
                <a:latin typeface="Segoe UI" pitchFamily="34" charset="0"/>
                <a:ea typeface="Segoe UI" pitchFamily="34" charset="-122"/>
                <a:cs typeface="Segoe UI" pitchFamily="34" charset="-120"/>
              </a:rPr>
              <a:t>Azure Repos 対応</a:t>
            </a:r>
            <a:endParaRPr lang="en-US" sz="1400" dirty="0"/>
          </a:p>
        </p:txBody>
      </p:sp>
      <p:sp>
        <p:nvSpPr>
          <p:cNvPr id="25" name="Text 23"/>
          <p:cNvSpPr/>
          <p:nvPr/>
        </p:nvSpPr>
        <p:spPr>
          <a:xfrm>
            <a:off x="347472" y="4105656"/>
            <a:ext cx="8540496" cy="768096"/>
          </a:xfrm>
          <a:prstGeom prst="rect">
            <a:avLst/>
          </a:prstGeom>
          <a:noFill/>
          <a:ln/>
        </p:spPr>
        <p:txBody>
          <a:bodyPr wrap="square" lIns="0" tIns="0" rIns="0" bIns="0" rtlCol="0" anchor="t"/>
          <a:lstStyle/>
          <a:p>
            <a:pPr indent="0" marL="0">
              <a:buNone/>
            </a:pPr>
            <a:r>
              <a:rPr lang="en-US" sz="1100" dirty="0">
                <a:solidFill>
                  <a:srgbClr val="1F2328"/>
                </a:solidFill>
                <a:latin typeface="Segoe UI" pitchFamily="34" charset="0"/>
                <a:ea typeface="Segoe UI" pitchFamily="34" charset="-122"/>
                <a:cs typeface="Segoe UI" pitchFamily="34" charset="-120"/>
              </a:rPr>
              <a:t>Azure DevOps でもワンクリックレビュー・インラインコメント・</a:t>
            </a:r>
            <a:endParaRPr lang="en-US" sz="1100" dirty="0"/>
          </a:p>
          <a:p>
            <a:pPr indent="0" marL="0">
              <a:buNone/>
            </a:pPr>
            <a:r>
              <a:rPr lang="en-US" sz="1100" dirty="0">
                <a:solidFill>
                  <a:srgbClr val="1F2328"/>
                </a:solidFill>
                <a:latin typeface="Segoe UI" pitchFamily="34" charset="0"/>
                <a:ea typeface="Segoe UI" pitchFamily="34" charset="-122"/>
                <a:cs typeface="Segoe UI" pitchFamily="34" charset="-120"/>
              </a:rPr>
              <a:t>コミット可能な修正提案が利用可能に</a:t>
            </a:r>
            <a:endParaRPr lang="en-US" sz="1100" dirty="0"/>
          </a:p>
        </p:txBody>
      </p:sp>
      <p:sp>
        <p:nvSpPr>
          <p:cNvPr id="26" name="Shape 24"/>
          <p:cNvSpPr/>
          <p:nvPr/>
        </p:nvSpPr>
        <p:spPr>
          <a:xfrm>
            <a:off x="7589520" y="3648456"/>
            <a:ext cx="1188720" cy="274320"/>
          </a:xfrm>
          <a:prstGeom prst="rect">
            <a:avLst/>
          </a:prstGeom>
          <a:solidFill>
            <a:srgbClr val="BC4C00"/>
          </a:solidFill>
          <a:ln w="12700">
            <a:solidFill>
              <a:srgbClr val="BC4C00"/>
            </a:solidFill>
            <a:prstDash val="solid"/>
          </a:ln>
        </p:spPr>
      </p:sp>
      <p:sp>
        <p:nvSpPr>
          <p:cNvPr id="27" name="Text 25"/>
          <p:cNvSpPr/>
          <p:nvPr/>
        </p:nvSpPr>
        <p:spPr>
          <a:xfrm>
            <a:off x="7589520" y="3648456"/>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Tech Preview</a:t>
            </a:r>
            <a:endParaRPr lang="en-US" sz="1000" dirty="0"/>
          </a:p>
        </p:txBody>
      </p:sp>
      <p:sp>
        <p:nvSpPr>
          <p:cNvPr id="28" name="Text 26"/>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F222E"/>
        </a:solidFill>
      </p:bgPr>
    </p:bg>
    <p:spTree>
      <p:nvGrpSpPr>
        <p:cNvPr id="1" name=""/>
        <p:cNvGrpSpPr/>
        <p:nvPr/>
      </p:nvGrpSpPr>
      <p:grpSpPr>
        <a:xfrm>
          <a:off x="0" y="0"/>
          <a:ext cx="0" cy="0"/>
          <a:chOff x="0" y="0"/>
          <a:chExt cx="0" cy="0"/>
        </a:xfrm>
      </p:grpSpPr>
      <p:sp>
        <p:nvSpPr>
          <p:cNvPr id="2" name="Shape 0"/>
          <p:cNvSpPr/>
          <p:nvPr/>
        </p:nvSpPr>
        <p:spPr>
          <a:xfrm>
            <a:off x="6400800" y="-1645920"/>
            <a:ext cx="5486400" cy="5486400"/>
          </a:xfrm>
          <a:prstGeom prst="ellipse">
            <a:avLst/>
          </a:prstGeom>
          <a:solidFill>
            <a:srgbClr val="FFFFFF">
              <a:alpha val="10000"/>
            </a:srgbClr>
          </a:solidFill>
          <a:ln w="12700">
            <a:solidFill>
              <a:srgbClr val="FFFFFF"/>
            </a:solidFill>
            <a:prstDash val="solid"/>
          </a:ln>
        </p:spPr>
      </p:sp>
      <p:sp>
        <p:nvSpPr>
          <p:cNvPr id="3" name="Shape 1"/>
          <p:cNvSpPr/>
          <p:nvPr/>
        </p:nvSpPr>
        <p:spPr>
          <a:xfrm>
            <a:off x="-914400" y="3200400"/>
            <a:ext cx="3200400" cy="3200400"/>
          </a:xfrm>
          <a:prstGeom prst="ellipse">
            <a:avLst/>
          </a:prstGeom>
          <a:solidFill>
            <a:srgbClr val="FFFFFF">
              <a:alpha val="7000"/>
            </a:srgbClr>
          </a:solidFill>
          <a:ln w="12700">
            <a:solidFill>
              <a:srgbClr val="FFFFFF"/>
            </a:solidFill>
            <a:prstDash val="solid"/>
          </a:ln>
        </p:spPr>
      </p:sp>
      <p:sp>
        <p:nvSpPr>
          <p:cNvPr id="4" name="Text 2"/>
          <p:cNvSpPr/>
          <p:nvPr/>
        </p:nvSpPr>
        <p:spPr>
          <a:xfrm>
            <a:off x="365760" y="731520"/>
            <a:ext cx="1463040" cy="1828800"/>
          </a:xfrm>
          <a:prstGeom prst="rect">
            <a:avLst/>
          </a:prstGeom>
          <a:noFill/>
          <a:ln/>
        </p:spPr>
        <p:txBody>
          <a:bodyPr wrap="square" lIns="0" tIns="0" rIns="0" bIns="0"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03</a:t>
            </a:r>
            <a:endParaRPr lang="en-US" sz="8000" dirty="0"/>
          </a:p>
        </p:txBody>
      </p:sp>
      <p:sp>
        <p:nvSpPr>
          <p:cNvPr id="5" name="Shape 3"/>
          <p:cNvSpPr/>
          <p:nvPr/>
        </p:nvSpPr>
        <p:spPr>
          <a:xfrm>
            <a:off x="2011680" y="1005840"/>
            <a:ext cx="64008" cy="1554480"/>
          </a:xfrm>
          <a:prstGeom prst="rect">
            <a:avLst/>
          </a:prstGeom>
          <a:solidFill>
            <a:srgbClr val="FFFFFF">
              <a:alpha val="60000"/>
            </a:srgbClr>
          </a:solidFill>
          <a:ln w="12700">
            <a:solidFill>
              <a:srgbClr val="FFFFFF"/>
            </a:solidFill>
            <a:prstDash val="solid"/>
          </a:ln>
        </p:spPr>
      </p:sp>
      <p:sp>
        <p:nvSpPr>
          <p:cNvPr id="6" name="Text 4"/>
          <p:cNvSpPr/>
          <p:nvPr/>
        </p:nvSpPr>
        <p:spPr>
          <a:xfrm>
            <a:off x="2286000" y="868680"/>
            <a:ext cx="6492240" cy="1005840"/>
          </a:xfrm>
          <a:prstGeom prst="rect">
            <a:avLst/>
          </a:prstGeom>
          <a:noFill/>
          <a:ln/>
        </p:spPr>
        <p:txBody>
          <a:bodyPr wrap="square" lIns="0" tIns="0" rIns="0" bIns="0"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SDK / CLI / 実行基盤 / IDE</a:t>
            </a:r>
            <a:endParaRPr lang="en-US" sz="3200" dirty="0"/>
          </a:p>
        </p:txBody>
      </p:sp>
      <p:sp>
        <p:nvSpPr>
          <p:cNvPr id="7" name="Text 5"/>
          <p:cNvSpPr/>
          <p:nvPr/>
        </p:nvSpPr>
        <p:spPr>
          <a:xfrm>
            <a:off x="2286000" y="2011680"/>
            <a:ext cx="6492240" cy="822960"/>
          </a:xfrm>
          <a:prstGeom prst="rect">
            <a:avLst/>
          </a:prstGeom>
          <a:noFill/>
          <a:ln/>
        </p:spPr>
        <p:txBody>
          <a:bodyPr wrap="square" lIns="0" tIns="0" rIns="0" bIns="0"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One runtime, many surfaces — 同じエージェントランタイムを多様なサーフェスで</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F222E"/>
          </a:solidFill>
          <a:ln w="12700">
            <a:solidFill>
              <a:srgbClr val="CF222E"/>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03 — GitHub Copilot SDK：GA（一般提供）6言語対応</a:t>
            </a:r>
            <a:endParaRPr lang="en-US" sz="1900" dirty="0"/>
          </a:p>
        </p:txBody>
      </p:sp>
      <p:sp>
        <p:nvSpPr>
          <p:cNvPr id="4" name="Text 2"/>
          <p:cNvSpPr/>
          <p:nvPr/>
        </p:nvSpPr>
        <p:spPr>
          <a:xfrm>
            <a:off x="274320" y="658368"/>
            <a:ext cx="3657600" cy="347472"/>
          </a:xfrm>
          <a:prstGeom prst="rect">
            <a:avLst/>
          </a:prstGeom>
          <a:noFill/>
          <a:ln/>
        </p:spPr>
        <p:txBody>
          <a:bodyPr wrap="square" lIns="0" tIns="0" rIns="0" bIns="0" rtlCol="0" anchor="ctr"/>
          <a:lstStyle/>
          <a:p>
            <a:pPr indent="0" marL="0">
              <a:buNone/>
            </a:pPr>
            <a:r>
              <a:rPr lang="en-US" sz="1400" b="1" dirty="0">
                <a:solidFill>
                  <a:srgbClr val="1F2328"/>
                </a:solidFill>
                <a:latin typeface="Segoe UI" pitchFamily="34" charset="0"/>
                <a:ea typeface="Segoe UI" pitchFamily="34" charset="-122"/>
                <a:cs typeface="Segoe UI" pitchFamily="34" charset="-120"/>
              </a:rPr>
              <a:t>対応言語（6言語）</a:t>
            </a:r>
            <a:endParaRPr lang="en-US" sz="1400" dirty="0"/>
          </a:p>
        </p:txBody>
      </p:sp>
      <p:sp>
        <p:nvSpPr>
          <p:cNvPr id="5" name="Shape 3"/>
          <p:cNvSpPr/>
          <p:nvPr/>
        </p:nvSpPr>
        <p:spPr>
          <a:xfrm>
            <a:off x="182880" y="1051560"/>
            <a:ext cx="1874520" cy="530352"/>
          </a:xfrm>
          <a:prstGeom prst="rect">
            <a:avLst/>
          </a:prstGeom>
          <a:solidFill>
            <a:srgbClr val="FFFFFF"/>
          </a:solidFill>
          <a:ln w="22860">
            <a:solidFill>
              <a:srgbClr val="2DA44E"/>
            </a:solidFill>
            <a:prstDash val="solid"/>
          </a:ln>
          <a:effectLst>
            <a:outerShdw sx="100000" sy="100000" kx="0" ky="0" algn="bl" rotWithShape="0" blurRad="63500" dist="25400" dir="8100000">
              <a:srgbClr val="000000">
                <a:alpha val="10000"/>
              </a:srgbClr>
            </a:outerShdw>
          </a:effectLst>
        </p:spPr>
      </p:sp>
      <p:sp>
        <p:nvSpPr>
          <p:cNvPr id="6" name="Text 4"/>
          <p:cNvSpPr/>
          <p:nvPr/>
        </p:nvSpPr>
        <p:spPr>
          <a:xfrm>
            <a:off x="274320" y="1051560"/>
            <a:ext cx="1737360" cy="530352"/>
          </a:xfrm>
          <a:prstGeom prst="rect">
            <a:avLst/>
          </a:prstGeom>
          <a:noFill/>
          <a:ln/>
        </p:spPr>
        <p:txBody>
          <a:bodyPr wrap="square" lIns="0" tIns="0" rIns="0" bIns="0" rtlCol="0" anchor="ctr"/>
          <a:lstStyle/>
          <a:p>
            <a:pPr indent="0" marL="0">
              <a:buNone/>
            </a:pPr>
            <a:r>
              <a:rPr lang="en-US" sz="1200" b="1" dirty="0">
                <a:solidFill>
                  <a:srgbClr val="2DA44E"/>
                </a:solidFill>
                <a:latin typeface="Segoe UI" pitchFamily="34" charset="0"/>
                <a:ea typeface="Segoe UI" pitchFamily="34" charset="-122"/>
                <a:cs typeface="Segoe UI" pitchFamily="34" charset="-120"/>
              </a:rPr>
              <a:t>Node.js / TypeScript</a:t>
            </a:r>
            <a:endParaRPr lang="en-US" sz="1200" dirty="0"/>
          </a:p>
        </p:txBody>
      </p:sp>
      <p:sp>
        <p:nvSpPr>
          <p:cNvPr id="7" name="Shape 5"/>
          <p:cNvSpPr/>
          <p:nvPr/>
        </p:nvSpPr>
        <p:spPr>
          <a:xfrm>
            <a:off x="2240280" y="1051560"/>
            <a:ext cx="1874520" cy="530352"/>
          </a:xfrm>
          <a:prstGeom prst="rect">
            <a:avLst/>
          </a:prstGeom>
          <a:solidFill>
            <a:srgbClr val="FFFFFF"/>
          </a:solidFill>
          <a:ln w="22860">
            <a:solidFill>
              <a:srgbClr val="0969DA"/>
            </a:solidFill>
            <a:prstDash val="solid"/>
          </a:ln>
          <a:effectLst>
            <a:outerShdw sx="100000" sy="100000" kx="0" ky="0" algn="bl" rotWithShape="0" blurRad="63500" dist="25400" dir="8100000">
              <a:srgbClr val="000000">
                <a:alpha val="10000"/>
              </a:srgbClr>
            </a:outerShdw>
          </a:effectLst>
        </p:spPr>
      </p:sp>
      <p:sp>
        <p:nvSpPr>
          <p:cNvPr id="8" name="Text 6"/>
          <p:cNvSpPr/>
          <p:nvPr/>
        </p:nvSpPr>
        <p:spPr>
          <a:xfrm>
            <a:off x="2331720" y="1051560"/>
            <a:ext cx="1737360" cy="530352"/>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Python</a:t>
            </a:r>
            <a:endParaRPr lang="en-US" sz="1200" dirty="0"/>
          </a:p>
        </p:txBody>
      </p:sp>
      <p:sp>
        <p:nvSpPr>
          <p:cNvPr id="9" name="Shape 7"/>
          <p:cNvSpPr/>
          <p:nvPr/>
        </p:nvSpPr>
        <p:spPr>
          <a:xfrm>
            <a:off x="182880" y="1709928"/>
            <a:ext cx="1874520" cy="530352"/>
          </a:xfrm>
          <a:prstGeom prst="rect">
            <a:avLst/>
          </a:prstGeom>
          <a:solidFill>
            <a:srgbClr val="FFFFFF"/>
          </a:solidFill>
          <a:ln w="22860">
            <a:solidFill>
              <a:srgbClr val="00ACD7"/>
            </a:solidFill>
            <a:prstDash val="solid"/>
          </a:ln>
          <a:effectLst>
            <a:outerShdw sx="100000" sy="100000" kx="0" ky="0" algn="bl" rotWithShape="0" blurRad="63500" dist="25400" dir="8100000">
              <a:srgbClr val="000000">
                <a:alpha val="10000"/>
              </a:srgbClr>
            </a:outerShdw>
          </a:effectLst>
        </p:spPr>
      </p:sp>
      <p:sp>
        <p:nvSpPr>
          <p:cNvPr id="10" name="Text 8"/>
          <p:cNvSpPr/>
          <p:nvPr/>
        </p:nvSpPr>
        <p:spPr>
          <a:xfrm>
            <a:off x="274320" y="1709928"/>
            <a:ext cx="1737360" cy="530352"/>
          </a:xfrm>
          <a:prstGeom prst="rect">
            <a:avLst/>
          </a:prstGeom>
          <a:noFill/>
          <a:ln/>
        </p:spPr>
        <p:txBody>
          <a:bodyPr wrap="square" lIns="0" tIns="0" rIns="0" bIns="0" rtlCol="0" anchor="ctr"/>
          <a:lstStyle/>
          <a:p>
            <a:pPr indent="0" marL="0">
              <a:buNone/>
            </a:pPr>
            <a:r>
              <a:rPr lang="en-US" sz="1200" b="1" dirty="0">
                <a:solidFill>
                  <a:srgbClr val="00ACD7"/>
                </a:solidFill>
                <a:latin typeface="Segoe UI" pitchFamily="34" charset="0"/>
                <a:ea typeface="Segoe UI" pitchFamily="34" charset="-122"/>
                <a:cs typeface="Segoe UI" pitchFamily="34" charset="-120"/>
              </a:rPr>
              <a:t>Go</a:t>
            </a:r>
            <a:endParaRPr lang="en-US" sz="1200" dirty="0"/>
          </a:p>
        </p:txBody>
      </p:sp>
      <p:sp>
        <p:nvSpPr>
          <p:cNvPr id="11" name="Shape 9"/>
          <p:cNvSpPr/>
          <p:nvPr/>
        </p:nvSpPr>
        <p:spPr>
          <a:xfrm>
            <a:off x="2240280" y="1709928"/>
            <a:ext cx="1874520" cy="530352"/>
          </a:xfrm>
          <a:prstGeom prst="rect">
            <a:avLst/>
          </a:prstGeom>
          <a:solidFill>
            <a:srgbClr val="FFFFFF"/>
          </a:solidFill>
          <a:ln w="22860">
            <a:solidFill>
              <a:srgbClr val="8250DF"/>
            </a:solidFill>
            <a:prstDash val="solid"/>
          </a:ln>
          <a:effectLst>
            <a:outerShdw sx="100000" sy="100000" kx="0" ky="0" algn="bl" rotWithShape="0" blurRad="63500" dist="25400" dir="8100000">
              <a:srgbClr val="000000">
                <a:alpha val="10000"/>
              </a:srgbClr>
            </a:outerShdw>
          </a:effectLst>
        </p:spPr>
      </p:sp>
      <p:sp>
        <p:nvSpPr>
          <p:cNvPr id="12" name="Text 10"/>
          <p:cNvSpPr/>
          <p:nvPr/>
        </p:nvSpPr>
        <p:spPr>
          <a:xfrm>
            <a:off x="2331720" y="1709928"/>
            <a:ext cx="1737360" cy="530352"/>
          </a:xfrm>
          <a:prstGeom prst="rect">
            <a:avLst/>
          </a:prstGeom>
          <a:noFill/>
          <a:ln/>
        </p:spPr>
        <p:txBody>
          <a:bodyPr wrap="square" lIns="0" tIns="0" rIns="0" bIns="0" rtlCol="0" anchor="ctr"/>
          <a:lstStyle/>
          <a:p>
            <a:pPr indent="0" marL="0">
              <a:buNone/>
            </a:pPr>
            <a:r>
              <a:rPr lang="en-US" sz="1200" b="1" dirty="0">
                <a:solidFill>
                  <a:srgbClr val="8250DF"/>
                </a:solidFill>
                <a:latin typeface="Segoe UI" pitchFamily="34" charset="0"/>
                <a:ea typeface="Segoe UI" pitchFamily="34" charset="-122"/>
                <a:cs typeface="Segoe UI" pitchFamily="34" charset="-120"/>
              </a:rPr>
              <a:t>.NET</a:t>
            </a:r>
            <a:endParaRPr lang="en-US" sz="1200" dirty="0"/>
          </a:p>
        </p:txBody>
      </p:sp>
      <p:sp>
        <p:nvSpPr>
          <p:cNvPr id="13" name="Shape 11"/>
          <p:cNvSpPr/>
          <p:nvPr/>
        </p:nvSpPr>
        <p:spPr>
          <a:xfrm>
            <a:off x="182880" y="2368296"/>
            <a:ext cx="1874520" cy="530352"/>
          </a:xfrm>
          <a:prstGeom prst="rect">
            <a:avLst/>
          </a:prstGeom>
          <a:solidFill>
            <a:srgbClr val="FFFFFF"/>
          </a:solidFill>
          <a:ln w="22860">
            <a:solidFill>
              <a:srgbClr val="CF222E"/>
            </a:solidFill>
            <a:prstDash val="solid"/>
          </a:ln>
          <a:effectLst>
            <a:outerShdw sx="100000" sy="100000" kx="0" ky="0" algn="bl" rotWithShape="0" blurRad="63500" dist="25400" dir="8100000">
              <a:srgbClr val="000000">
                <a:alpha val="10000"/>
              </a:srgbClr>
            </a:outerShdw>
          </a:effectLst>
        </p:spPr>
      </p:sp>
      <p:sp>
        <p:nvSpPr>
          <p:cNvPr id="14" name="Text 12"/>
          <p:cNvSpPr/>
          <p:nvPr/>
        </p:nvSpPr>
        <p:spPr>
          <a:xfrm>
            <a:off x="274320" y="2368296"/>
            <a:ext cx="1737360" cy="530352"/>
          </a:xfrm>
          <a:prstGeom prst="rect">
            <a:avLst/>
          </a:prstGeom>
          <a:noFill/>
          <a:ln/>
        </p:spPr>
        <p:txBody>
          <a:bodyPr wrap="square" lIns="0" tIns="0" rIns="0" bIns="0" rtlCol="0" anchor="ctr"/>
          <a:lstStyle/>
          <a:p>
            <a:pPr indent="0" marL="0">
              <a:buNone/>
            </a:pPr>
            <a:r>
              <a:rPr lang="en-US" sz="1200" b="1" dirty="0">
                <a:solidFill>
                  <a:srgbClr val="CF222E"/>
                </a:solidFill>
                <a:latin typeface="Segoe UI" pitchFamily="34" charset="0"/>
                <a:ea typeface="Segoe UI" pitchFamily="34" charset="-122"/>
                <a:cs typeface="Segoe UI" pitchFamily="34" charset="-120"/>
              </a:rPr>
              <a:t>Rust</a:t>
            </a:r>
            <a:endParaRPr lang="en-US" sz="1200" dirty="0"/>
          </a:p>
        </p:txBody>
      </p:sp>
      <p:sp>
        <p:nvSpPr>
          <p:cNvPr id="15" name="Shape 13"/>
          <p:cNvSpPr/>
          <p:nvPr/>
        </p:nvSpPr>
        <p:spPr>
          <a:xfrm>
            <a:off x="2240280" y="2368296"/>
            <a:ext cx="1874520" cy="530352"/>
          </a:xfrm>
          <a:prstGeom prst="rect">
            <a:avLst/>
          </a:prstGeom>
          <a:solidFill>
            <a:srgbClr val="FFFFFF"/>
          </a:solidFill>
          <a:ln w="22860">
            <a:solidFill>
              <a:srgbClr val="BC4C00"/>
            </a:solidFill>
            <a:prstDash val="solid"/>
          </a:ln>
          <a:effectLst>
            <a:outerShdw sx="100000" sy="100000" kx="0" ky="0" algn="bl" rotWithShape="0" blurRad="63500" dist="25400" dir="8100000">
              <a:srgbClr val="000000">
                <a:alpha val="10000"/>
              </a:srgbClr>
            </a:outerShdw>
          </a:effectLst>
        </p:spPr>
      </p:sp>
      <p:sp>
        <p:nvSpPr>
          <p:cNvPr id="16" name="Text 14"/>
          <p:cNvSpPr/>
          <p:nvPr/>
        </p:nvSpPr>
        <p:spPr>
          <a:xfrm>
            <a:off x="2331720" y="2368296"/>
            <a:ext cx="1737360" cy="530352"/>
          </a:xfrm>
          <a:prstGeom prst="rect">
            <a:avLst/>
          </a:prstGeom>
          <a:noFill/>
          <a:ln/>
        </p:spPr>
        <p:txBody>
          <a:bodyPr wrap="square" lIns="0" tIns="0" rIns="0" bIns="0" rtlCol="0" anchor="ctr"/>
          <a:lstStyle/>
          <a:p>
            <a:pPr indent="0" marL="0">
              <a:buNone/>
            </a:pPr>
            <a:r>
              <a:rPr lang="en-US" sz="1200" b="1" dirty="0">
                <a:solidFill>
                  <a:srgbClr val="BC4C00"/>
                </a:solidFill>
                <a:latin typeface="Segoe UI" pitchFamily="34" charset="0"/>
                <a:ea typeface="Segoe UI" pitchFamily="34" charset="-122"/>
                <a:cs typeface="Segoe UI" pitchFamily="34" charset="-120"/>
              </a:rPr>
              <a:t>Java  ★ 新規追加</a:t>
            </a:r>
            <a:endParaRPr lang="en-US" sz="1200" dirty="0"/>
          </a:p>
        </p:txBody>
      </p:sp>
      <p:sp>
        <p:nvSpPr>
          <p:cNvPr id="17" name="Text 15"/>
          <p:cNvSpPr/>
          <p:nvPr/>
        </p:nvSpPr>
        <p:spPr>
          <a:xfrm>
            <a:off x="4343400" y="658368"/>
            <a:ext cx="4480560" cy="347472"/>
          </a:xfrm>
          <a:prstGeom prst="rect">
            <a:avLst/>
          </a:prstGeom>
          <a:noFill/>
          <a:ln/>
        </p:spPr>
        <p:txBody>
          <a:bodyPr wrap="square" lIns="0" tIns="0" rIns="0" bIns="0" rtlCol="0" anchor="ctr"/>
          <a:lstStyle/>
          <a:p>
            <a:pPr indent="0" marL="0">
              <a:buNone/>
            </a:pPr>
            <a:r>
              <a:rPr lang="en-US" sz="1400" b="1" dirty="0">
                <a:solidFill>
                  <a:srgbClr val="1F2328"/>
                </a:solidFill>
                <a:latin typeface="Segoe UI" pitchFamily="34" charset="0"/>
                <a:ea typeface="Segoe UI" pitchFamily="34" charset="-122"/>
                <a:cs typeface="Segoe UI" pitchFamily="34" charset="-120"/>
              </a:rPr>
              <a:t>SDK 主要機能</a:t>
            </a:r>
            <a:endParaRPr lang="en-US" sz="1400" dirty="0"/>
          </a:p>
        </p:txBody>
      </p:sp>
      <p:sp>
        <p:nvSpPr>
          <p:cNvPr id="18" name="Shape 16"/>
          <p:cNvSpPr/>
          <p:nvPr/>
        </p:nvSpPr>
        <p:spPr>
          <a:xfrm>
            <a:off x="4343400" y="1051560"/>
            <a:ext cx="4572000" cy="676656"/>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9" name="Shape 17"/>
          <p:cNvSpPr/>
          <p:nvPr/>
        </p:nvSpPr>
        <p:spPr>
          <a:xfrm>
            <a:off x="4343400" y="1051560"/>
            <a:ext cx="64008" cy="676656"/>
          </a:xfrm>
          <a:prstGeom prst="rect">
            <a:avLst/>
          </a:prstGeom>
          <a:solidFill>
            <a:srgbClr val="CF222E"/>
          </a:solidFill>
          <a:ln w="12700">
            <a:solidFill>
              <a:srgbClr val="CF222E"/>
            </a:solidFill>
            <a:prstDash val="solid"/>
          </a:ln>
        </p:spPr>
      </p:sp>
      <p:sp>
        <p:nvSpPr>
          <p:cNvPr id="20" name="Text 18"/>
          <p:cNvSpPr/>
          <p:nvPr/>
        </p:nvSpPr>
        <p:spPr>
          <a:xfrm>
            <a:off x="4498848" y="1097280"/>
            <a:ext cx="4297680" cy="274320"/>
          </a:xfrm>
          <a:prstGeom prst="rect">
            <a:avLst/>
          </a:prstGeom>
          <a:noFill/>
          <a:ln/>
        </p:spPr>
        <p:txBody>
          <a:bodyPr wrap="square" lIns="0" tIns="0" rIns="0" bIns="0" rtlCol="0" anchor="ctr"/>
          <a:lstStyle/>
          <a:p>
            <a:pPr indent="0" marL="0">
              <a:buNone/>
            </a:pPr>
            <a:r>
              <a:rPr lang="en-US" sz="1200" b="1" dirty="0">
                <a:solidFill>
                  <a:srgbClr val="CF222E"/>
                </a:solidFill>
                <a:latin typeface="Segoe UI" pitchFamily="34" charset="0"/>
                <a:ea typeface="Segoe UI" pitchFamily="34" charset="-122"/>
                <a:cs typeface="Segoe UI" pitchFamily="34" charset="-120"/>
              </a:rPr>
              <a:t>Custom Tools &amp; MCP</a:t>
            </a:r>
            <a:endParaRPr lang="en-US" sz="1200" dirty="0"/>
          </a:p>
        </p:txBody>
      </p:sp>
      <p:sp>
        <p:nvSpPr>
          <p:cNvPr id="21" name="Text 19"/>
          <p:cNvSpPr/>
          <p:nvPr/>
        </p:nvSpPr>
        <p:spPr>
          <a:xfrm>
            <a:off x="4498848" y="1408176"/>
            <a:ext cx="429768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エージェントが自律呼び出し可能なツール登録・MCP接続</a:t>
            </a:r>
            <a:endParaRPr lang="en-US" sz="1100" dirty="0"/>
          </a:p>
        </p:txBody>
      </p:sp>
      <p:sp>
        <p:nvSpPr>
          <p:cNvPr id="22" name="Shape 20"/>
          <p:cNvSpPr/>
          <p:nvPr/>
        </p:nvSpPr>
        <p:spPr>
          <a:xfrm>
            <a:off x="4343400" y="1847088"/>
            <a:ext cx="4572000" cy="676656"/>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23" name="Shape 21"/>
          <p:cNvSpPr/>
          <p:nvPr/>
        </p:nvSpPr>
        <p:spPr>
          <a:xfrm>
            <a:off x="4343400" y="1847088"/>
            <a:ext cx="64008" cy="676656"/>
          </a:xfrm>
          <a:prstGeom prst="rect">
            <a:avLst/>
          </a:prstGeom>
          <a:solidFill>
            <a:srgbClr val="0969DA"/>
          </a:solidFill>
          <a:ln w="12700">
            <a:solidFill>
              <a:srgbClr val="0969DA"/>
            </a:solidFill>
            <a:prstDash val="solid"/>
          </a:ln>
        </p:spPr>
      </p:sp>
      <p:sp>
        <p:nvSpPr>
          <p:cNvPr id="24" name="Text 22"/>
          <p:cNvSpPr/>
          <p:nvPr/>
        </p:nvSpPr>
        <p:spPr>
          <a:xfrm>
            <a:off x="4498848" y="1892808"/>
            <a:ext cx="4297680" cy="274320"/>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OpenTelemetry Tracing</a:t>
            </a:r>
            <a:endParaRPr lang="en-US" sz="1200" dirty="0"/>
          </a:p>
        </p:txBody>
      </p:sp>
      <p:sp>
        <p:nvSpPr>
          <p:cNvPr id="25" name="Text 23"/>
          <p:cNvSpPr/>
          <p:nvPr/>
        </p:nvSpPr>
        <p:spPr>
          <a:xfrm>
            <a:off x="4498848" y="2203704"/>
            <a:ext cx="429768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W3C trace context を CLI〜ツール実行まで一貫して伝搬</a:t>
            </a:r>
            <a:endParaRPr lang="en-US" sz="1100" dirty="0"/>
          </a:p>
        </p:txBody>
      </p:sp>
      <p:sp>
        <p:nvSpPr>
          <p:cNvPr id="26" name="Shape 24"/>
          <p:cNvSpPr/>
          <p:nvPr/>
        </p:nvSpPr>
        <p:spPr>
          <a:xfrm>
            <a:off x="4343400" y="2642616"/>
            <a:ext cx="4572000" cy="676656"/>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27" name="Shape 25"/>
          <p:cNvSpPr/>
          <p:nvPr/>
        </p:nvSpPr>
        <p:spPr>
          <a:xfrm>
            <a:off x="4343400" y="2642616"/>
            <a:ext cx="64008" cy="676656"/>
          </a:xfrm>
          <a:prstGeom prst="rect">
            <a:avLst/>
          </a:prstGeom>
          <a:solidFill>
            <a:srgbClr val="2DA44E"/>
          </a:solidFill>
          <a:ln w="12700">
            <a:solidFill>
              <a:srgbClr val="2DA44E"/>
            </a:solidFill>
            <a:prstDash val="solid"/>
          </a:ln>
        </p:spPr>
      </p:sp>
      <p:sp>
        <p:nvSpPr>
          <p:cNvPr id="28" name="Text 26"/>
          <p:cNvSpPr/>
          <p:nvPr/>
        </p:nvSpPr>
        <p:spPr>
          <a:xfrm>
            <a:off x="4498848" y="2688336"/>
            <a:ext cx="4297680" cy="274320"/>
          </a:xfrm>
          <a:prstGeom prst="rect">
            <a:avLst/>
          </a:prstGeom>
          <a:noFill/>
          <a:ln/>
        </p:spPr>
        <p:txBody>
          <a:bodyPr wrap="square" lIns="0" tIns="0" rIns="0" bIns="0" rtlCol="0" anchor="ctr"/>
          <a:lstStyle/>
          <a:p>
            <a:pPr indent="0" marL="0">
              <a:buNone/>
            </a:pPr>
            <a:r>
              <a:rPr lang="en-US" sz="1200" b="1" dirty="0">
                <a:solidFill>
                  <a:srgbClr val="2DA44E"/>
                </a:solidFill>
                <a:latin typeface="Segoe UI" pitchFamily="34" charset="0"/>
                <a:ea typeface="Segoe UI" pitchFamily="34" charset="-122"/>
                <a:cs typeface="Segoe UI" pitchFamily="34" charset="-120"/>
              </a:rPr>
              <a:t>BYOK</a:t>
            </a:r>
            <a:endParaRPr lang="en-US" sz="1200" dirty="0"/>
          </a:p>
        </p:txBody>
      </p:sp>
      <p:sp>
        <p:nvSpPr>
          <p:cNvPr id="29" name="Text 27"/>
          <p:cNvSpPr/>
          <p:nvPr/>
        </p:nvSpPr>
        <p:spPr>
          <a:xfrm>
            <a:off x="4498848" y="2999232"/>
            <a:ext cx="429768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OpenAI・Foundry・Anthropic の API キーを持ち込み可能</a:t>
            </a:r>
            <a:endParaRPr lang="en-US" sz="1100" dirty="0"/>
          </a:p>
        </p:txBody>
      </p:sp>
      <p:sp>
        <p:nvSpPr>
          <p:cNvPr id="30" name="Shape 28"/>
          <p:cNvSpPr/>
          <p:nvPr/>
        </p:nvSpPr>
        <p:spPr>
          <a:xfrm>
            <a:off x="4343400" y="3438144"/>
            <a:ext cx="4572000" cy="676656"/>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31" name="Shape 29"/>
          <p:cNvSpPr/>
          <p:nvPr/>
        </p:nvSpPr>
        <p:spPr>
          <a:xfrm>
            <a:off x="4343400" y="3438144"/>
            <a:ext cx="64008" cy="676656"/>
          </a:xfrm>
          <a:prstGeom prst="rect">
            <a:avLst/>
          </a:prstGeom>
          <a:solidFill>
            <a:srgbClr val="8250DF"/>
          </a:solidFill>
          <a:ln w="12700">
            <a:solidFill>
              <a:srgbClr val="8250DF"/>
            </a:solidFill>
            <a:prstDash val="solid"/>
          </a:ln>
        </p:spPr>
      </p:sp>
      <p:sp>
        <p:nvSpPr>
          <p:cNvPr id="32" name="Text 30"/>
          <p:cNvSpPr/>
          <p:nvPr/>
        </p:nvSpPr>
        <p:spPr>
          <a:xfrm>
            <a:off x="4498848" y="3483864"/>
            <a:ext cx="4297680" cy="274320"/>
          </a:xfrm>
          <a:prstGeom prst="rect">
            <a:avLst/>
          </a:prstGeom>
          <a:noFill/>
          <a:ln/>
        </p:spPr>
        <p:txBody>
          <a:bodyPr wrap="square" lIns="0" tIns="0" rIns="0" bIns="0" rtlCol="0" anchor="ctr"/>
          <a:lstStyle/>
          <a:p>
            <a:pPr indent="0" marL="0">
              <a:buNone/>
            </a:pPr>
            <a:r>
              <a:rPr lang="en-US" sz="1200" b="1" dirty="0">
                <a:solidFill>
                  <a:srgbClr val="8250DF"/>
                </a:solidFill>
                <a:latin typeface="Segoe UI" pitchFamily="34" charset="0"/>
                <a:ea typeface="Segoe UI" pitchFamily="34" charset="-122"/>
                <a:cs typeface="Segoe UI" pitchFamily="34" charset="-120"/>
              </a:rPr>
              <a:t>Hook System</a:t>
            </a:r>
            <a:endParaRPr lang="en-US" sz="1200" dirty="0"/>
          </a:p>
        </p:txBody>
      </p:sp>
      <p:sp>
        <p:nvSpPr>
          <p:cNvPr id="33" name="Text 31"/>
          <p:cNvSpPr/>
          <p:nvPr/>
        </p:nvSpPr>
        <p:spPr>
          <a:xfrm>
            <a:off x="4498848" y="3794760"/>
            <a:ext cx="429768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pre/post ツール使用をインターセプトして動作を細かく制御</a:t>
            </a:r>
            <a:endParaRPr lang="en-US" sz="1100" dirty="0"/>
          </a:p>
        </p:txBody>
      </p:sp>
      <p:sp>
        <p:nvSpPr>
          <p:cNvPr id="34" name="Shape 32"/>
          <p:cNvSpPr/>
          <p:nvPr/>
        </p:nvSpPr>
        <p:spPr>
          <a:xfrm>
            <a:off x="4343400" y="4233672"/>
            <a:ext cx="4572000" cy="676656"/>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35" name="Shape 33"/>
          <p:cNvSpPr/>
          <p:nvPr/>
        </p:nvSpPr>
        <p:spPr>
          <a:xfrm>
            <a:off x="4343400" y="4233672"/>
            <a:ext cx="64008" cy="676656"/>
          </a:xfrm>
          <a:prstGeom prst="rect">
            <a:avLst/>
          </a:prstGeom>
          <a:solidFill>
            <a:srgbClr val="BC4C00"/>
          </a:solidFill>
          <a:ln w="12700">
            <a:solidFill>
              <a:srgbClr val="BC4C00"/>
            </a:solidFill>
            <a:prstDash val="solid"/>
          </a:ln>
        </p:spPr>
      </p:sp>
      <p:sp>
        <p:nvSpPr>
          <p:cNvPr id="36" name="Text 34"/>
          <p:cNvSpPr/>
          <p:nvPr/>
        </p:nvSpPr>
        <p:spPr>
          <a:xfrm>
            <a:off x="4498848" y="4279392"/>
            <a:ext cx="4297680" cy="274320"/>
          </a:xfrm>
          <a:prstGeom prst="rect">
            <a:avLst/>
          </a:prstGeom>
          <a:noFill/>
          <a:ln/>
        </p:spPr>
        <p:txBody>
          <a:bodyPr wrap="square" lIns="0" tIns="0" rIns="0" bIns="0" rtlCol="0" anchor="ctr"/>
          <a:lstStyle/>
          <a:p>
            <a:pPr indent="0" marL="0">
              <a:buNone/>
            </a:pPr>
            <a:r>
              <a:rPr lang="en-US" sz="1200" b="1" dirty="0">
                <a:solidFill>
                  <a:srgbClr val="BC4C00"/>
                </a:solidFill>
                <a:latin typeface="Segoe UI" pitchFamily="34" charset="0"/>
                <a:ea typeface="Segoe UI" pitchFamily="34" charset="-122"/>
                <a:cs typeface="Segoe UI" pitchFamily="34" charset="-120"/>
              </a:rPr>
              <a:t>Cloud &amp; Remote Sessions</a:t>
            </a:r>
            <a:endParaRPr lang="en-US" sz="1200" dirty="0"/>
          </a:p>
        </p:txBody>
      </p:sp>
      <p:sp>
        <p:nvSpPr>
          <p:cNvPr id="37" name="Text 35"/>
          <p:cNvSpPr/>
          <p:nvPr/>
        </p:nvSpPr>
        <p:spPr>
          <a:xfrm>
            <a:off x="4498848" y="4590288"/>
            <a:ext cx="429768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クラウドバックセッション作成・リモート URL をオンデマンド発行</a:t>
            </a:r>
            <a:endParaRPr lang="en-US" sz="1100" dirty="0"/>
          </a:p>
        </p:txBody>
      </p:sp>
      <p:sp>
        <p:nvSpPr>
          <p:cNvPr id="38" name="Text 36"/>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F222E"/>
          </a:solidFill>
          <a:ln w="12700">
            <a:solidFill>
              <a:srgbClr val="CF222E"/>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03 — Copilot CLI：刷新された3つの新機能</a:t>
            </a:r>
            <a:endParaRPr lang="en-US" sz="1900" dirty="0"/>
          </a:p>
        </p:txBody>
      </p:sp>
      <p:sp>
        <p:nvSpPr>
          <p:cNvPr id="4" name="Shape 2"/>
          <p:cNvSpPr/>
          <p:nvPr/>
        </p:nvSpPr>
        <p:spPr>
          <a:xfrm>
            <a:off x="182880" y="640080"/>
            <a:ext cx="2788920" cy="431596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40080"/>
            <a:ext cx="2788920" cy="475488"/>
          </a:xfrm>
          <a:prstGeom prst="rect">
            <a:avLst/>
          </a:prstGeom>
          <a:solidFill>
            <a:srgbClr val="CF222E"/>
          </a:solidFill>
          <a:ln w="12700">
            <a:solidFill>
              <a:srgbClr val="CF222E"/>
            </a:solidFill>
            <a:prstDash val="solid"/>
          </a:ln>
        </p:spPr>
      </p:sp>
      <p:sp>
        <p:nvSpPr>
          <p:cNvPr id="6" name="Text 4"/>
          <p:cNvSpPr/>
          <p:nvPr/>
        </p:nvSpPr>
        <p:spPr>
          <a:xfrm>
            <a:off x="274320" y="658368"/>
            <a:ext cx="2606040" cy="438912"/>
          </a:xfrm>
          <a:prstGeom prst="rect">
            <a:avLst/>
          </a:prstGeom>
          <a:noFill/>
          <a:ln/>
        </p:spPr>
        <p:txBody>
          <a:bodyPr wrap="square" lIns="0" tIns="0" rIns="0" bIns="0"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新 Terminal UI（TUI）</a:t>
            </a:r>
            <a:endParaRPr lang="en-US" sz="1300" dirty="0"/>
          </a:p>
        </p:txBody>
      </p:sp>
      <p:sp>
        <p:nvSpPr>
          <p:cNvPr id="7" name="Shape 5"/>
          <p:cNvSpPr/>
          <p:nvPr/>
        </p:nvSpPr>
        <p:spPr>
          <a:xfrm>
            <a:off x="274320" y="1188720"/>
            <a:ext cx="1188720" cy="310896"/>
          </a:xfrm>
          <a:prstGeom prst="rect">
            <a:avLst/>
          </a:prstGeom>
          <a:solidFill>
            <a:srgbClr val="BC4C00"/>
          </a:solidFill>
          <a:ln w="12700">
            <a:solidFill>
              <a:srgbClr val="BC4C00"/>
            </a:solidFill>
            <a:prstDash val="solid"/>
          </a:ln>
        </p:spPr>
      </p:sp>
      <p:sp>
        <p:nvSpPr>
          <p:cNvPr id="8" name="Text 6"/>
          <p:cNvSpPr/>
          <p:nvPr/>
        </p:nvSpPr>
        <p:spPr>
          <a:xfrm>
            <a:off x="274320" y="1188720"/>
            <a:ext cx="11887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/experimental</a:t>
            </a:r>
            <a:endParaRPr lang="en-US" sz="1200" dirty="0"/>
          </a:p>
        </p:txBody>
      </p:sp>
      <p:sp>
        <p:nvSpPr>
          <p:cNvPr id="9" name="Text 7"/>
          <p:cNvSpPr/>
          <p:nvPr/>
        </p:nvSpPr>
        <p:spPr>
          <a:xfrm>
            <a:off x="274320" y="1600200"/>
            <a:ext cx="2606040" cy="3200400"/>
          </a:xfrm>
          <a:prstGeom prst="rect">
            <a:avLst/>
          </a:prstGeom>
          <a:noFill/>
          <a:ln/>
        </p:spPr>
        <p:txBody>
          <a:bodyPr wrap="square" lIns="50800" tIns="50800" rIns="50800" bIns="50800" rtlCol="0" anchor="t"/>
          <a:lstStyle/>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タブ型アクセスで PR・Issue・Gist をターミナルから操作</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カラーテーマ・アクセシビリティ改善を含む刷新 UI</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/experimental モードで提供中</a:t>
            </a:r>
            <a:endParaRPr lang="en-US" sz="1200" dirty="0"/>
          </a:p>
        </p:txBody>
      </p:sp>
      <p:sp>
        <p:nvSpPr>
          <p:cNvPr id="10" name="Shape 8"/>
          <p:cNvSpPr/>
          <p:nvPr/>
        </p:nvSpPr>
        <p:spPr>
          <a:xfrm>
            <a:off x="3172968" y="640080"/>
            <a:ext cx="2788920" cy="431596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1" name="Shape 9"/>
          <p:cNvSpPr/>
          <p:nvPr/>
        </p:nvSpPr>
        <p:spPr>
          <a:xfrm>
            <a:off x="3172968" y="640080"/>
            <a:ext cx="2788920" cy="475488"/>
          </a:xfrm>
          <a:prstGeom prst="rect">
            <a:avLst/>
          </a:prstGeom>
          <a:solidFill>
            <a:srgbClr val="0969DA"/>
          </a:solidFill>
          <a:ln w="12700">
            <a:solidFill>
              <a:srgbClr val="0969DA"/>
            </a:solidFill>
            <a:prstDash val="solid"/>
          </a:ln>
        </p:spPr>
      </p:sp>
      <p:sp>
        <p:nvSpPr>
          <p:cNvPr id="12" name="Text 10"/>
          <p:cNvSpPr/>
          <p:nvPr/>
        </p:nvSpPr>
        <p:spPr>
          <a:xfrm>
            <a:off x="3264408" y="658368"/>
            <a:ext cx="2606040" cy="438912"/>
          </a:xfrm>
          <a:prstGeom prst="rect">
            <a:avLst/>
          </a:prstGeom>
          <a:noFill/>
          <a:ln/>
        </p:spPr>
        <p:txBody>
          <a:bodyPr wrap="square" lIns="0" tIns="0" rIns="0" bIns="0"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Voice Input（音声入力）</a:t>
            </a:r>
            <a:endParaRPr lang="en-US" sz="1300" dirty="0"/>
          </a:p>
        </p:txBody>
      </p:sp>
      <p:sp>
        <p:nvSpPr>
          <p:cNvPr id="13" name="Shape 11"/>
          <p:cNvSpPr/>
          <p:nvPr/>
        </p:nvSpPr>
        <p:spPr>
          <a:xfrm>
            <a:off x="3264408" y="1188720"/>
            <a:ext cx="1188720" cy="310896"/>
          </a:xfrm>
          <a:prstGeom prst="rect">
            <a:avLst/>
          </a:prstGeom>
          <a:solidFill>
            <a:srgbClr val="2DA44E"/>
          </a:solidFill>
          <a:ln w="12700">
            <a:solidFill>
              <a:srgbClr val="2DA44E"/>
            </a:solidFill>
            <a:prstDash val="solid"/>
          </a:ln>
        </p:spPr>
      </p:sp>
      <p:sp>
        <p:nvSpPr>
          <p:cNvPr id="14" name="Text 12"/>
          <p:cNvSpPr/>
          <p:nvPr/>
        </p:nvSpPr>
        <p:spPr>
          <a:xfrm>
            <a:off x="3264408" y="1188720"/>
            <a:ext cx="11887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GA</a:t>
            </a:r>
            <a:endParaRPr lang="en-US" sz="1200" dirty="0"/>
          </a:p>
        </p:txBody>
      </p:sp>
      <p:sp>
        <p:nvSpPr>
          <p:cNvPr id="15" name="Text 13"/>
          <p:cNvSpPr/>
          <p:nvPr/>
        </p:nvSpPr>
        <p:spPr>
          <a:xfrm>
            <a:off x="3264408" y="1600200"/>
            <a:ext cx="2606040" cy="3200400"/>
          </a:xfrm>
          <a:prstGeom prst="rect">
            <a:avLst/>
          </a:prstGeom>
          <a:noFill/>
          <a:ln/>
        </p:spPr>
        <p:txBody>
          <a:bodyPr wrap="square" lIns="50800" tIns="50800" rIns="50800" bIns="50800" rtlCol="0" anchor="t"/>
          <a:lstStyle/>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オンデバイスの音声テキスト変換（STT）を使用</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音声データは端末の外に出ない（プライバシー保護）</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ハンズフリーで CLI 操作が可能に</a:t>
            </a:r>
            <a:endParaRPr lang="en-US" sz="1200" dirty="0"/>
          </a:p>
        </p:txBody>
      </p:sp>
      <p:sp>
        <p:nvSpPr>
          <p:cNvPr id="16" name="Shape 14"/>
          <p:cNvSpPr/>
          <p:nvPr/>
        </p:nvSpPr>
        <p:spPr>
          <a:xfrm>
            <a:off x="6163056" y="640080"/>
            <a:ext cx="2788920" cy="431596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7" name="Shape 15"/>
          <p:cNvSpPr/>
          <p:nvPr/>
        </p:nvSpPr>
        <p:spPr>
          <a:xfrm>
            <a:off x="6163056" y="640080"/>
            <a:ext cx="2788920" cy="475488"/>
          </a:xfrm>
          <a:prstGeom prst="rect">
            <a:avLst/>
          </a:prstGeom>
          <a:solidFill>
            <a:srgbClr val="8250DF"/>
          </a:solidFill>
          <a:ln w="12700">
            <a:solidFill>
              <a:srgbClr val="8250DF"/>
            </a:solidFill>
            <a:prstDash val="solid"/>
          </a:ln>
        </p:spPr>
      </p:sp>
      <p:sp>
        <p:nvSpPr>
          <p:cNvPr id="18" name="Text 16"/>
          <p:cNvSpPr/>
          <p:nvPr/>
        </p:nvSpPr>
        <p:spPr>
          <a:xfrm>
            <a:off x="6254496" y="658368"/>
            <a:ext cx="2606040" cy="438912"/>
          </a:xfrm>
          <a:prstGeom prst="rect">
            <a:avLst/>
          </a:prstGeom>
          <a:noFill/>
          <a:ln/>
        </p:spPr>
        <p:txBody>
          <a:bodyPr wrap="square" lIns="0" tIns="0" rIns="0" bIns="0"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Prompt Scheduling</a:t>
            </a:r>
            <a:endParaRPr lang="en-US" sz="1300" dirty="0"/>
          </a:p>
        </p:txBody>
      </p:sp>
      <p:sp>
        <p:nvSpPr>
          <p:cNvPr id="19" name="Shape 17"/>
          <p:cNvSpPr/>
          <p:nvPr/>
        </p:nvSpPr>
        <p:spPr>
          <a:xfrm>
            <a:off x="6254496" y="1188720"/>
            <a:ext cx="1188720" cy="310896"/>
          </a:xfrm>
          <a:prstGeom prst="rect">
            <a:avLst/>
          </a:prstGeom>
          <a:solidFill>
            <a:srgbClr val="8250DF"/>
          </a:solidFill>
          <a:ln w="12700">
            <a:solidFill>
              <a:srgbClr val="8250DF"/>
            </a:solidFill>
            <a:prstDash val="solid"/>
          </a:ln>
        </p:spPr>
      </p:sp>
      <p:sp>
        <p:nvSpPr>
          <p:cNvPr id="20" name="Text 18"/>
          <p:cNvSpPr/>
          <p:nvPr/>
        </p:nvSpPr>
        <p:spPr>
          <a:xfrm>
            <a:off x="6254496" y="1188720"/>
            <a:ext cx="11887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新機能</a:t>
            </a:r>
            <a:endParaRPr lang="en-US" sz="1200" dirty="0"/>
          </a:p>
        </p:txBody>
      </p:sp>
      <p:sp>
        <p:nvSpPr>
          <p:cNvPr id="21" name="Text 19"/>
          <p:cNvSpPr/>
          <p:nvPr/>
        </p:nvSpPr>
        <p:spPr>
          <a:xfrm>
            <a:off x="6254496" y="1600200"/>
            <a:ext cx="2606040" cy="3200400"/>
          </a:xfrm>
          <a:prstGeom prst="rect">
            <a:avLst/>
          </a:prstGeom>
          <a:noFill/>
          <a:ln/>
        </p:spPr>
        <p:txBody>
          <a:bodyPr wrap="square" lIns="50800" tIns="50800" rIns="50800" bIns="50800" rtlCol="0" anchor="t"/>
          <a:lstStyle/>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/every：繰り返しプロンプト・バックグラウンドタスクの定期実行</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/after：指定後に実行する遅延スケジュール</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Rubber Duck 連携：設計・実装・テストの批評を自動依頼</a:t>
            </a:r>
            <a:endParaRPr lang="en-US" sz="1200" dirty="0"/>
          </a:p>
        </p:txBody>
      </p:sp>
      <p:sp>
        <p:nvSpPr>
          <p:cNvPr id="22" name="Text 20"/>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F222E"/>
          </a:solidFill>
          <a:ln w="12700">
            <a:solidFill>
              <a:srgbClr val="CF222E"/>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03 — JetBrains IDE：7つのエージェント機能強化</a:t>
            </a:r>
            <a:endParaRPr lang="en-US" sz="1900" dirty="0"/>
          </a:p>
        </p:txBody>
      </p:sp>
      <p:sp>
        <p:nvSpPr>
          <p:cNvPr id="4" name="Shape 2"/>
          <p:cNvSpPr/>
          <p:nvPr/>
        </p:nvSpPr>
        <p:spPr>
          <a:xfrm>
            <a:off x="182880" y="640080"/>
            <a:ext cx="4343400" cy="429768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40080"/>
            <a:ext cx="64008" cy="4297680"/>
          </a:xfrm>
          <a:prstGeom prst="rect">
            <a:avLst/>
          </a:prstGeom>
          <a:solidFill>
            <a:srgbClr val="CF222E"/>
          </a:solidFill>
          <a:ln w="12700">
            <a:solidFill>
              <a:srgbClr val="CF222E"/>
            </a:solidFill>
            <a:prstDash val="solid"/>
          </a:ln>
        </p:spPr>
      </p:sp>
      <p:sp>
        <p:nvSpPr>
          <p:cNvPr id="6" name="Text 4"/>
          <p:cNvSpPr/>
          <p:nvPr/>
        </p:nvSpPr>
        <p:spPr>
          <a:xfrm>
            <a:off x="411480" y="713232"/>
            <a:ext cx="3931920" cy="365760"/>
          </a:xfrm>
          <a:prstGeom prst="rect">
            <a:avLst/>
          </a:prstGeom>
          <a:noFill/>
          <a:ln/>
        </p:spPr>
        <p:txBody>
          <a:bodyPr wrap="square" lIns="0" tIns="0" rIns="0" bIns="0" rtlCol="0" anchor="ctr"/>
          <a:lstStyle/>
          <a:p>
            <a:pPr indent="0" marL="0">
              <a:buNone/>
            </a:pPr>
            <a:r>
              <a:rPr lang="en-US" sz="1400" b="1" dirty="0">
                <a:solidFill>
                  <a:srgbClr val="CF222E"/>
                </a:solidFill>
                <a:latin typeface="Segoe UI" pitchFamily="34" charset="0"/>
                <a:ea typeface="Segoe UI" pitchFamily="34" charset="-122"/>
                <a:cs typeface="Segoe UI" pitchFamily="34" charset="-120"/>
              </a:rPr>
              <a:t>Agent Picker — 4つのモード</a:t>
            </a:r>
            <a:endParaRPr lang="en-US" sz="1400" dirty="0"/>
          </a:p>
        </p:txBody>
      </p:sp>
      <p:sp>
        <p:nvSpPr>
          <p:cNvPr id="7" name="Shape 5"/>
          <p:cNvSpPr/>
          <p:nvPr/>
        </p:nvSpPr>
        <p:spPr>
          <a:xfrm>
            <a:off x="320040" y="1188720"/>
            <a:ext cx="109728" cy="502920"/>
          </a:xfrm>
          <a:prstGeom prst="rect">
            <a:avLst/>
          </a:prstGeom>
          <a:solidFill>
            <a:srgbClr val="CF222E"/>
          </a:solidFill>
          <a:ln w="12700">
            <a:solidFill>
              <a:srgbClr val="CF222E"/>
            </a:solidFill>
            <a:prstDash val="solid"/>
          </a:ln>
        </p:spPr>
      </p:sp>
      <p:sp>
        <p:nvSpPr>
          <p:cNvPr id="8" name="Text 6"/>
          <p:cNvSpPr/>
          <p:nvPr/>
        </p:nvSpPr>
        <p:spPr>
          <a:xfrm>
            <a:off x="530352" y="1188720"/>
            <a:ext cx="3749040" cy="256032"/>
          </a:xfrm>
          <a:prstGeom prst="rect">
            <a:avLst/>
          </a:prstGeom>
          <a:noFill/>
          <a:ln/>
        </p:spPr>
        <p:txBody>
          <a:bodyPr wrap="square" lIns="0" tIns="0" rIns="0" bIns="0" rtlCol="0" anchor="ctr"/>
          <a:lstStyle/>
          <a:p>
            <a:pPr indent="0" marL="0">
              <a:buNone/>
            </a:pPr>
            <a:r>
              <a:rPr lang="en-US" sz="1200" b="1" dirty="0">
                <a:solidFill>
                  <a:srgbClr val="CF222E"/>
                </a:solidFill>
                <a:latin typeface="Segoe UI" pitchFamily="34" charset="0"/>
                <a:ea typeface="Segoe UI" pitchFamily="34" charset="-122"/>
                <a:cs typeface="Segoe UI" pitchFamily="34" charset="-120"/>
              </a:rPr>
              <a:t>Agent mode</a:t>
            </a:r>
            <a:endParaRPr lang="en-US" sz="1200" dirty="0"/>
          </a:p>
        </p:txBody>
      </p:sp>
      <p:sp>
        <p:nvSpPr>
          <p:cNvPr id="9" name="Text 7"/>
          <p:cNvSpPr/>
          <p:nvPr/>
        </p:nvSpPr>
        <p:spPr>
          <a:xfrm>
            <a:off x="530352" y="1444752"/>
            <a:ext cx="374904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自律タスク実行の完全エージェント体験（デフォルト）</a:t>
            </a:r>
            <a:endParaRPr lang="en-US" sz="1100" dirty="0"/>
          </a:p>
        </p:txBody>
      </p:sp>
      <p:sp>
        <p:nvSpPr>
          <p:cNvPr id="10" name="Shape 8"/>
          <p:cNvSpPr/>
          <p:nvPr/>
        </p:nvSpPr>
        <p:spPr>
          <a:xfrm>
            <a:off x="320040" y="1938528"/>
            <a:ext cx="109728" cy="502920"/>
          </a:xfrm>
          <a:prstGeom prst="rect">
            <a:avLst/>
          </a:prstGeom>
          <a:solidFill>
            <a:srgbClr val="0969DA"/>
          </a:solidFill>
          <a:ln w="12700">
            <a:solidFill>
              <a:srgbClr val="0969DA"/>
            </a:solidFill>
            <a:prstDash val="solid"/>
          </a:ln>
        </p:spPr>
      </p:sp>
      <p:sp>
        <p:nvSpPr>
          <p:cNvPr id="11" name="Text 9"/>
          <p:cNvSpPr/>
          <p:nvPr/>
        </p:nvSpPr>
        <p:spPr>
          <a:xfrm>
            <a:off x="530352" y="1938528"/>
            <a:ext cx="3749040" cy="256032"/>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Ask mode</a:t>
            </a:r>
            <a:endParaRPr lang="en-US" sz="1200" dirty="0"/>
          </a:p>
        </p:txBody>
      </p:sp>
      <p:sp>
        <p:nvSpPr>
          <p:cNvPr id="12" name="Text 10"/>
          <p:cNvSpPr/>
          <p:nvPr/>
        </p:nvSpPr>
        <p:spPr>
          <a:xfrm>
            <a:off x="530352" y="2194560"/>
            <a:ext cx="374904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クイック回答・アシスト</a:t>
            </a:r>
            <a:endParaRPr lang="en-US" sz="1100" dirty="0"/>
          </a:p>
        </p:txBody>
      </p:sp>
      <p:sp>
        <p:nvSpPr>
          <p:cNvPr id="13" name="Shape 11"/>
          <p:cNvSpPr/>
          <p:nvPr/>
        </p:nvSpPr>
        <p:spPr>
          <a:xfrm>
            <a:off x="320040" y="2688336"/>
            <a:ext cx="109728" cy="502920"/>
          </a:xfrm>
          <a:prstGeom prst="rect">
            <a:avLst/>
          </a:prstGeom>
          <a:solidFill>
            <a:srgbClr val="2DA44E"/>
          </a:solidFill>
          <a:ln w="12700">
            <a:solidFill>
              <a:srgbClr val="2DA44E"/>
            </a:solidFill>
            <a:prstDash val="solid"/>
          </a:ln>
        </p:spPr>
      </p:sp>
      <p:sp>
        <p:nvSpPr>
          <p:cNvPr id="14" name="Text 12"/>
          <p:cNvSpPr/>
          <p:nvPr/>
        </p:nvSpPr>
        <p:spPr>
          <a:xfrm>
            <a:off x="530352" y="2688336"/>
            <a:ext cx="3749040" cy="256032"/>
          </a:xfrm>
          <a:prstGeom prst="rect">
            <a:avLst/>
          </a:prstGeom>
          <a:noFill/>
          <a:ln/>
        </p:spPr>
        <p:txBody>
          <a:bodyPr wrap="square" lIns="0" tIns="0" rIns="0" bIns="0" rtlCol="0" anchor="ctr"/>
          <a:lstStyle/>
          <a:p>
            <a:pPr indent="0" marL="0">
              <a:buNone/>
            </a:pPr>
            <a:r>
              <a:rPr lang="en-US" sz="1200" b="1" dirty="0">
                <a:solidFill>
                  <a:srgbClr val="2DA44E"/>
                </a:solidFill>
                <a:latin typeface="Segoe UI" pitchFamily="34" charset="0"/>
                <a:ea typeface="Segoe UI" pitchFamily="34" charset="-122"/>
                <a:cs typeface="Segoe UI" pitchFamily="34" charset="-120"/>
              </a:rPr>
              <a:t>Custom agents</a:t>
            </a:r>
            <a:endParaRPr lang="en-US" sz="1200" dirty="0"/>
          </a:p>
        </p:txBody>
      </p:sp>
      <p:sp>
        <p:nvSpPr>
          <p:cNvPr id="15" name="Text 13"/>
          <p:cNvSpPr/>
          <p:nvPr/>
        </p:nvSpPr>
        <p:spPr>
          <a:xfrm>
            <a:off x="530352" y="2944368"/>
            <a:ext cx="374904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自社ニーズに合わせたカスタムエージェント</a:t>
            </a:r>
            <a:endParaRPr lang="en-US" sz="1100" dirty="0"/>
          </a:p>
        </p:txBody>
      </p:sp>
      <p:sp>
        <p:nvSpPr>
          <p:cNvPr id="16" name="Shape 14"/>
          <p:cNvSpPr/>
          <p:nvPr/>
        </p:nvSpPr>
        <p:spPr>
          <a:xfrm>
            <a:off x="320040" y="3438144"/>
            <a:ext cx="109728" cy="502920"/>
          </a:xfrm>
          <a:prstGeom prst="rect">
            <a:avLst/>
          </a:prstGeom>
          <a:solidFill>
            <a:srgbClr val="8250DF"/>
          </a:solidFill>
          <a:ln w="12700">
            <a:solidFill>
              <a:srgbClr val="8250DF"/>
            </a:solidFill>
            <a:prstDash val="solid"/>
          </a:ln>
        </p:spPr>
      </p:sp>
      <p:sp>
        <p:nvSpPr>
          <p:cNvPr id="17" name="Text 15"/>
          <p:cNvSpPr/>
          <p:nvPr/>
        </p:nvSpPr>
        <p:spPr>
          <a:xfrm>
            <a:off x="530352" y="3438144"/>
            <a:ext cx="3749040" cy="256032"/>
          </a:xfrm>
          <a:prstGeom prst="rect">
            <a:avLst/>
          </a:prstGeom>
          <a:noFill/>
          <a:ln/>
        </p:spPr>
        <p:txBody>
          <a:bodyPr wrap="square" lIns="0" tIns="0" rIns="0" bIns="0" rtlCol="0" anchor="ctr"/>
          <a:lstStyle/>
          <a:p>
            <a:pPr indent="0" marL="0">
              <a:buNone/>
            </a:pPr>
            <a:r>
              <a:rPr lang="en-US" sz="1200" b="1" dirty="0">
                <a:solidFill>
                  <a:srgbClr val="8250DF"/>
                </a:solidFill>
                <a:latin typeface="Segoe UI" pitchFamily="34" charset="0"/>
                <a:ea typeface="Segoe UI" pitchFamily="34" charset="-122"/>
                <a:cs typeface="Segoe UI" pitchFamily="34" charset="-120"/>
              </a:rPr>
              <a:t>Plan mode</a:t>
            </a:r>
            <a:endParaRPr lang="en-US" sz="1200" dirty="0"/>
          </a:p>
        </p:txBody>
      </p:sp>
      <p:sp>
        <p:nvSpPr>
          <p:cNvPr id="18" name="Text 16"/>
          <p:cNvSpPr/>
          <p:nvPr/>
        </p:nvSpPr>
        <p:spPr>
          <a:xfrm>
            <a:off x="530352" y="3694176"/>
            <a:ext cx="374904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実装前に構造化プランを作成・レビュー</a:t>
            </a:r>
            <a:endParaRPr lang="en-US" sz="1100" dirty="0"/>
          </a:p>
        </p:txBody>
      </p:sp>
      <p:sp>
        <p:nvSpPr>
          <p:cNvPr id="19" name="Text 17"/>
          <p:cNvSpPr/>
          <p:nvPr/>
        </p:nvSpPr>
        <p:spPr>
          <a:xfrm>
            <a:off x="4663440" y="685800"/>
            <a:ext cx="4206240" cy="365760"/>
          </a:xfrm>
          <a:prstGeom prst="rect">
            <a:avLst/>
          </a:prstGeom>
          <a:noFill/>
          <a:ln/>
        </p:spPr>
        <p:txBody>
          <a:bodyPr wrap="square" lIns="0" tIns="0" rIns="0" bIns="0" rtlCol="0" anchor="ctr"/>
          <a:lstStyle/>
          <a:p>
            <a:pPr indent="0" marL="0">
              <a:buNone/>
            </a:pPr>
            <a:r>
              <a:rPr lang="en-US" sz="1400" b="1" dirty="0">
                <a:solidFill>
                  <a:srgbClr val="CF222E"/>
                </a:solidFill>
                <a:latin typeface="Segoe UI" pitchFamily="34" charset="0"/>
                <a:ea typeface="Segoe UI" pitchFamily="34" charset="-122"/>
                <a:cs typeface="Segoe UI" pitchFamily="34" charset="-120"/>
              </a:rPr>
              <a:t>新スラッシュコマンド &amp; 機能</a:t>
            </a:r>
            <a:endParaRPr lang="en-US" sz="1400" dirty="0"/>
          </a:p>
        </p:txBody>
      </p:sp>
      <p:sp>
        <p:nvSpPr>
          <p:cNvPr id="20" name="Shape 18"/>
          <p:cNvSpPr/>
          <p:nvPr/>
        </p:nvSpPr>
        <p:spPr>
          <a:xfrm>
            <a:off x="4572000" y="1115568"/>
            <a:ext cx="64008" cy="512064"/>
          </a:xfrm>
          <a:prstGeom prst="rect">
            <a:avLst/>
          </a:prstGeom>
          <a:solidFill>
            <a:srgbClr val="0969DA"/>
          </a:solidFill>
          <a:ln w="12700">
            <a:solidFill>
              <a:srgbClr val="0969DA"/>
            </a:solidFill>
            <a:prstDash val="solid"/>
          </a:ln>
        </p:spPr>
      </p:sp>
      <p:sp>
        <p:nvSpPr>
          <p:cNvPr id="21" name="Text 19"/>
          <p:cNvSpPr/>
          <p:nvPr/>
        </p:nvSpPr>
        <p:spPr>
          <a:xfrm>
            <a:off x="4736592" y="1115568"/>
            <a:ext cx="4114800" cy="256032"/>
          </a:xfrm>
          <a:prstGeom prst="rect">
            <a:avLst/>
          </a:prstGeom>
          <a:noFill/>
          <a:ln/>
        </p:spPr>
        <p:txBody>
          <a:bodyPr wrap="square" lIns="0" tIns="0" rIns="0" bIns="0" rtlCol="0" anchor="ctr"/>
          <a:lstStyle/>
          <a:p>
            <a:pPr indent="0" marL="0">
              <a:buNone/>
            </a:pPr>
            <a:r>
              <a:rPr lang="en-US" sz="1200" b="1" dirty="0">
                <a:solidFill>
                  <a:srgbClr val="0969DA"/>
                </a:solidFill>
                <a:latin typeface="Segoe UI" pitchFamily="34" charset="0"/>
                <a:ea typeface="Segoe UI" pitchFamily="34" charset="-122"/>
                <a:cs typeface="Segoe UI" pitchFamily="34" charset="-120"/>
              </a:rPr>
              <a:t>/remote</a:t>
            </a:r>
            <a:endParaRPr lang="en-US" sz="1200" dirty="0"/>
          </a:p>
        </p:txBody>
      </p:sp>
      <p:sp>
        <p:nvSpPr>
          <p:cNvPr id="22" name="Text 20"/>
          <p:cNvSpPr/>
          <p:nvPr/>
        </p:nvSpPr>
        <p:spPr>
          <a:xfrm>
            <a:off x="4736592" y="1371600"/>
            <a:ext cx="411480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github.com/モバイルから進行中セッションをリモート操作</a:t>
            </a:r>
            <a:endParaRPr lang="en-US" sz="1100" dirty="0"/>
          </a:p>
        </p:txBody>
      </p:sp>
      <p:sp>
        <p:nvSpPr>
          <p:cNvPr id="23" name="Shape 21"/>
          <p:cNvSpPr/>
          <p:nvPr/>
        </p:nvSpPr>
        <p:spPr>
          <a:xfrm>
            <a:off x="4572000" y="1773936"/>
            <a:ext cx="64008" cy="512064"/>
          </a:xfrm>
          <a:prstGeom prst="rect">
            <a:avLst/>
          </a:prstGeom>
          <a:solidFill>
            <a:srgbClr val="2DA44E"/>
          </a:solidFill>
          <a:ln w="12700">
            <a:solidFill>
              <a:srgbClr val="2DA44E"/>
            </a:solidFill>
            <a:prstDash val="solid"/>
          </a:ln>
        </p:spPr>
      </p:sp>
      <p:sp>
        <p:nvSpPr>
          <p:cNvPr id="24" name="Text 22"/>
          <p:cNvSpPr/>
          <p:nvPr/>
        </p:nvSpPr>
        <p:spPr>
          <a:xfrm>
            <a:off x="4736592" y="1773936"/>
            <a:ext cx="4114800" cy="256032"/>
          </a:xfrm>
          <a:prstGeom prst="rect">
            <a:avLst/>
          </a:prstGeom>
          <a:noFill/>
          <a:ln/>
        </p:spPr>
        <p:txBody>
          <a:bodyPr wrap="square" lIns="0" tIns="0" rIns="0" bIns="0" rtlCol="0" anchor="ctr"/>
          <a:lstStyle/>
          <a:p>
            <a:pPr indent="0" marL="0">
              <a:buNone/>
            </a:pPr>
            <a:r>
              <a:rPr lang="en-US" sz="1200" b="1" dirty="0">
                <a:solidFill>
                  <a:srgbClr val="2DA44E"/>
                </a:solidFill>
                <a:latin typeface="Segoe UI" pitchFamily="34" charset="0"/>
                <a:ea typeface="Segoe UI" pitchFamily="34" charset="-122"/>
                <a:cs typeface="Segoe UI" pitchFamily="34" charset="-120"/>
              </a:rPr>
              <a:t>/compact</a:t>
            </a:r>
            <a:endParaRPr lang="en-US" sz="1200" dirty="0"/>
          </a:p>
        </p:txBody>
      </p:sp>
      <p:sp>
        <p:nvSpPr>
          <p:cNvPr id="25" name="Text 23"/>
          <p:cNvSpPr/>
          <p:nvPr/>
        </p:nvSpPr>
        <p:spPr>
          <a:xfrm>
            <a:off x="4736592" y="2029968"/>
            <a:ext cx="411480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長時間セッションのコンテキストを手動圧縮</a:t>
            </a:r>
            <a:endParaRPr lang="en-US" sz="1100" dirty="0"/>
          </a:p>
        </p:txBody>
      </p:sp>
      <p:sp>
        <p:nvSpPr>
          <p:cNvPr id="26" name="Shape 24"/>
          <p:cNvSpPr/>
          <p:nvPr/>
        </p:nvSpPr>
        <p:spPr>
          <a:xfrm>
            <a:off x="4572000" y="2432304"/>
            <a:ext cx="64008" cy="512064"/>
          </a:xfrm>
          <a:prstGeom prst="rect">
            <a:avLst/>
          </a:prstGeom>
          <a:solidFill>
            <a:srgbClr val="8250DF"/>
          </a:solidFill>
          <a:ln w="12700">
            <a:solidFill>
              <a:srgbClr val="8250DF"/>
            </a:solidFill>
            <a:prstDash val="solid"/>
          </a:ln>
        </p:spPr>
      </p:sp>
      <p:sp>
        <p:nvSpPr>
          <p:cNvPr id="27" name="Text 25"/>
          <p:cNvSpPr/>
          <p:nvPr/>
        </p:nvSpPr>
        <p:spPr>
          <a:xfrm>
            <a:off x="4736592" y="2432304"/>
            <a:ext cx="4114800" cy="256032"/>
          </a:xfrm>
          <a:prstGeom prst="rect">
            <a:avLst/>
          </a:prstGeom>
          <a:noFill/>
          <a:ln/>
        </p:spPr>
        <p:txBody>
          <a:bodyPr wrap="square" lIns="0" tIns="0" rIns="0" bIns="0" rtlCol="0" anchor="ctr"/>
          <a:lstStyle/>
          <a:p>
            <a:pPr indent="0" marL="0">
              <a:buNone/>
            </a:pPr>
            <a:r>
              <a:rPr lang="en-US" sz="1200" b="1" dirty="0">
                <a:solidFill>
                  <a:srgbClr val="8250DF"/>
                </a:solidFill>
                <a:latin typeface="Segoe UI" pitchFamily="34" charset="0"/>
                <a:ea typeface="Segoe UI" pitchFamily="34" charset="-122"/>
                <a:cs typeface="Segoe UI" pitchFamily="34" charset="-120"/>
              </a:rPr>
              <a:t>/chronicle</a:t>
            </a:r>
            <a:endParaRPr lang="en-US" sz="1200" dirty="0"/>
          </a:p>
        </p:txBody>
      </p:sp>
      <p:sp>
        <p:nvSpPr>
          <p:cNvPr id="28" name="Text 26"/>
          <p:cNvSpPr/>
          <p:nvPr/>
        </p:nvSpPr>
        <p:spPr>
          <a:xfrm>
            <a:off x="4736592" y="2688336"/>
            <a:ext cx="411480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standup / tips / improve / search — セッション履歴分析</a:t>
            </a:r>
            <a:endParaRPr lang="en-US" sz="1100" dirty="0"/>
          </a:p>
        </p:txBody>
      </p:sp>
      <p:sp>
        <p:nvSpPr>
          <p:cNvPr id="29" name="Shape 27"/>
          <p:cNvSpPr/>
          <p:nvPr/>
        </p:nvSpPr>
        <p:spPr>
          <a:xfrm>
            <a:off x="4572000" y="3090672"/>
            <a:ext cx="64008" cy="512064"/>
          </a:xfrm>
          <a:prstGeom prst="rect">
            <a:avLst/>
          </a:prstGeom>
          <a:solidFill>
            <a:srgbClr val="CF222E"/>
          </a:solidFill>
          <a:ln w="12700">
            <a:solidFill>
              <a:srgbClr val="CF222E"/>
            </a:solidFill>
            <a:prstDash val="solid"/>
          </a:ln>
        </p:spPr>
      </p:sp>
      <p:sp>
        <p:nvSpPr>
          <p:cNvPr id="30" name="Text 28"/>
          <p:cNvSpPr/>
          <p:nvPr/>
        </p:nvSpPr>
        <p:spPr>
          <a:xfrm>
            <a:off x="4736592" y="3090672"/>
            <a:ext cx="4114800" cy="256032"/>
          </a:xfrm>
          <a:prstGeom prst="rect">
            <a:avLst/>
          </a:prstGeom>
          <a:noFill/>
          <a:ln/>
        </p:spPr>
        <p:txBody>
          <a:bodyPr wrap="square" lIns="0" tIns="0" rIns="0" bIns="0" rtlCol="0" anchor="ctr"/>
          <a:lstStyle/>
          <a:p>
            <a:pPr indent="0" marL="0">
              <a:buNone/>
            </a:pPr>
            <a:r>
              <a:rPr lang="en-US" sz="1200" b="1" dirty="0">
                <a:solidFill>
                  <a:srgbClr val="CF222E"/>
                </a:solidFill>
                <a:latin typeface="Segoe UI" pitchFamily="34" charset="0"/>
                <a:ea typeface="Segoe UI" pitchFamily="34" charset="-122"/>
                <a:cs typeface="Segoe UI" pitchFamily="34" charset="-120"/>
              </a:rPr>
              <a:t>Agent Debug Panel</a:t>
            </a:r>
            <a:endParaRPr lang="en-US" sz="1200" dirty="0"/>
          </a:p>
        </p:txBody>
      </p:sp>
      <p:sp>
        <p:nvSpPr>
          <p:cNvPr id="31" name="Text 29"/>
          <p:cNvSpPr/>
          <p:nvPr/>
        </p:nvSpPr>
        <p:spPr>
          <a:xfrm>
            <a:off x="4736592" y="3346704"/>
            <a:ext cx="411480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エージェント動作の時系列イベントログ（Public Preview）</a:t>
            </a:r>
            <a:endParaRPr lang="en-US" sz="1100" dirty="0"/>
          </a:p>
        </p:txBody>
      </p:sp>
      <p:sp>
        <p:nvSpPr>
          <p:cNvPr id="32" name="Shape 30"/>
          <p:cNvSpPr/>
          <p:nvPr/>
        </p:nvSpPr>
        <p:spPr>
          <a:xfrm>
            <a:off x="4572000" y="3749040"/>
            <a:ext cx="64008" cy="512064"/>
          </a:xfrm>
          <a:prstGeom prst="rect">
            <a:avLst/>
          </a:prstGeom>
          <a:solidFill>
            <a:srgbClr val="BC4C00"/>
          </a:solidFill>
          <a:ln w="12700">
            <a:solidFill>
              <a:srgbClr val="BC4C00"/>
            </a:solidFill>
            <a:prstDash val="solid"/>
          </a:ln>
        </p:spPr>
      </p:sp>
      <p:sp>
        <p:nvSpPr>
          <p:cNvPr id="33" name="Text 31"/>
          <p:cNvSpPr/>
          <p:nvPr/>
        </p:nvSpPr>
        <p:spPr>
          <a:xfrm>
            <a:off x="4736592" y="3749040"/>
            <a:ext cx="4114800" cy="256032"/>
          </a:xfrm>
          <a:prstGeom prst="rect">
            <a:avLst/>
          </a:prstGeom>
          <a:noFill/>
          <a:ln/>
        </p:spPr>
        <p:txBody>
          <a:bodyPr wrap="square" lIns="0" tIns="0" rIns="0" bIns="0" rtlCol="0" anchor="ctr"/>
          <a:lstStyle/>
          <a:p>
            <a:pPr indent="0" marL="0">
              <a:buNone/>
            </a:pPr>
            <a:r>
              <a:rPr lang="en-US" sz="1200" b="1" dirty="0">
                <a:solidFill>
                  <a:srgbClr val="BC4C00"/>
                </a:solidFill>
                <a:latin typeface="Segoe UI" pitchFamily="34" charset="0"/>
                <a:ea typeface="Segoe UI" pitchFamily="34" charset="-122"/>
                <a:cs typeface="Segoe UI" pitchFamily="34" charset="-120"/>
              </a:rPr>
              <a:t>Thinking Effort</a:t>
            </a:r>
            <a:endParaRPr lang="en-US" sz="1200" dirty="0"/>
          </a:p>
        </p:txBody>
      </p:sp>
      <p:sp>
        <p:nvSpPr>
          <p:cNvPr id="34" name="Text 32"/>
          <p:cNvSpPr/>
          <p:nvPr/>
        </p:nvSpPr>
        <p:spPr>
          <a:xfrm>
            <a:off x="4736592" y="4005072"/>
            <a:ext cx="411480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推論モデルの思考量を low / medium / high で調整</a:t>
            </a:r>
            <a:endParaRPr lang="en-US" sz="1100" dirty="0"/>
          </a:p>
        </p:txBody>
      </p:sp>
      <p:sp>
        <p:nvSpPr>
          <p:cNvPr id="35" name="Shape 33"/>
          <p:cNvSpPr/>
          <p:nvPr/>
        </p:nvSpPr>
        <p:spPr>
          <a:xfrm>
            <a:off x="4572000" y="4407408"/>
            <a:ext cx="64008" cy="512064"/>
          </a:xfrm>
          <a:prstGeom prst="rect">
            <a:avLst/>
          </a:prstGeom>
          <a:solidFill>
            <a:srgbClr val="BF8700"/>
          </a:solidFill>
          <a:ln w="12700">
            <a:solidFill>
              <a:srgbClr val="BF8700"/>
            </a:solidFill>
            <a:prstDash val="solid"/>
          </a:ln>
        </p:spPr>
      </p:sp>
      <p:sp>
        <p:nvSpPr>
          <p:cNvPr id="36" name="Text 34"/>
          <p:cNvSpPr/>
          <p:nvPr/>
        </p:nvSpPr>
        <p:spPr>
          <a:xfrm>
            <a:off x="4736592" y="4407408"/>
            <a:ext cx="4114800" cy="256032"/>
          </a:xfrm>
          <a:prstGeom prst="rect">
            <a:avLst/>
          </a:prstGeom>
          <a:noFill/>
          <a:ln/>
        </p:spPr>
        <p:txBody>
          <a:bodyPr wrap="square" lIns="0" tIns="0" rIns="0" bIns="0" rtlCol="0" anchor="ctr"/>
          <a:lstStyle/>
          <a:p>
            <a:pPr indent="0" marL="0">
              <a:buNone/>
            </a:pPr>
            <a:r>
              <a:rPr lang="en-US" sz="1200" b="1" dirty="0">
                <a:solidFill>
                  <a:srgbClr val="BF8700"/>
                </a:solidFill>
                <a:latin typeface="Segoe UI" pitchFamily="34" charset="0"/>
                <a:ea typeface="Segoe UI" pitchFamily="34" charset="-122"/>
                <a:cs typeface="Segoe UI" pitchFamily="34" charset="-120"/>
              </a:rPr>
              <a:t>Customizations Editor</a:t>
            </a:r>
            <a:endParaRPr lang="en-US" sz="1200" dirty="0"/>
          </a:p>
        </p:txBody>
      </p:sp>
      <p:sp>
        <p:nvSpPr>
          <p:cNvPr id="37" name="Text 35"/>
          <p:cNvSpPr/>
          <p:nvPr/>
        </p:nvSpPr>
        <p:spPr>
          <a:xfrm>
            <a:off x="4736592" y="4663440"/>
            <a:ext cx="4114800" cy="25603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カスタムエージェント・skills・instructions を一元管理</a:t>
            </a:r>
            <a:endParaRPr lang="en-US" sz="1100" dirty="0"/>
          </a:p>
        </p:txBody>
      </p:sp>
      <p:sp>
        <p:nvSpPr>
          <p:cNvPr id="38" name="Text 36"/>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F222E"/>
          </a:solidFill>
          <a:ln w="12700">
            <a:solidFill>
              <a:srgbClr val="CF222E"/>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03 — VS Code Multi-Agent &amp; Visual Studio 2026 更新</a:t>
            </a:r>
            <a:endParaRPr lang="en-US" sz="1900" dirty="0"/>
          </a:p>
        </p:txBody>
      </p:sp>
      <p:sp>
        <p:nvSpPr>
          <p:cNvPr id="4" name="Shape 2"/>
          <p:cNvSpPr/>
          <p:nvPr/>
        </p:nvSpPr>
        <p:spPr>
          <a:xfrm>
            <a:off x="182880" y="640080"/>
            <a:ext cx="4315968" cy="202996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40080"/>
            <a:ext cx="64008" cy="2029968"/>
          </a:xfrm>
          <a:prstGeom prst="rect">
            <a:avLst/>
          </a:prstGeom>
          <a:solidFill>
            <a:srgbClr val="0969DA"/>
          </a:solidFill>
          <a:ln w="12700">
            <a:solidFill>
              <a:srgbClr val="0969DA"/>
            </a:solidFill>
            <a:prstDash val="solid"/>
          </a:ln>
        </p:spPr>
      </p:sp>
      <p:sp>
        <p:nvSpPr>
          <p:cNvPr id="6" name="Text 4"/>
          <p:cNvSpPr/>
          <p:nvPr/>
        </p:nvSpPr>
        <p:spPr>
          <a:xfrm>
            <a:off x="411480" y="713232"/>
            <a:ext cx="3840480" cy="365760"/>
          </a:xfrm>
          <a:prstGeom prst="rect">
            <a:avLst/>
          </a:prstGeom>
          <a:noFill/>
          <a:ln/>
        </p:spPr>
        <p:txBody>
          <a:bodyPr wrap="square" lIns="0" tIns="0" rIns="0" bIns="0" rtlCol="0" anchor="ctr"/>
          <a:lstStyle/>
          <a:p>
            <a:pPr indent="0" marL="0">
              <a:buNone/>
            </a:pPr>
            <a:r>
              <a:rPr lang="en-US" sz="1300" b="1" dirty="0">
                <a:solidFill>
                  <a:srgbClr val="0969DA"/>
                </a:solidFill>
                <a:latin typeface="Segoe UI" pitchFamily="34" charset="0"/>
                <a:ea typeface="Segoe UI" pitchFamily="34" charset="-122"/>
                <a:cs typeface="Segoe UI" pitchFamily="34" charset="-120"/>
              </a:rPr>
              <a:t>VS Code — Multi-Agent フレームワーク</a:t>
            </a:r>
            <a:endParaRPr lang="en-US" sz="1300" dirty="0"/>
          </a:p>
        </p:txBody>
      </p:sp>
      <p:sp>
        <p:nvSpPr>
          <p:cNvPr id="7" name="Text 5"/>
          <p:cNvSpPr/>
          <p:nvPr/>
        </p:nvSpPr>
        <p:spPr>
          <a:xfrm>
            <a:off x="411480" y="1143000"/>
            <a:ext cx="3840480" cy="1444752"/>
          </a:xfrm>
          <a:prstGeom prst="rect">
            <a:avLst/>
          </a:prstGeom>
          <a:noFill/>
          <a:ln/>
        </p:spPr>
        <p:txBody>
          <a:bodyPr wrap="square" lIns="50800" tIns="50800" rIns="50800" bIns="50800" rtlCol="0" anchor="t"/>
          <a:lstStyle/>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Orchestrator エージェントがタスクを分解し専門サブエージェントを並列実行</a:t>
            </a:r>
            <a:endParaRPr lang="en-US" sz="1200" dirty="0"/>
          </a:p>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linting / test-gen / docs / security review などを同時処理</a:t>
            </a:r>
            <a:endParaRPr lang="en-US" sz="1200" dirty="0"/>
          </a:p>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VS Code 内でリアルタイムに監視・介入（コンテキストスイッチ不要）</a:t>
            </a:r>
            <a:endParaRPr lang="en-US" sz="1200" dirty="0"/>
          </a:p>
        </p:txBody>
      </p:sp>
      <p:sp>
        <p:nvSpPr>
          <p:cNvPr id="8" name="Shape 6"/>
          <p:cNvSpPr/>
          <p:nvPr/>
        </p:nvSpPr>
        <p:spPr>
          <a:xfrm>
            <a:off x="182880" y="2798064"/>
            <a:ext cx="4315968" cy="205740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9" name="Shape 7"/>
          <p:cNvSpPr/>
          <p:nvPr/>
        </p:nvSpPr>
        <p:spPr>
          <a:xfrm>
            <a:off x="182880" y="2798064"/>
            <a:ext cx="64008" cy="2057400"/>
          </a:xfrm>
          <a:prstGeom prst="rect">
            <a:avLst/>
          </a:prstGeom>
          <a:solidFill>
            <a:srgbClr val="2DA44E"/>
          </a:solidFill>
          <a:ln w="12700">
            <a:solidFill>
              <a:srgbClr val="2DA44E"/>
            </a:solidFill>
            <a:prstDash val="solid"/>
          </a:ln>
        </p:spPr>
      </p:sp>
      <p:sp>
        <p:nvSpPr>
          <p:cNvPr id="10" name="Text 8"/>
          <p:cNvSpPr/>
          <p:nvPr/>
        </p:nvSpPr>
        <p:spPr>
          <a:xfrm>
            <a:off x="411480" y="2862072"/>
            <a:ext cx="3840480" cy="365760"/>
          </a:xfrm>
          <a:prstGeom prst="rect">
            <a:avLst/>
          </a:prstGeom>
          <a:noFill/>
          <a:ln/>
        </p:spPr>
        <p:txBody>
          <a:bodyPr wrap="square" lIns="0" tIns="0" rIns="0" bIns="0" rtlCol="0" anchor="ctr"/>
          <a:lstStyle/>
          <a:p>
            <a:pPr indent="0" marL="0">
              <a:buNone/>
            </a:pPr>
            <a:r>
              <a:rPr lang="en-US" sz="1300" b="1" dirty="0">
                <a:solidFill>
                  <a:srgbClr val="2DA44E"/>
                </a:solidFill>
                <a:latin typeface="Segoe UI" pitchFamily="34" charset="0"/>
                <a:ea typeface="Segoe UI" pitchFamily="34" charset="-122"/>
                <a:cs typeface="Segoe UI" pitchFamily="34" charset="-120"/>
              </a:rPr>
              <a:t>VS Code — GA になった機能</a:t>
            </a:r>
            <a:endParaRPr lang="en-US" sz="1300" dirty="0"/>
          </a:p>
        </p:txBody>
      </p:sp>
      <p:sp>
        <p:nvSpPr>
          <p:cNvPr id="11" name="Text 9"/>
          <p:cNvSpPr/>
          <p:nvPr/>
        </p:nvSpPr>
        <p:spPr>
          <a:xfrm>
            <a:off x="411480" y="3291840"/>
            <a:ext cx="3840480" cy="1463040"/>
          </a:xfrm>
          <a:prstGeom prst="rect">
            <a:avLst/>
          </a:prstGeom>
          <a:noFill/>
          <a:ln/>
        </p:spPr>
        <p:txBody>
          <a:bodyPr wrap="square" lIns="50800" tIns="50800" rIns="50800" bIns="50800" rtlCol="0" anchor="t"/>
          <a:lstStyle/>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Agent skills・Agent hooks・Prompt files・Anthropic Thinking が GA</a:t>
            </a:r>
            <a:endParaRPr lang="en-US" sz="1200" dirty="0"/>
          </a:p>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BYOK が Editor Preview フラグなしで利用可能に</a:t>
            </a:r>
            <a:endParaRPr lang="en-US" sz="1200" dirty="0"/>
          </a:p>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Copilot CLI agent をデフォルトに移行中（段階展開）</a:t>
            </a:r>
            <a:endParaRPr lang="en-US" sz="1200" dirty="0"/>
          </a:p>
        </p:txBody>
      </p:sp>
      <p:sp>
        <p:nvSpPr>
          <p:cNvPr id="12" name="Shape 10"/>
          <p:cNvSpPr/>
          <p:nvPr/>
        </p:nvSpPr>
        <p:spPr>
          <a:xfrm>
            <a:off x="4663440" y="640080"/>
            <a:ext cx="4297680" cy="281635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4663440" y="640080"/>
            <a:ext cx="64008" cy="2816352"/>
          </a:xfrm>
          <a:prstGeom prst="rect">
            <a:avLst/>
          </a:prstGeom>
          <a:solidFill>
            <a:srgbClr val="8250DF"/>
          </a:solidFill>
          <a:ln w="12700">
            <a:solidFill>
              <a:srgbClr val="8250DF"/>
            </a:solidFill>
            <a:prstDash val="solid"/>
          </a:ln>
        </p:spPr>
      </p:sp>
      <p:sp>
        <p:nvSpPr>
          <p:cNvPr id="14" name="Text 12"/>
          <p:cNvSpPr/>
          <p:nvPr/>
        </p:nvSpPr>
        <p:spPr>
          <a:xfrm>
            <a:off x="4892040" y="713232"/>
            <a:ext cx="3886200" cy="365760"/>
          </a:xfrm>
          <a:prstGeom prst="rect">
            <a:avLst/>
          </a:prstGeom>
          <a:noFill/>
          <a:ln/>
        </p:spPr>
        <p:txBody>
          <a:bodyPr wrap="square" lIns="0" tIns="0" rIns="0" bIns="0" rtlCol="0" anchor="ctr"/>
          <a:lstStyle/>
          <a:p>
            <a:pPr indent="0" marL="0">
              <a:buNone/>
            </a:pPr>
            <a:r>
              <a:rPr lang="en-US" sz="1300" b="1" dirty="0">
                <a:solidFill>
                  <a:srgbClr val="8250DF"/>
                </a:solidFill>
                <a:latin typeface="Segoe UI" pitchFamily="34" charset="0"/>
                <a:ea typeface="Segoe UI" pitchFamily="34" charset="-122"/>
                <a:cs typeface="Segoe UI" pitchFamily="34" charset="-120"/>
              </a:rPr>
              <a:t>Visual Studio 2026 — Plan Agent</a:t>
            </a:r>
            <a:endParaRPr lang="en-US" sz="1300" dirty="0"/>
          </a:p>
        </p:txBody>
      </p:sp>
      <p:sp>
        <p:nvSpPr>
          <p:cNvPr id="15" name="Text 13"/>
          <p:cNvSpPr/>
          <p:nvPr/>
        </p:nvSpPr>
        <p:spPr>
          <a:xfrm>
            <a:off x="4892040" y="1152144"/>
            <a:ext cx="3886200" cy="2103120"/>
          </a:xfrm>
          <a:prstGeom prst="rect">
            <a:avLst/>
          </a:prstGeom>
          <a:noFill/>
          <a:ln/>
        </p:spPr>
        <p:txBody>
          <a:bodyPr wrap="square" lIns="50800" tIns="50800" rIns="50800" bIns="50800" rtlCol="0" anchor="t"/>
          <a:lstStyle/>
          <a:p>
            <a:pPr indent="0" marL="0">
              <a:spcAft>
                <a:spcPts val="500"/>
              </a:spcAft>
              <a:buNone/>
            </a:pPr>
            <a:r>
              <a:rPr lang="en-US" sz="1200" dirty="0">
                <a:solidFill>
                  <a:srgbClr val="1F2328"/>
                </a:solidFill>
                <a:latin typeface="Segoe UI" pitchFamily="34" charset="0"/>
                <a:ea typeface="Segoe UI" pitchFamily="34" charset="-122"/>
                <a:cs typeface="Segoe UI" pitchFamily="34" charset="-120"/>
              </a:rPr>
              <a:t>1  コードベースをスキャンして詳細を把握
</a:t>
            </a:r>
            <a:pPr indent="0" marL="0">
              <a:spcAft>
                <a:spcPts val="500"/>
              </a:spcAft>
              <a:buNone/>
            </a:pPr>
            <a:r>
              <a:rPr lang="en-US" sz="1200" dirty="0">
                <a:solidFill>
                  <a:srgbClr val="1F2328"/>
                </a:solidFill>
                <a:latin typeface="Segoe UI" pitchFamily="34" charset="0"/>
                <a:ea typeface="Segoe UI" pitchFamily="34" charset="-122"/>
                <a:cs typeface="Segoe UI" pitchFamily="34" charset="-120"/>
              </a:rPr>
              <a:t>2  不明点を質問しながらプランを起草
</a:t>
            </a:r>
            <a:pPr indent="0" marL="0">
              <a:spcAft>
                <a:spcPts val="500"/>
              </a:spcAft>
              <a:buNone/>
            </a:pPr>
            <a:r>
              <a:rPr lang="en-US" sz="1200" dirty="0">
                <a:solidFill>
                  <a:srgbClr val="1F2328"/>
                </a:solidFill>
                <a:latin typeface="Segoe UI" pitchFamily="34" charset="0"/>
                <a:ea typeface="Segoe UI" pitchFamily="34" charset="-122"/>
                <a:cs typeface="Segoe UI" pitchFamily="34" charset="-120"/>
              </a:rPr>
              <a:t>3  開発者がチャット or Markdown を直接編集
</a:t>
            </a:r>
            <a:pPr indent="0" marL="0">
              <a:spcAft>
                <a:spcPts val="500"/>
              </a:spcAft>
              <a:buNone/>
            </a:pPr>
            <a:r>
              <a:rPr lang="en-US" sz="1200" dirty="0">
                <a:solidFill>
                  <a:srgbClr val="1F2328"/>
                </a:solidFill>
                <a:latin typeface="Segoe UI" pitchFamily="34" charset="0"/>
                <a:ea typeface="Segoe UI" pitchFamily="34" charset="-122"/>
                <a:cs typeface="Segoe UI" pitchFamily="34" charset="-120"/>
              </a:rPr>
              <a:t>4  承認後、Agent mode でコード変更を実行
</a:t>
            </a:r>
            <a:pPr indent="0" marL="0">
              <a:spcAft>
                <a:spcPts val="500"/>
              </a:spcAft>
              <a:buNone/>
            </a:pPr>
            <a:r>
              <a:rPr lang="en-US" sz="1200" dirty="0">
                <a:solidFill>
                  <a:srgbClr val="1F2328"/>
                </a:solidFill>
                <a:latin typeface="Segoe UI" pitchFamily="34" charset="0"/>
                <a:ea typeface="Segoe UI" pitchFamily="34" charset="-122"/>
                <a:cs typeface="Segoe UI" pitchFamily="34" charset="-120"/>
              </a:rPr>
              <a:t>5  プランは </a:t>
            </a:r>
            <a:pPr indent="0" marL="0">
              <a:spcAft>
                <a:spcPts val="500"/>
              </a:spcAft>
              <a:buNone/>
            </a:pPr>
            <a:r>
              <a:rPr lang="en-US" sz="1200" b="1" dirty="0">
                <a:solidFill>
                  <a:srgbClr val="8250DF"/>
                </a:solidFill>
                <a:latin typeface="Segoe UI" pitchFamily="34" charset="0"/>
                <a:ea typeface="Segoe UI" pitchFamily="34" charset="-122"/>
                <a:cs typeface="Segoe UI" pitchFamily="34" charset="-120"/>
              </a:rPr>
              <a:t>.copilot/plans/</a:t>
            </a:r>
            <a:pPr indent="0" marL="0">
              <a:spcAft>
                <a:spcPts val="500"/>
              </a:spcAft>
              <a:buNone/>
            </a:pPr>
            <a:r>
              <a:rPr lang="en-US" sz="1200" dirty="0">
                <a:solidFill>
                  <a:srgbClr val="1F2328"/>
                </a:solidFill>
                <a:latin typeface="Segoe UI" pitchFamily="34" charset="0"/>
                <a:ea typeface="Segoe UI" pitchFamily="34" charset="-122"/>
                <a:cs typeface="Segoe UI" pitchFamily="34" charset="-120"/>
              </a:rPr>
              <a:t> にバージョン管理可能な形式で保存</a:t>
            </a:r>
            <a:endParaRPr lang="en-US" sz="1200" dirty="0"/>
          </a:p>
        </p:txBody>
      </p:sp>
      <p:sp>
        <p:nvSpPr>
          <p:cNvPr id="16" name="Shape 14"/>
          <p:cNvSpPr/>
          <p:nvPr/>
        </p:nvSpPr>
        <p:spPr>
          <a:xfrm>
            <a:off x="4663440" y="3593592"/>
            <a:ext cx="4297680" cy="126187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7" name="Shape 15"/>
          <p:cNvSpPr/>
          <p:nvPr/>
        </p:nvSpPr>
        <p:spPr>
          <a:xfrm>
            <a:off x="4663440" y="3593592"/>
            <a:ext cx="64008" cy="1261872"/>
          </a:xfrm>
          <a:prstGeom prst="rect">
            <a:avLst/>
          </a:prstGeom>
          <a:solidFill>
            <a:srgbClr val="CF222E"/>
          </a:solidFill>
          <a:ln w="12700">
            <a:solidFill>
              <a:srgbClr val="CF222E"/>
            </a:solidFill>
            <a:prstDash val="solid"/>
          </a:ln>
        </p:spPr>
      </p:sp>
      <p:sp>
        <p:nvSpPr>
          <p:cNvPr id="18" name="Text 16"/>
          <p:cNvSpPr/>
          <p:nvPr/>
        </p:nvSpPr>
        <p:spPr>
          <a:xfrm>
            <a:off x="4892040" y="3657600"/>
            <a:ext cx="3886200" cy="365760"/>
          </a:xfrm>
          <a:prstGeom prst="rect">
            <a:avLst/>
          </a:prstGeom>
          <a:noFill/>
          <a:ln/>
        </p:spPr>
        <p:txBody>
          <a:bodyPr wrap="square" lIns="0" tIns="0" rIns="0" bIns="0" rtlCol="0" anchor="ctr"/>
          <a:lstStyle/>
          <a:p>
            <a:pPr indent="0" marL="0">
              <a:buNone/>
            </a:pPr>
            <a:r>
              <a:rPr lang="en-US" sz="1300" b="1" dirty="0">
                <a:solidFill>
                  <a:srgbClr val="CF222E"/>
                </a:solidFill>
                <a:latin typeface="Segoe UI" pitchFamily="34" charset="0"/>
                <a:ea typeface="Segoe UI" pitchFamily="34" charset="-122"/>
                <a:cs typeface="Segoe UI" pitchFamily="34" charset="-120"/>
              </a:rPr>
              <a:t>Visual Studio 2026 — Multi-file Change Summaries</a:t>
            </a:r>
            <a:endParaRPr lang="en-US" sz="1300" dirty="0"/>
          </a:p>
        </p:txBody>
      </p:sp>
      <p:sp>
        <p:nvSpPr>
          <p:cNvPr id="19" name="Text 17"/>
          <p:cNvSpPr/>
          <p:nvPr/>
        </p:nvSpPr>
        <p:spPr>
          <a:xfrm>
            <a:off x="4892040" y="4078224"/>
            <a:ext cx="3886200" cy="685800"/>
          </a:xfrm>
          <a:prstGeom prst="rect">
            <a:avLst/>
          </a:prstGeom>
          <a:noFill/>
          <a:ln/>
        </p:spPr>
        <p:txBody>
          <a:bodyPr wrap="square" lIns="0" tIns="0" rIns="0" bIns="0" rtlCol="0" anchor="t"/>
          <a:lstStyle/>
          <a:p>
            <a:pPr indent="0" marL="0">
              <a:buNone/>
            </a:pPr>
            <a:r>
              <a:rPr lang="en-US" sz="1200" dirty="0">
                <a:solidFill>
                  <a:srgbClr val="1F2328"/>
                </a:solidFill>
                <a:latin typeface="Segoe UI" pitchFamily="34" charset="0"/>
                <a:ea typeface="Segoe UI" pitchFamily="34" charset="-122"/>
                <a:cs typeface="Segoe UI" pitchFamily="34" charset="-120"/>
              </a:rPr>
              <a:t>複数ファイルにまたがる変更を統合ビューで一覧  ／  Accept / Undo をファイル単位・チャンク単位で選択可能</a:t>
            </a:r>
            <a:endParaRPr lang="en-US" sz="1200" dirty="0"/>
          </a:p>
        </p:txBody>
      </p:sp>
      <p:sp>
        <p:nvSpPr>
          <p:cNvPr id="20" name="Text 18"/>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250DF"/>
        </a:solidFill>
      </p:bgPr>
    </p:bg>
    <p:spTree>
      <p:nvGrpSpPr>
        <p:cNvPr id="1" name=""/>
        <p:cNvGrpSpPr/>
        <p:nvPr/>
      </p:nvGrpSpPr>
      <p:grpSpPr>
        <a:xfrm>
          <a:off x="0" y="0"/>
          <a:ext cx="0" cy="0"/>
          <a:chOff x="0" y="0"/>
          <a:chExt cx="0" cy="0"/>
        </a:xfrm>
      </p:grpSpPr>
      <p:sp>
        <p:nvSpPr>
          <p:cNvPr id="2" name="Shape 0"/>
          <p:cNvSpPr/>
          <p:nvPr/>
        </p:nvSpPr>
        <p:spPr>
          <a:xfrm>
            <a:off x="6400800" y="-1645920"/>
            <a:ext cx="5486400" cy="5486400"/>
          </a:xfrm>
          <a:prstGeom prst="ellipse">
            <a:avLst/>
          </a:prstGeom>
          <a:solidFill>
            <a:srgbClr val="FFFFFF">
              <a:alpha val="10000"/>
            </a:srgbClr>
          </a:solidFill>
          <a:ln w="12700">
            <a:solidFill>
              <a:srgbClr val="FFFFFF"/>
            </a:solidFill>
            <a:prstDash val="solid"/>
          </a:ln>
        </p:spPr>
      </p:sp>
      <p:sp>
        <p:nvSpPr>
          <p:cNvPr id="3" name="Shape 1"/>
          <p:cNvSpPr/>
          <p:nvPr/>
        </p:nvSpPr>
        <p:spPr>
          <a:xfrm>
            <a:off x="-914400" y="3200400"/>
            <a:ext cx="3200400" cy="3200400"/>
          </a:xfrm>
          <a:prstGeom prst="ellipse">
            <a:avLst/>
          </a:prstGeom>
          <a:solidFill>
            <a:srgbClr val="FFFFFF">
              <a:alpha val="7000"/>
            </a:srgbClr>
          </a:solidFill>
          <a:ln w="12700">
            <a:solidFill>
              <a:srgbClr val="FFFFFF"/>
            </a:solidFill>
            <a:prstDash val="solid"/>
          </a:ln>
        </p:spPr>
      </p:sp>
      <p:sp>
        <p:nvSpPr>
          <p:cNvPr id="4" name="Text 2"/>
          <p:cNvSpPr/>
          <p:nvPr/>
        </p:nvSpPr>
        <p:spPr>
          <a:xfrm>
            <a:off x="365760" y="731520"/>
            <a:ext cx="1463040" cy="1828800"/>
          </a:xfrm>
          <a:prstGeom prst="rect">
            <a:avLst/>
          </a:prstGeom>
          <a:noFill/>
          <a:ln/>
        </p:spPr>
        <p:txBody>
          <a:bodyPr wrap="square" lIns="0" tIns="0" rIns="0" bIns="0"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04</a:t>
            </a:r>
            <a:endParaRPr lang="en-US" sz="8000" dirty="0"/>
          </a:p>
        </p:txBody>
      </p:sp>
      <p:sp>
        <p:nvSpPr>
          <p:cNvPr id="5" name="Shape 3"/>
          <p:cNvSpPr/>
          <p:nvPr/>
        </p:nvSpPr>
        <p:spPr>
          <a:xfrm>
            <a:off x="2011680" y="1005840"/>
            <a:ext cx="64008" cy="1554480"/>
          </a:xfrm>
          <a:prstGeom prst="rect">
            <a:avLst/>
          </a:prstGeom>
          <a:solidFill>
            <a:srgbClr val="FFFFFF">
              <a:alpha val="60000"/>
            </a:srgbClr>
          </a:solidFill>
          <a:ln w="12700">
            <a:solidFill>
              <a:srgbClr val="FFFFFF"/>
            </a:solidFill>
            <a:prstDash val="solid"/>
          </a:ln>
        </p:spPr>
      </p:sp>
      <p:sp>
        <p:nvSpPr>
          <p:cNvPr id="6" name="Text 4"/>
          <p:cNvSpPr/>
          <p:nvPr/>
        </p:nvSpPr>
        <p:spPr>
          <a:xfrm>
            <a:off x="2286000" y="868680"/>
            <a:ext cx="6492240" cy="1005840"/>
          </a:xfrm>
          <a:prstGeom prst="rect">
            <a:avLst/>
          </a:prstGeom>
          <a:noFill/>
          <a:ln/>
        </p:spPr>
        <p:txBody>
          <a:bodyPr wrap="square" lIns="0" tIns="0" rIns="0" bIns="0"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Cloud Agent / 継続コンテキスト / エコシステム</a:t>
            </a:r>
            <a:endParaRPr lang="en-US" sz="3200" dirty="0"/>
          </a:p>
        </p:txBody>
      </p:sp>
      <p:sp>
        <p:nvSpPr>
          <p:cNvPr id="7" name="Text 5"/>
          <p:cNvSpPr/>
          <p:nvPr/>
        </p:nvSpPr>
        <p:spPr>
          <a:xfrm>
            <a:off x="2286000" y="2011680"/>
            <a:ext cx="6492240" cy="822960"/>
          </a:xfrm>
          <a:prstGeom prst="rect">
            <a:avLst/>
          </a:prstGeom>
          <a:noFill/>
          <a:ln/>
        </p:spPr>
        <p:txBody>
          <a:bodyPr wrap="square" lIns="0" tIns="0" rIns="0" bIns="0"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コードを超えた自動化・デバイス横断の記憶・広がるパートナーエコシステム</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250DF"/>
          </a:solidFill>
          <a:ln w="12700">
            <a:solidFill>
              <a:srgbClr val="8250DF"/>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04 — Cloud Agent：自動化の強化</a:t>
            </a:r>
            <a:endParaRPr lang="en-US" sz="1900" dirty="0"/>
          </a:p>
        </p:txBody>
      </p:sp>
      <p:sp>
        <p:nvSpPr>
          <p:cNvPr id="4" name="Shape 2"/>
          <p:cNvSpPr/>
          <p:nvPr/>
        </p:nvSpPr>
        <p:spPr>
          <a:xfrm>
            <a:off x="182880" y="640080"/>
            <a:ext cx="4343400" cy="429768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40080"/>
            <a:ext cx="64008" cy="4297680"/>
          </a:xfrm>
          <a:prstGeom prst="rect">
            <a:avLst/>
          </a:prstGeom>
          <a:solidFill>
            <a:srgbClr val="8250DF"/>
          </a:solidFill>
          <a:ln w="12700">
            <a:solidFill>
              <a:srgbClr val="8250DF"/>
            </a:solidFill>
            <a:prstDash val="solid"/>
          </a:ln>
        </p:spPr>
      </p:sp>
      <p:sp>
        <p:nvSpPr>
          <p:cNvPr id="6" name="Text 4"/>
          <p:cNvSpPr/>
          <p:nvPr/>
        </p:nvSpPr>
        <p:spPr>
          <a:xfrm>
            <a:off x="411480" y="713232"/>
            <a:ext cx="3931920" cy="384048"/>
          </a:xfrm>
          <a:prstGeom prst="rect">
            <a:avLst/>
          </a:prstGeom>
          <a:noFill/>
          <a:ln/>
        </p:spPr>
        <p:txBody>
          <a:bodyPr wrap="square" lIns="0" tIns="0" rIns="0" bIns="0" rtlCol="0" anchor="ctr"/>
          <a:lstStyle/>
          <a:p>
            <a:pPr indent="0" marL="0">
              <a:buNone/>
            </a:pPr>
            <a:r>
              <a:rPr lang="en-US" sz="1400" b="1" dirty="0">
                <a:solidFill>
                  <a:srgbClr val="8250DF"/>
                </a:solidFill>
                <a:latin typeface="Segoe UI" pitchFamily="34" charset="0"/>
                <a:ea typeface="Segoe UI" pitchFamily="34" charset="-122"/>
                <a:cs typeface="Segoe UI" pitchFamily="34" charset="-120"/>
              </a:rPr>
              <a:t>Cloud Automations / Autopilot</a:t>
            </a:r>
            <a:endParaRPr lang="en-US" sz="1400" dirty="0"/>
          </a:p>
        </p:txBody>
      </p:sp>
      <p:sp>
        <p:nvSpPr>
          <p:cNvPr id="7" name="Shape 5"/>
          <p:cNvSpPr/>
          <p:nvPr/>
        </p:nvSpPr>
        <p:spPr>
          <a:xfrm>
            <a:off x="320040" y="1207008"/>
            <a:ext cx="1965960" cy="548640"/>
          </a:xfrm>
          <a:prstGeom prst="rect">
            <a:avLst/>
          </a:prstGeom>
          <a:solidFill>
            <a:srgbClr val="FFFFFF"/>
          </a:solidFill>
          <a:ln w="15240">
            <a:solidFill>
              <a:srgbClr val="8250DF"/>
            </a:solidFill>
            <a:prstDash val="solid"/>
          </a:ln>
          <a:effectLst>
            <a:outerShdw sx="100000" sy="100000" kx="0" ky="0" algn="bl" rotWithShape="0" blurRad="63500" dist="25400" dir="8100000">
              <a:srgbClr val="000000">
                <a:alpha val="10000"/>
              </a:srgbClr>
            </a:outerShdw>
          </a:effectLst>
        </p:spPr>
      </p:sp>
      <p:sp>
        <p:nvSpPr>
          <p:cNvPr id="8" name="Text 6"/>
          <p:cNvSpPr/>
          <p:nvPr/>
        </p:nvSpPr>
        <p:spPr>
          <a:xfrm>
            <a:off x="320040" y="1207008"/>
            <a:ext cx="1965960" cy="548640"/>
          </a:xfrm>
          <a:prstGeom prst="rect">
            <a:avLst/>
          </a:prstGeom>
          <a:noFill/>
          <a:ln/>
        </p:spPr>
        <p:txBody>
          <a:bodyPr wrap="square" lIns="50800" tIns="50800" rIns="50800" bIns="50800" rtlCol="0" anchor="ctr"/>
          <a:lstStyle/>
          <a:p>
            <a:pPr algn="ctr" indent="0" marL="0">
              <a:buNone/>
            </a:pPr>
            <a:r>
              <a:rPr lang="en-US" sz="1200" b="1" dirty="0">
                <a:solidFill>
                  <a:srgbClr val="8250DF"/>
                </a:solidFill>
                <a:latin typeface="Segoe UI" pitchFamily="34" charset="0"/>
                <a:ea typeface="Segoe UI" pitchFamily="34" charset="-122"/>
                <a:cs typeface="Segoe UI" pitchFamily="34" charset="-120"/>
              </a:rPr>
              <a:t>スケジュール実行</a:t>
            </a:r>
            <a:endParaRPr lang="en-US" sz="1200" dirty="0"/>
          </a:p>
        </p:txBody>
      </p:sp>
      <p:sp>
        <p:nvSpPr>
          <p:cNvPr id="9" name="Shape 7"/>
          <p:cNvSpPr/>
          <p:nvPr/>
        </p:nvSpPr>
        <p:spPr>
          <a:xfrm>
            <a:off x="2441448" y="1207008"/>
            <a:ext cx="1965960" cy="548640"/>
          </a:xfrm>
          <a:prstGeom prst="rect">
            <a:avLst/>
          </a:prstGeom>
          <a:solidFill>
            <a:srgbClr val="FFFFFF"/>
          </a:solidFill>
          <a:ln w="15240">
            <a:solidFill>
              <a:srgbClr val="0969DA"/>
            </a:solidFill>
            <a:prstDash val="solid"/>
          </a:ln>
          <a:effectLst>
            <a:outerShdw sx="100000" sy="100000" kx="0" ky="0" algn="bl" rotWithShape="0" blurRad="63500" dist="25400" dir="8100000">
              <a:srgbClr val="000000">
                <a:alpha val="10000"/>
              </a:srgbClr>
            </a:outerShdw>
          </a:effectLst>
        </p:spPr>
      </p:sp>
      <p:sp>
        <p:nvSpPr>
          <p:cNvPr id="10" name="Text 8"/>
          <p:cNvSpPr/>
          <p:nvPr/>
        </p:nvSpPr>
        <p:spPr>
          <a:xfrm>
            <a:off x="2441448" y="1207008"/>
            <a:ext cx="1965960" cy="548640"/>
          </a:xfrm>
          <a:prstGeom prst="rect">
            <a:avLst/>
          </a:prstGeom>
          <a:noFill/>
          <a:ln/>
        </p:spPr>
        <p:txBody>
          <a:bodyPr wrap="square" lIns="50800" tIns="50800" rIns="50800" bIns="50800" rtlCol="0" anchor="ctr"/>
          <a:lstStyle/>
          <a:p>
            <a:pPr algn="ctr" indent="0" marL="0">
              <a:buNone/>
            </a:pPr>
            <a:r>
              <a:rPr lang="en-US" sz="1200" b="1" dirty="0">
                <a:solidFill>
                  <a:srgbClr val="0969DA"/>
                </a:solidFill>
                <a:latin typeface="Segoe UI" pitchFamily="34" charset="0"/>
                <a:ea typeface="Segoe UI" pitchFamily="34" charset="-122"/>
                <a:cs typeface="Segoe UI" pitchFamily="34" charset="-120"/>
              </a:rPr>
              <a:t>GitHub イベント応答</a:t>
            </a:r>
            <a:endParaRPr lang="en-US" sz="1200" dirty="0"/>
          </a:p>
        </p:txBody>
      </p:sp>
      <p:sp>
        <p:nvSpPr>
          <p:cNvPr id="11" name="Shape 9"/>
          <p:cNvSpPr/>
          <p:nvPr/>
        </p:nvSpPr>
        <p:spPr>
          <a:xfrm>
            <a:off x="320040" y="1865376"/>
            <a:ext cx="1965960" cy="548640"/>
          </a:xfrm>
          <a:prstGeom prst="rect">
            <a:avLst/>
          </a:prstGeom>
          <a:solidFill>
            <a:srgbClr val="FFFFFF"/>
          </a:solidFill>
          <a:ln w="15240">
            <a:solidFill>
              <a:srgbClr val="2DA44E"/>
            </a:solidFill>
            <a:prstDash val="solid"/>
          </a:ln>
          <a:effectLst>
            <a:outerShdw sx="100000" sy="100000" kx="0" ky="0" algn="bl" rotWithShape="0" blurRad="63500" dist="25400" dir="8100000">
              <a:srgbClr val="000000">
                <a:alpha val="10000"/>
              </a:srgbClr>
            </a:outerShdw>
          </a:effectLst>
        </p:spPr>
      </p:sp>
      <p:sp>
        <p:nvSpPr>
          <p:cNvPr id="12" name="Text 10"/>
          <p:cNvSpPr/>
          <p:nvPr/>
        </p:nvSpPr>
        <p:spPr>
          <a:xfrm>
            <a:off x="320040" y="1865376"/>
            <a:ext cx="1965960" cy="548640"/>
          </a:xfrm>
          <a:prstGeom prst="rect">
            <a:avLst/>
          </a:prstGeom>
          <a:noFill/>
          <a:ln/>
        </p:spPr>
        <p:txBody>
          <a:bodyPr wrap="square" lIns="50800" tIns="50800" rIns="50800" bIns="50800" rtlCol="0" anchor="ctr"/>
          <a:lstStyle/>
          <a:p>
            <a:pPr algn="ctr" indent="0" marL="0">
              <a:buNone/>
            </a:pPr>
            <a:r>
              <a:rPr lang="en-US" sz="1200" b="1" dirty="0">
                <a:solidFill>
                  <a:srgbClr val="2DA44E"/>
                </a:solidFill>
                <a:latin typeface="Segoe UI" pitchFamily="34" charset="0"/>
                <a:ea typeface="Segoe UI" pitchFamily="34" charset="-122"/>
                <a:cs typeface="Segoe UI" pitchFamily="34" charset="-120"/>
              </a:rPr>
              <a:t>Issue 起票</a:t>
            </a:r>
            <a:endParaRPr lang="en-US" sz="1200" dirty="0"/>
          </a:p>
        </p:txBody>
      </p:sp>
      <p:sp>
        <p:nvSpPr>
          <p:cNvPr id="13" name="Shape 11"/>
          <p:cNvSpPr/>
          <p:nvPr/>
        </p:nvSpPr>
        <p:spPr>
          <a:xfrm>
            <a:off x="2441448" y="1865376"/>
            <a:ext cx="1965960" cy="548640"/>
          </a:xfrm>
          <a:prstGeom prst="rect">
            <a:avLst/>
          </a:prstGeom>
          <a:solidFill>
            <a:srgbClr val="FFFFFF"/>
          </a:solidFill>
          <a:ln w="15240">
            <a:solidFill>
              <a:srgbClr val="CF222E"/>
            </a:solidFill>
            <a:prstDash val="solid"/>
          </a:ln>
          <a:effectLst>
            <a:outerShdw sx="100000" sy="100000" kx="0" ky="0" algn="bl" rotWithShape="0" blurRad="63500" dist="25400" dir="8100000">
              <a:srgbClr val="000000">
                <a:alpha val="10000"/>
              </a:srgbClr>
            </a:outerShdw>
          </a:effectLst>
        </p:spPr>
      </p:sp>
      <p:sp>
        <p:nvSpPr>
          <p:cNvPr id="14" name="Text 12"/>
          <p:cNvSpPr/>
          <p:nvPr/>
        </p:nvSpPr>
        <p:spPr>
          <a:xfrm>
            <a:off x="2441448" y="1865376"/>
            <a:ext cx="1965960" cy="548640"/>
          </a:xfrm>
          <a:prstGeom prst="rect">
            <a:avLst/>
          </a:prstGeom>
          <a:noFill/>
          <a:ln/>
        </p:spPr>
        <p:txBody>
          <a:bodyPr wrap="square" lIns="50800" tIns="50800" rIns="50800" bIns="50800" rtlCol="0" anchor="ctr"/>
          <a:lstStyle/>
          <a:p>
            <a:pPr algn="ctr" indent="0" marL="0">
              <a:buNone/>
            </a:pPr>
            <a:r>
              <a:rPr lang="en-US" sz="1200" b="1" dirty="0">
                <a:solidFill>
                  <a:srgbClr val="CF222E"/>
                </a:solidFill>
                <a:latin typeface="Segoe UI" pitchFamily="34" charset="0"/>
                <a:ea typeface="Segoe UI" pitchFamily="34" charset="-122"/>
                <a:cs typeface="Segoe UI" pitchFamily="34" charset="-120"/>
              </a:rPr>
              <a:t>コメント投稿</a:t>
            </a:r>
            <a:endParaRPr lang="en-US" sz="1200" dirty="0"/>
          </a:p>
        </p:txBody>
      </p:sp>
      <p:sp>
        <p:nvSpPr>
          <p:cNvPr id="15" name="Text 13"/>
          <p:cNvSpPr/>
          <p:nvPr/>
        </p:nvSpPr>
        <p:spPr>
          <a:xfrm>
            <a:off x="411480" y="2651760"/>
            <a:ext cx="3749040" cy="320040"/>
          </a:xfrm>
          <a:prstGeom prst="rect">
            <a:avLst/>
          </a:prstGeom>
          <a:noFill/>
          <a:ln/>
        </p:spPr>
        <p:txBody>
          <a:bodyPr wrap="square" lIns="0" tIns="0" rIns="0" bIns="0" rtlCol="0" anchor="ctr"/>
          <a:lstStyle/>
          <a:p>
            <a:pPr indent="0" marL="0">
              <a:buNone/>
            </a:pPr>
            <a:r>
              <a:rPr lang="en-US" sz="1300" b="1" dirty="0">
                <a:solidFill>
                  <a:srgbClr val="1F2328"/>
                </a:solidFill>
                <a:latin typeface="Segoe UI" pitchFamily="34" charset="0"/>
                <a:ea typeface="Segoe UI" pitchFamily="34" charset="-122"/>
                <a:cs typeface="Segoe UI" pitchFamily="34" charset="-120"/>
              </a:rPr>
              <a:t>許可モデル</a:t>
            </a:r>
            <a:endParaRPr lang="en-US" sz="1300" dirty="0"/>
          </a:p>
        </p:txBody>
      </p:sp>
      <p:sp>
        <p:nvSpPr>
          <p:cNvPr id="16" name="Text 14"/>
          <p:cNvSpPr/>
          <p:nvPr/>
        </p:nvSpPr>
        <p:spPr>
          <a:xfrm>
            <a:off x="411480" y="3017520"/>
            <a:ext cx="3840480" cy="1417320"/>
          </a:xfrm>
          <a:prstGeom prst="rect">
            <a:avLst/>
          </a:prstGeom>
          <a:noFill/>
          <a:ln/>
        </p:spPr>
        <p:txBody>
          <a:bodyPr wrap="square" lIns="50800" tIns="50800" rIns="50800" bIns="50800" rtlCol="0" anchor="t"/>
          <a:lstStyle/>
          <a:p>
            <a:pPr indent="0" marL="0">
              <a:buNone/>
            </a:pPr>
            <a:r>
              <a:rPr lang="en-US" sz="1200" b="1" dirty="0">
                <a:solidFill>
                  <a:srgbClr val="1F2328"/>
                </a:solidFill>
                <a:latin typeface="Segoe UI" pitchFamily="34" charset="0"/>
                <a:ea typeface="Segoe UI" pitchFamily="34" charset="-122"/>
                <a:cs typeface="Segoe UI" pitchFamily="34" charset="-120"/>
              </a:rPr>
              <a:t>デフォルト：</a:t>
            </a:r>
            <a:pPr indent="0" marL="0">
              <a:buNone/>
            </a:pPr>
            <a:r>
              <a:rPr lang="en-US" sz="1200" dirty="0">
                <a:solidFill>
                  <a:srgbClr val="1F2328"/>
                </a:solidFill>
                <a:latin typeface="Segoe UI" pitchFamily="34" charset="0"/>
                <a:ea typeface="Segoe UI" pitchFamily="34" charset="-122"/>
                <a:cs typeface="Segoe UI" pitchFamily="34" charset="-120"/>
              </a:rPr>
              <a:t>各書き込みアクションの前に許可を要求
</a:t>
            </a:r>
            <a:pPr indent="0" marL="0">
              <a:buNone/>
            </a:pPr>
            <a:r>
              <a:rPr lang="en-US" sz="1200" b="1" dirty="0">
                <a:solidFill>
                  <a:srgbClr val="1F2328"/>
                </a:solidFill>
                <a:latin typeface="Segoe UI" pitchFamily="34" charset="0"/>
                <a:ea typeface="Segoe UI" pitchFamily="34" charset="-122"/>
                <a:cs typeface="Segoe UI" pitchFamily="34" charset="-120"/>
              </a:rPr>
              <a:t>信頼確立後：</a:t>
            </a:r>
            <a:pPr indent="0" marL="0">
              <a:buNone/>
            </a:pPr>
            <a:r>
              <a:rPr lang="en-US" sz="1200" dirty="0">
                <a:solidFill>
                  <a:srgbClr val="1F2328"/>
                </a:solidFill>
                <a:latin typeface="Segoe UI" pitchFamily="34" charset="0"/>
                <a:ea typeface="Segoe UI" pitchFamily="34" charset="-122"/>
                <a:cs typeface="Segoe UI" pitchFamily="34" charset="-120"/>
              </a:rPr>
              <a:t>Autopilot モードに切り替え（完全自動化）</a:t>
            </a:r>
            <a:endParaRPr lang="en-US" sz="1200" dirty="0"/>
          </a:p>
        </p:txBody>
      </p:sp>
      <p:sp>
        <p:nvSpPr>
          <p:cNvPr id="17" name="Shape 15"/>
          <p:cNvSpPr/>
          <p:nvPr/>
        </p:nvSpPr>
        <p:spPr>
          <a:xfrm>
            <a:off x="4709160" y="640080"/>
            <a:ext cx="4206240" cy="202996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8" name="Shape 16"/>
          <p:cNvSpPr/>
          <p:nvPr/>
        </p:nvSpPr>
        <p:spPr>
          <a:xfrm>
            <a:off x="4709160" y="640080"/>
            <a:ext cx="64008" cy="2029968"/>
          </a:xfrm>
          <a:prstGeom prst="rect">
            <a:avLst/>
          </a:prstGeom>
          <a:solidFill>
            <a:srgbClr val="2DA44E"/>
          </a:solidFill>
          <a:ln w="12700">
            <a:solidFill>
              <a:srgbClr val="2DA44E"/>
            </a:solidFill>
            <a:prstDash val="solid"/>
          </a:ln>
        </p:spPr>
      </p:sp>
      <p:sp>
        <p:nvSpPr>
          <p:cNvPr id="19" name="Text 17"/>
          <p:cNvSpPr/>
          <p:nvPr/>
        </p:nvSpPr>
        <p:spPr>
          <a:xfrm>
            <a:off x="4937760" y="713232"/>
            <a:ext cx="3749040" cy="384048"/>
          </a:xfrm>
          <a:prstGeom prst="rect">
            <a:avLst/>
          </a:prstGeom>
          <a:noFill/>
          <a:ln/>
        </p:spPr>
        <p:txBody>
          <a:bodyPr wrap="square" lIns="0" tIns="0" rIns="0" bIns="0" rtlCol="0" anchor="ctr"/>
          <a:lstStyle/>
          <a:p>
            <a:pPr indent="0" marL="0">
              <a:buNone/>
            </a:pPr>
            <a:r>
              <a:rPr lang="en-US" sz="1300" b="1" dirty="0">
                <a:solidFill>
                  <a:srgbClr val="2DA44E"/>
                </a:solidFill>
                <a:latin typeface="Segoe UI" pitchFamily="34" charset="0"/>
                <a:ea typeface="Segoe UI" pitchFamily="34" charset="-122"/>
                <a:cs typeface="Segoe UI" pitchFamily="34" charset="-120"/>
              </a:rPr>
              <a:t>Agentic Workflows — PAT が不要に</a:t>
            </a:r>
            <a:endParaRPr lang="en-US" sz="1300" dirty="0"/>
          </a:p>
        </p:txBody>
      </p:sp>
      <p:sp>
        <p:nvSpPr>
          <p:cNvPr id="20" name="Text 18"/>
          <p:cNvSpPr/>
          <p:nvPr/>
        </p:nvSpPr>
        <p:spPr>
          <a:xfrm>
            <a:off x="4937760" y="1170432"/>
            <a:ext cx="3749040" cy="1417320"/>
          </a:xfrm>
          <a:prstGeom prst="rect">
            <a:avLst/>
          </a:prstGeom>
          <a:noFill/>
          <a:ln/>
        </p:spPr>
        <p:txBody>
          <a:bodyPr wrap="square" lIns="50800" tIns="50800" rIns="50800" bIns="50800" rtlCol="0" anchor="t"/>
          <a:lstStyle/>
          <a:p>
            <a:pPr marL="342900" indent="-342900">
              <a:spcAft>
                <a:spcPts val="400"/>
              </a:spcAft>
              <a:buSzPct val="100000"/>
              <a:buChar char="•"/>
            </a:pPr>
            <a:r>
              <a:rPr lang="en-US" sz="1100" dirty="0">
                <a:solidFill>
                  <a:srgbClr val="1F2328"/>
                </a:solidFill>
                <a:latin typeface="Segoe UI" pitchFamily="34" charset="0"/>
                <a:ea typeface="Segoe UI" pitchFamily="34" charset="-122"/>
                <a:cs typeface="Segoe UI" pitchFamily="34" charset="-120"/>
              </a:rPr>
              <a:t>GITHUB_TOKEN で動作（scope: copilot-requests: write）</a:t>
            </a:r>
            <a:endParaRPr lang="en-US" sz="1100" dirty="0"/>
          </a:p>
          <a:p>
            <a:pPr marL="342900" indent="-342900">
              <a:spcAft>
                <a:spcPts val="400"/>
              </a:spcAft>
              <a:buSzPct val="100000"/>
              <a:buChar char="•"/>
            </a:pPr>
            <a:r>
              <a:rPr lang="en-US" sz="1100" dirty="0">
                <a:solidFill>
                  <a:srgbClr val="1F2328"/>
                </a:solidFill>
                <a:latin typeface="Segoe UI" pitchFamily="34" charset="0"/>
                <a:ea typeface="Segoe UI" pitchFamily="34" charset="-122"/>
                <a:cs typeface="Segoe UI" pitchFamily="34" charset="-120"/>
              </a:rPr>
              <a:t>長命トークン（PAT）の作成・管理・ローテーションが不要に</a:t>
            </a:r>
            <a:endParaRPr lang="en-US" sz="1100" dirty="0"/>
          </a:p>
          <a:p>
            <a:pPr marL="342900" indent="-342900">
              <a:spcAft>
                <a:spcPts val="400"/>
              </a:spcAft>
              <a:buSzPct val="100000"/>
              <a:buChar char="•"/>
            </a:pPr>
            <a:r>
              <a:rPr lang="en-US" sz="1100" dirty="0">
                <a:solidFill>
                  <a:srgbClr val="1F2328"/>
                </a:solidFill>
                <a:latin typeface="Segoe UI" pitchFamily="34" charset="0"/>
                <a:ea typeface="Segoe UI" pitchFamily="34" charset="-122"/>
                <a:cs typeface="Segoe UI" pitchFamily="34" charset="-120"/>
              </a:rPr>
              <a:t>組織課金（organization-billed AI credits）に対応</a:t>
            </a:r>
            <a:endParaRPr lang="en-US" sz="1100" dirty="0"/>
          </a:p>
          <a:p>
            <a:pPr marL="342900" indent="-342900">
              <a:spcAft>
                <a:spcPts val="400"/>
              </a:spcAft>
              <a:buSzPct val="100000"/>
              <a:buChar char="•"/>
            </a:pPr>
            <a:r>
              <a:rPr lang="en-US" sz="1100" dirty="0">
                <a:solidFill>
                  <a:srgbClr val="1F2328"/>
                </a:solidFill>
                <a:latin typeface="Segoe UI" pitchFamily="34" charset="0"/>
                <a:ea typeface="Segoe UI" pitchFamily="34" charset="-122"/>
                <a:cs typeface="Segoe UI" pitchFamily="34" charset="-120"/>
              </a:rPr>
              <a:t>単一ワークフロースコープの短命トークンでセキュリティ向上</a:t>
            </a:r>
            <a:endParaRPr lang="en-US" sz="1100" dirty="0"/>
          </a:p>
        </p:txBody>
      </p:sp>
      <p:sp>
        <p:nvSpPr>
          <p:cNvPr id="21" name="Shape 19"/>
          <p:cNvSpPr/>
          <p:nvPr/>
        </p:nvSpPr>
        <p:spPr>
          <a:xfrm>
            <a:off x="4709160" y="2798064"/>
            <a:ext cx="4206240" cy="2048256"/>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22" name="Shape 20"/>
          <p:cNvSpPr/>
          <p:nvPr/>
        </p:nvSpPr>
        <p:spPr>
          <a:xfrm>
            <a:off x="4709160" y="2798064"/>
            <a:ext cx="64008" cy="2048256"/>
          </a:xfrm>
          <a:prstGeom prst="rect">
            <a:avLst/>
          </a:prstGeom>
          <a:solidFill>
            <a:srgbClr val="CF222E"/>
          </a:solidFill>
          <a:ln w="12700">
            <a:solidFill>
              <a:srgbClr val="CF222E"/>
            </a:solidFill>
            <a:prstDash val="solid"/>
          </a:ln>
        </p:spPr>
      </p:sp>
      <p:sp>
        <p:nvSpPr>
          <p:cNvPr id="23" name="Text 21"/>
          <p:cNvSpPr/>
          <p:nvPr/>
        </p:nvSpPr>
        <p:spPr>
          <a:xfrm>
            <a:off x="4937760" y="2862072"/>
            <a:ext cx="3749040" cy="384048"/>
          </a:xfrm>
          <a:prstGeom prst="rect">
            <a:avLst/>
          </a:prstGeom>
          <a:noFill/>
          <a:ln/>
        </p:spPr>
        <p:txBody>
          <a:bodyPr wrap="square" lIns="0" tIns="0" rIns="0" bIns="0" rtlCol="0" anchor="ctr"/>
          <a:lstStyle/>
          <a:p>
            <a:pPr indent="0" marL="0">
              <a:buNone/>
            </a:pPr>
            <a:r>
              <a:rPr lang="en-US" sz="1300" b="1" dirty="0">
                <a:solidFill>
                  <a:srgbClr val="CF222E"/>
                </a:solidFill>
                <a:latin typeface="Segoe UI" pitchFamily="34" charset="0"/>
                <a:ea typeface="Segoe UI" pitchFamily="34" charset="-122"/>
                <a:cs typeface="Segoe UI" pitchFamily="34" charset="-120"/>
              </a:rPr>
              <a:t>Cloud Agent の業務範囲拡張</a:t>
            </a:r>
            <a:endParaRPr lang="en-US" sz="1300" dirty="0"/>
          </a:p>
        </p:txBody>
      </p:sp>
      <p:sp>
        <p:nvSpPr>
          <p:cNvPr id="24" name="Text 22"/>
          <p:cNvSpPr/>
          <p:nvPr/>
        </p:nvSpPr>
        <p:spPr>
          <a:xfrm>
            <a:off x="4937760" y="3273552"/>
            <a:ext cx="3749040" cy="384048"/>
          </a:xfrm>
          <a:prstGeom prst="rect">
            <a:avLst/>
          </a:prstGeom>
          <a:noFill/>
          <a:ln/>
        </p:spPr>
        <p:txBody>
          <a:bodyPr wrap="square" lIns="0" tIns="0" rIns="0" bIns="0" rtlCol="0" anchor="ctr"/>
          <a:lstStyle/>
          <a:p>
            <a:pPr indent="0" marL="0">
              <a:buNone/>
            </a:pPr>
            <a:r>
              <a:rPr lang="en-US" sz="1100" i="1" dirty="0">
                <a:solidFill>
                  <a:srgbClr val="6E7781"/>
                </a:solidFill>
                <a:latin typeface="Segoe UI" pitchFamily="34" charset="0"/>
                <a:ea typeface="Segoe UI" pitchFamily="34" charset="-122"/>
                <a:cs typeface="Segoe UI" pitchFamily="34" charset="-120"/>
              </a:rPr>
              <a:t>"Engineering doesn't end with writing code."</a:t>
            </a:r>
            <a:endParaRPr lang="en-US" sz="1100" dirty="0"/>
          </a:p>
        </p:txBody>
      </p:sp>
      <p:sp>
        <p:nvSpPr>
          <p:cNvPr id="25" name="Text 23"/>
          <p:cNvSpPr/>
          <p:nvPr/>
        </p:nvSpPr>
        <p:spPr>
          <a:xfrm>
            <a:off x="4937760" y="3721608"/>
            <a:ext cx="3749040" cy="914400"/>
          </a:xfrm>
          <a:prstGeom prst="rect">
            <a:avLst/>
          </a:prstGeom>
          <a:noFill/>
          <a:ln/>
        </p:spPr>
        <p:txBody>
          <a:bodyPr wrap="square" lIns="50800" tIns="50800" rIns="50800" bIns="50800" rtlCol="0" anchor="t"/>
          <a:lstStyle/>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Issue 起票</a:t>
            </a:r>
            <a:endParaRPr lang="en-US" sz="1200" dirty="0"/>
          </a:p>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ディスカッション開始</a:t>
            </a:r>
            <a:endParaRPr lang="en-US" sz="1200" dirty="0"/>
          </a:p>
          <a:p>
            <a:pPr marL="342900" indent="-342900">
              <a:spcAft>
                <a:spcPts val="500"/>
              </a:spcAft>
              <a:buSzPct val="100000"/>
              <a:buChar char="•"/>
            </a:pPr>
            <a:r>
              <a:rPr lang="en-US" sz="1200" dirty="0">
                <a:solidFill>
                  <a:srgbClr val="1F2328"/>
                </a:solidFill>
                <a:latin typeface="Segoe UI" pitchFamily="34" charset="0"/>
                <a:ea typeface="Segoe UI" pitchFamily="34" charset="-122"/>
                <a:cs typeface="Segoe UI" pitchFamily="34" charset="-120"/>
              </a:rPr>
              <a:t>レビュアーへの返信</a:t>
            </a:r>
            <a:endParaRPr lang="en-US" sz="1200" dirty="0"/>
          </a:p>
        </p:txBody>
      </p:sp>
      <p:sp>
        <p:nvSpPr>
          <p:cNvPr id="26" name="Text 24"/>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250DF"/>
          </a:solidFill>
          <a:ln w="12700">
            <a:solidFill>
              <a:srgbClr val="8250DF"/>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04 — Memory++ / Partner Apps / Gemini</a:t>
            </a:r>
            <a:endParaRPr lang="en-US" sz="1900" dirty="0"/>
          </a:p>
        </p:txBody>
      </p:sp>
      <p:sp>
        <p:nvSpPr>
          <p:cNvPr id="4" name="Shape 2"/>
          <p:cNvSpPr/>
          <p:nvPr/>
        </p:nvSpPr>
        <p:spPr>
          <a:xfrm>
            <a:off x="182880" y="640080"/>
            <a:ext cx="4343400" cy="208483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40080"/>
            <a:ext cx="64008" cy="2084832"/>
          </a:xfrm>
          <a:prstGeom prst="rect">
            <a:avLst/>
          </a:prstGeom>
          <a:solidFill>
            <a:srgbClr val="8250DF"/>
          </a:solidFill>
          <a:ln w="12700">
            <a:solidFill>
              <a:srgbClr val="8250DF"/>
            </a:solidFill>
            <a:prstDash val="solid"/>
          </a:ln>
        </p:spPr>
      </p:sp>
      <p:sp>
        <p:nvSpPr>
          <p:cNvPr id="6" name="Text 4"/>
          <p:cNvSpPr/>
          <p:nvPr/>
        </p:nvSpPr>
        <p:spPr>
          <a:xfrm>
            <a:off x="411480" y="713232"/>
            <a:ext cx="3931920" cy="384048"/>
          </a:xfrm>
          <a:prstGeom prst="rect">
            <a:avLst/>
          </a:prstGeom>
          <a:noFill/>
          <a:ln/>
        </p:spPr>
        <p:txBody>
          <a:bodyPr wrap="square" lIns="0" tIns="0" rIns="0" bIns="0" rtlCol="0" anchor="ctr"/>
          <a:lstStyle/>
          <a:p>
            <a:pPr indent="0" marL="0">
              <a:buNone/>
            </a:pPr>
            <a:r>
              <a:rPr lang="en-US" sz="1400" b="1" dirty="0">
                <a:solidFill>
                  <a:srgbClr val="8250DF"/>
                </a:solidFill>
                <a:latin typeface="Segoe UI" pitchFamily="34" charset="0"/>
                <a:ea typeface="Segoe UI" pitchFamily="34" charset="-122"/>
                <a:cs typeface="Segoe UI" pitchFamily="34" charset="-120"/>
              </a:rPr>
              <a:t>Memory++ &amp; /chronicle</a:t>
            </a:r>
            <a:endParaRPr lang="en-US" sz="1400" dirty="0"/>
          </a:p>
        </p:txBody>
      </p:sp>
      <p:sp>
        <p:nvSpPr>
          <p:cNvPr id="7" name="Text 5"/>
          <p:cNvSpPr/>
          <p:nvPr/>
        </p:nvSpPr>
        <p:spPr>
          <a:xfrm>
            <a:off x="411480" y="1152144"/>
            <a:ext cx="3931920" cy="329184"/>
          </a:xfrm>
          <a:prstGeom prst="rect">
            <a:avLst/>
          </a:prstGeom>
          <a:noFill/>
          <a:ln/>
        </p:spPr>
        <p:txBody>
          <a:bodyPr wrap="square" lIns="0" tIns="0" rIns="0" bIns="0" rtlCol="0" anchor="ctr"/>
          <a:lstStyle/>
          <a:p>
            <a:pPr indent="0" marL="0">
              <a:buNone/>
            </a:pPr>
            <a:r>
              <a:rPr lang="en-US" sz="1200" dirty="0">
                <a:solidFill>
                  <a:srgbClr val="1F2328"/>
                </a:solidFill>
                <a:latin typeface="Segoe UI" pitchFamily="34" charset="0"/>
                <a:ea typeface="Segoe UI" pitchFamily="34" charset="-122"/>
                <a:cs typeface="Segoe UI" pitchFamily="34" charset="-120"/>
              </a:rPr>
              <a:t>デバイスをまたぎ、時間を越えた継続性（continuity）：</a:t>
            </a:r>
            <a:endParaRPr lang="en-US" sz="1200" dirty="0"/>
          </a:p>
        </p:txBody>
      </p:sp>
      <p:sp>
        <p:nvSpPr>
          <p:cNvPr id="8" name="Shape 6"/>
          <p:cNvSpPr/>
          <p:nvPr/>
        </p:nvSpPr>
        <p:spPr>
          <a:xfrm>
            <a:off x="320040" y="1554480"/>
            <a:ext cx="960120" cy="384048"/>
          </a:xfrm>
          <a:prstGeom prst="rect">
            <a:avLst/>
          </a:prstGeom>
          <a:solidFill>
            <a:srgbClr val="FBEFFF"/>
          </a:solidFill>
          <a:ln w="12700">
            <a:solidFill>
              <a:srgbClr val="8250DF"/>
            </a:solidFill>
            <a:prstDash val="solid"/>
          </a:ln>
        </p:spPr>
      </p:sp>
      <p:sp>
        <p:nvSpPr>
          <p:cNvPr id="9" name="Text 7"/>
          <p:cNvSpPr/>
          <p:nvPr/>
        </p:nvSpPr>
        <p:spPr>
          <a:xfrm>
            <a:off x="320040" y="1554480"/>
            <a:ext cx="960120" cy="384048"/>
          </a:xfrm>
          <a:prstGeom prst="rect">
            <a:avLst/>
          </a:prstGeom>
          <a:noFill/>
          <a:ln/>
        </p:spPr>
        <p:txBody>
          <a:bodyPr wrap="square" lIns="0" tIns="0" rIns="0" bIns="0" rtlCol="0" anchor="ctr"/>
          <a:lstStyle/>
          <a:p>
            <a:pPr algn="ctr" indent="0" marL="0">
              <a:buNone/>
            </a:pPr>
            <a:r>
              <a:rPr lang="en-US" sz="1100" b="1" dirty="0">
                <a:solidFill>
                  <a:srgbClr val="8250DF"/>
                </a:solidFill>
                <a:latin typeface="Segoe UI" pitchFamily="34" charset="0"/>
                <a:ea typeface="Segoe UI" pitchFamily="34" charset="-122"/>
                <a:cs typeface="Segoe UI" pitchFamily="34" charset="-120"/>
              </a:rPr>
              <a:t>Copilot App</a:t>
            </a:r>
            <a:endParaRPr lang="en-US" sz="1100" dirty="0"/>
          </a:p>
        </p:txBody>
      </p:sp>
      <p:sp>
        <p:nvSpPr>
          <p:cNvPr id="10" name="Shape 8"/>
          <p:cNvSpPr/>
          <p:nvPr/>
        </p:nvSpPr>
        <p:spPr>
          <a:xfrm>
            <a:off x="1371600" y="1554480"/>
            <a:ext cx="960120" cy="384048"/>
          </a:xfrm>
          <a:prstGeom prst="rect">
            <a:avLst/>
          </a:prstGeom>
          <a:solidFill>
            <a:srgbClr val="FBEFFF"/>
          </a:solidFill>
          <a:ln w="12700">
            <a:solidFill>
              <a:srgbClr val="8250DF"/>
            </a:solidFill>
            <a:prstDash val="solid"/>
          </a:ln>
        </p:spPr>
      </p:sp>
      <p:sp>
        <p:nvSpPr>
          <p:cNvPr id="11" name="Text 9"/>
          <p:cNvSpPr/>
          <p:nvPr/>
        </p:nvSpPr>
        <p:spPr>
          <a:xfrm>
            <a:off x="1371600" y="1554480"/>
            <a:ext cx="960120" cy="384048"/>
          </a:xfrm>
          <a:prstGeom prst="rect">
            <a:avLst/>
          </a:prstGeom>
          <a:noFill/>
          <a:ln/>
        </p:spPr>
        <p:txBody>
          <a:bodyPr wrap="square" lIns="0" tIns="0" rIns="0" bIns="0" rtlCol="0" anchor="ctr"/>
          <a:lstStyle/>
          <a:p>
            <a:pPr algn="ctr" indent="0" marL="0">
              <a:buNone/>
            </a:pPr>
            <a:r>
              <a:rPr lang="en-US" sz="1100" b="1" dirty="0">
                <a:solidFill>
                  <a:srgbClr val="8250DF"/>
                </a:solidFill>
                <a:latin typeface="Segoe UI" pitchFamily="34" charset="0"/>
                <a:ea typeface="Segoe UI" pitchFamily="34" charset="-122"/>
                <a:cs typeface="Segoe UI" pitchFamily="34" charset="-120"/>
              </a:rPr>
              <a:t>CLI</a:t>
            </a:r>
            <a:endParaRPr lang="en-US" sz="1100" dirty="0"/>
          </a:p>
        </p:txBody>
      </p:sp>
      <p:sp>
        <p:nvSpPr>
          <p:cNvPr id="12" name="Shape 10"/>
          <p:cNvSpPr/>
          <p:nvPr/>
        </p:nvSpPr>
        <p:spPr>
          <a:xfrm>
            <a:off x="2423160" y="1554480"/>
            <a:ext cx="960120" cy="384048"/>
          </a:xfrm>
          <a:prstGeom prst="rect">
            <a:avLst/>
          </a:prstGeom>
          <a:solidFill>
            <a:srgbClr val="FBEFFF"/>
          </a:solidFill>
          <a:ln w="12700">
            <a:solidFill>
              <a:srgbClr val="8250DF"/>
            </a:solidFill>
            <a:prstDash val="solid"/>
          </a:ln>
        </p:spPr>
      </p:sp>
      <p:sp>
        <p:nvSpPr>
          <p:cNvPr id="13" name="Text 11"/>
          <p:cNvSpPr/>
          <p:nvPr/>
        </p:nvSpPr>
        <p:spPr>
          <a:xfrm>
            <a:off x="2423160" y="1554480"/>
            <a:ext cx="960120" cy="384048"/>
          </a:xfrm>
          <a:prstGeom prst="rect">
            <a:avLst/>
          </a:prstGeom>
          <a:noFill/>
          <a:ln/>
        </p:spPr>
        <p:txBody>
          <a:bodyPr wrap="square" lIns="0" tIns="0" rIns="0" bIns="0" rtlCol="0" anchor="ctr"/>
          <a:lstStyle/>
          <a:p>
            <a:pPr algn="ctr" indent="0" marL="0">
              <a:buNone/>
            </a:pPr>
            <a:r>
              <a:rPr lang="en-US" sz="1100" b="1" dirty="0">
                <a:solidFill>
                  <a:srgbClr val="8250DF"/>
                </a:solidFill>
                <a:latin typeface="Segoe UI" pitchFamily="34" charset="0"/>
                <a:ea typeface="Segoe UI" pitchFamily="34" charset="-122"/>
                <a:cs typeface="Segoe UI" pitchFamily="34" charset="-120"/>
              </a:rPr>
              <a:t>VS Code</a:t>
            </a:r>
            <a:endParaRPr lang="en-US" sz="1100" dirty="0"/>
          </a:p>
        </p:txBody>
      </p:sp>
      <p:sp>
        <p:nvSpPr>
          <p:cNvPr id="14" name="Shape 12"/>
          <p:cNvSpPr/>
          <p:nvPr/>
        </p:nvSpPr>
        <p:spPr>
          <a:xfrm>
            <a:off x="3474720" y="1554480"/>
            <a:ext cx="960120" cy="384048"/>
          </a:xfrm>
          <a:prstGeom prst="rect">
            <a:avLst/>
          </a:prstGeom>
          <a:solidFill>
            <a:srgbClr val="FBEFFF"/>
          </a:solidFill>
          <a:ln w="12700">
            <a:solidFill>
              <a:srgbClr val="8250DF"/>
            </a:solidFill>
            <a:prstDash val="solid"/>
          </a:ln>
        </p:spPr>
      </p:sp>
      <p:sp>
        <p:nvSpPr>
          <p:cNvPr id="15" name="Text 13"/>
          <p:cNvSpPr/>
          <p:nvPr/>
        </p:nvSpPr>
        <p:spPr>
          <a:xfrm>
            <a:off x="3474720" y="1554480"/>
            <a:ext cx="960120" cy="384048"/>
          </a:xfrm>
          <a:prstGeom prst="rect">
            <a:avLst/>
          </a:prstGeom>
          <a:noFill/>
          <a:ln/>
        </p:spPr>
        <p:txBody>
          <a:bodyPr wrap="square" lIns="0" tIns="0" rIns="0" bIns="0" rtlCol="0" anchor="ctr"/>
          <a:lstStyle/>
          <a:p>
            <a:pPr algn="ctr" indent="0" marL="0">
              <a:buNone/>
            </a:pPr>
            <a:r>
              <a:rPr lang="en-US" sz="1100" b="1" dirty="0">
                <a:solidFill>
                  <a:srgbClr val="8250DF"/>
                </a:solidFill>
                <a:latin typeface="Segoe UI" pitchFamily="34" charset="0"/>
                <a:ea typeface="Segoe UI" pitchFamily="34" charset="-122"/>
                <a:cs typeface="Segoe UI" pitchFamily="34" charset="-120"/>
              </a:rPr>
              <a:t>GitHub.com</a:t>
            </a:r>
            <a:endParaRPr lang="en-US" sz="1100" dirty="0"/>
          </a:p>
        </p:txBody>
      </p:sp>
      <p:sp>
        <p:nvSpPr>
          <p:cNvPr id="16" name="Text 14"/>
          <p:cNvSpPr/>
          <p:nvPr/>
        </p:nvSpPr>
        <p:spPr>
          <a:xfrm>
            <a:off x="320040" y="2011680"/>
            <a:ext cx="4114800" cy="457200"/>
          </a:xfrm>
          <a:prstGeom prst="rect">
            <a:avLst/>
          </a:prstGeom>
          <a:noFill/>
          <a:ln/>
        </p:spPr>
        <p:txBody>
          <a:bodyPr wrap="square" lIns="0" tIns="0" rIns="0" bIns="0" rtlCol="0" anchor="ctr"/>
          <a:lstStyle/>
          <a:p>
            <a:pPr indent="0" marL="0">
              <a:buNone/>
            </a:pPr>
            <a:r>
              <a:rPr lang="en-US" sz="1000" dirty="0">
                <a:solidFill>
                  <a:srgbClr val="6E7781"/>
                </a:solidFill>
                <a:latin typeface="Segoe UI" pitchFamily="34" charset="0"/>
                <a:ea typeface="Segoe UI" pitchFamily="34" charset="-122"/>
                <a:cs typeface="Segoe UI" pitchFamily="34" charset="-120"/>
              </a:rPr>
              <a:t>どのサーフェスで開始したセッションのコンテキストも横断的にクエリ可能</a:t>
            </a:r>
            <a:endParaRPr lang="en-US" sz="1000" dirty="0"/>
          </a:p>
        </p:txBody>
      </p:sp>
      <p:sp>
        <p:nvSpPr>
          <p:cNvPr id="17" name="Shape 15"/>
          <p:cNvSpPr/>
          <p:nvPr/>
        </p:nvSpPr>
        <p:spPr>
          <a:xfrm>
            <a:off x="182880" y="2852928"/>
            <a:ext cx="4343400" cy="202996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8" name="Shape 16"/>
          <p:cNvSpPr/>
          <p:nvPr/>
        </p:nvSpPr>
        <p:spPr>
          <a:xfrm>
            <a:off x="182880" y="2852928"/>
            <a:ext cx="64008" cy="2029968"/>
          </a:xfrm>
          <a:prstGeom prst="rect">
            <a:avLst/>
          </a:prstGeom>
          <a:solidFill>
            <a:srgbClr val="0969DA"/>
          </a:solidFill>
          <a:ln w="12700">
            <a:solidFill>
              <a:srgbClr val="0969DA"/>
            </a:solidFill>
            <a:prstDash val="solid"/>
          </a:ln>
        </p:spPr>
      </p:sp>
      <p:sp>
        <p:nvSpPr>
          <p:cNvPr id="19" name="Text 17"/>
          <p:cNvSpPr/>
          <p:nvPr/>
        </p:nvSpPr>
        <p:spPr>
          <a:xfrm>
            <a:off x="411480" y="2926080"/>
            <a:ext cx="3931920" cy="384048"/>
          </a:xfrm>
          <a:prstGeom prst="rect">
            <a:avLst/>
          </a:prstGeom>
          <a:noFill/>
          <a:ln/>
        </p:spPr>
        <p:txBody>
          <a:bodyPr wrap="square" lIns="0" tIns="0" rIns="0" bIns="0" rtlCol="0" anchor="ctr"/>
          <a:lstStyle/>
          <a:p>
            <a:pPr indent="0" marL="0">
              <a:buNone/>
            </a:pPr>
            <a:r>
              <a:rPr lang="en-US" sz="1400" b="1" dirty="0">
                <a:solidFill>
                  <a:srgbClr val="0969DA"/>
                </a:solidFill>
                <a:latin typeface="Segoe UI" pitchFamily="34" charset="0"/>
                <a:ea typeface="Segoe UI" pitchFamily="34" charset="-122"/>
                <a:cs typeface="Segoe UI" pitchFamily="34" charset="-120"/>
              </a:rPr>
              <a:t>Gemini モデル対応</a:t>
            </a:r>
            <a:endParaRPr lang="en-US" sz="1400" dirty="0"/>
          </a:p>
        </p:txBody>
      </p:sp>
      <p:sp>
        <p:nvSpPr>
          <p:cNvPr id="20" name="Shape 18"/>
          <p:cNvSpPr/>
          <p:nvPr/>
        </p:nvSpPr>
        <p:spPr>
          <a:xfrm>
            <a:off x="320040" y="3401568"/>
            <a:ext cx="1298448" cy="402336"/>
          </a:xfrm>
          <a:prstGeom prst="rect">
            <a:avLst/>
          </a:prstGeom>
          <a:solidFill>
            <a:srgbClr val="FFFFFF"/>
          </a:solidFill>
          <a:ln w="19050">
            <a:solidFill>
              <a:srgbClr val="0969DA"/>
            </a:solidFill>
            <a:prstDash val="solid"/>
          </a:ln>
        </p:spPr>
      </p:sp>
      <p:sp>
        <p:nvSpPr>
          <p:cNvPr id="21" name="Text 19"/>
          <p:cNvSpPr/>
          <p:nvPr/>
        </p:nvSpPr>
        <p:spPr>
          <a:xfrm>
            <a:off x="320040" y="3401568"/>
            <a:ext cx="1298448" cy="402336"/>
          </a:xfrm>
          <a:prstGeom prst="rect">
            <a:avLst/>
          </a:prstGeom>
          <a:noFill/>
          <a:ln/>
        </p:spPr>
        <p:txBody>
          <a:bodyPr wrap="square" lIns="0" tIns="0" rIns="0" bIns="0" rtlCol="0" anchor="ctr"/>
          <a:lstStyle/>
          <a:p>
            <a:pPr algn="ctr" indent="0" marL="0">
              <a:buNone/>
            </a:pPr>
            <a:r>
              <a:rPr lang="en-US" sz="1100" b="1" dirty="0">
                <a:solidFill>
                  <a:srgbClr val="0969DA"/>
                </a:solidFill>
                <a:latin typeface="Segoe UI" pitchFamily="34" charset="0"/>
                <a:ea typeface="Segoe UI" pitchFamily="34" charset="-122"/>
                <a:cs typeface="Segoe UI" pitchFamily="34" charset="-120"/>
              </a:rPr>
              <a:t>Copilot App</a:t>
            </a:r>
            <a:endParaRPr lang="en-US" sz="1100" dirty="0"/>
          </a:p>
        </p:txBody>
      </p:sp>
      <p:sp>
        <p:nvSpPr>
          <p:cNvPr id="22" name="Shape 20"/>
          <p:cNvSpPr/>
          <p:nvPr/>
        </p:nvSpPr>
        <p:spPr>
          <a:xfrm>
            <a:off x="1783080" y="3401568"/>
            <a:ext cx="1298448" cy="402336"/>
          </a:xfrm>
          <a:prstGeom prst="rect">
            <a:avLst/>
          </a:prstGeom>
          <a:solidFill>
            <a:srgbClr val="FFFFFF"/>
          </a:solidFill>
          <a:ln w="19050">
            <a:solidFill>
              <a:srgbClr val="2DA44E"/>
            </a:solidFill>
            <a:prstDash val="solid"/>
          </a:ln>
        </p:spPr>
      </p:sp>
      <p:sp>
        <p:nvSpPr>
          <p:cNvPr id="23" name="Text 21"/>
          <p:cNvSpPr/>
          <p:nvPr/>
        </p:nvSpPr>
        <p:spPr>
          <a:xfrm>
            <a:off x="1783080" y="3401568"/>
            <a:ext cx="1298448" cy="402336"/>
          </a:xfrm>
          <a:prstGeom prst="rect">
            <a:avLst/>
          </a:prstGeom>
          <a:noFill/>
          <a:ln/>
        </p:spPr>
        <p:txBody>
          <a:bodyPr wrap="square" lIns="0" tIns="0" rIns="0" bIns="0" rtlCol="0" anchor="ctr"/>
          <a:lstStyle/>
          <a:p>
            <a:pPr algn="ctr" indent="0" marL="0">
              <a:buNone/>
            </a:pPr>
            <a:r>
              <a:rPr lang="en-US" sz="1100" b="1" dirty="0">
                <a:solidFill>
                  <a:srgbClr val="2DA44E"/>
                </a:solidFill>
                <a:latin typeface="Segoe UI" pitchFamily="34" charset="0"/>
                <a:ea typeface="Segoe UI" pitchFamily="34" charset="-122"/>
                <a:cs typeface="Segoe UI" pitchFamily="34" charset="-120"/>
              </a:rPr>
              <a:t>CLI</a:t>
            </a:r>
            <a:endParaRPr lang="en-US" sz="1100" dirty="0"/>
          </a:p>
        </p:txBody>
      </p:sp>
      <p:sp>
        <p:nvSpPr>
          <p:cNvPr id="24" name="Shape 22"/>
          <p:cNvSpPr/>
          <p:nvPr/>
        </p:nvSpPr>
        <p:spPr>
          <a:xfrm>
            <a:off x="3246120" y="3401568"/>
            <a:ext cx="1298448" cy="402336"/>
          </a:xfrm>
          <a:prstGeom prst="rect">
            <a:avLst/>
          </a:prstGeom>
          <a:solidFill>
            <a:srgbClr val="FFFFFF"/>
          </a:solidFill>
          <a:ln w="19050">
            <a:solidFill>
              <a:srgbClr val="CF222E"/>
            </a:solidFill>
            <a:prstDash val="solid"/>
          </a:ln>
        </p:spPr>
      </p:sp>
      <p:sp>
        <p:nvSpPr>
          <p:cNvPr id="25" name="Text 23"/>
          <p:cNvSpPr/>
          <p:nvPr/>
        </p:nvSpPr>
        <p:spPr>
          <a:xfrm>
            <a:off x="3246120" y="3401568"/>
            <a:ext cx="1298448" cy="402336"/>
          </a:xfrm>
          <a:prstGeom prst="rect">
            <a:avLst/>
          </a:prstGeom>
          <a:noFill/>
          <a:ln/>
        </p:spPr>
        <p:txBody>
          <a:bodyPr wrap="square" lIns="0" tIns="0" rIns="0" bIns="0" rtlCol="0" anchor="ctr"/>
          <a:lstStyle/>
          <a:p>
            <a:pPr algn="ctr" indent="0" marL="0">
              <a:buNone/>
            </a:pPr>
            <a:r>
              <a:rPr lang="en-US" sz="1100" b="1" dirty="0">
                <a:solidFill>
                  <a:srgbClr val="CF222E"/>
                </a:solidFill>
                <a:latin typeface="Segoe UI" pitchFamily="34" charset="0"/>
                <a:ea typeface="Segoe UI" pitchFamily="34" charset="-122"/>
                <a:cs typeface="Segoe UI" pitchFamily="34" charset="-120"/>
              </a:rPr>
              <a:t>Cloud Agent</a:t>
            </a:r>
            <a:endParaRPr lang="en-US" sz="1100" dirty="0"/>
          </a:p>
        </p:txBody>
      </p:sp>
      <p:sp>
        <p:nvSpPr>
          <p:cNvPr id="26" name="Text 24"/>
          <p:cNvSpPr/>
          <p:nvPr/>
        </p:nvSpPr>
        <p:spPr>
          <a:xfrm>
            <a:off x="320040" y="3858768"/>
            <a:ext cx="4114800" cy="822960"/>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CLI でモデルファミリーを名前で指定：opus / sonnet / haiku / gpt / gemini など</a:t>
            </a:r>
            <a:endParaRPr lang="en-US" sz="1100" dirty="0"/>
          </a:p>
        </p:txBody>
      </p:sp>
      <p:sp>
        <p:nvSpPr>
          <p:cNvPr id="27" name="Text 25"/>
          <p:cNvSpPr/>
          <p:nvPr/>
        </p:nvSpPr>
        <p:spPr>
          <a:xfrm>
            <a:off x="4754880" y="685800"/>
            <a:ext cx="4114800" cy="384048"/>
          </a:xfrm>
          <a:prstGeom prst="rect">
            <a:avLst/>
          </a:prstGeom>
          <a:noFill/>
          <a:ln/>
        </p:spPr>
        <p:txBody>
          <a:bodyPr wrap="square" lIns="0" tIns="0" rIns="0" bIns="0" rtlCol="0" anchor="ctr"/>
          <a:lstStyle/>
          <a:p>
            <a:pPr indent="0" marL="0">
              <a:buNone/>
            </a:pPr>
            <a:r>
              <a:rPr lang="en-US" sz="1400" b="1" dirty="0">
                <a:solidFill>
                  <a:srgbClr val="1F2328"/>
                </a:solidFill>
                <a:latin typeface="Segoe UI" pitchFamily="34" charset="0"/>
                <a:ea typeface="Segoe UI" pitchFamily="34" charset="-122"/>
                <a:cs typeface="Segoe UI" pitchFamily="34" charset="-120"/>
              </a:rPr>
              <a:t>Partner-built Agent Apps（9社）</a:t>
            </a:r>
            <a:endParaRPr lang="en-US" sz="1400" dirty="0"/>
          </a:p>
        </p:txBody>
      </p:sp>
      <p:sp>
        <p:nvSpPr>
          <p:cNvPr id="28" name="Text 26"/>
          <p:cNvSpPr/>
          <p:nvPr/>
        </p:nvSpPr>
        <p:spPr>
          <a:xfrm>
            <a:off x="4754880" y="1115568"/>
            <a:ext cx="4114800" cy="347472"/>
          </a:xfrm>
          <a:prstGeom prst="rect">
            <a:avLst/>
          </a:prstGeom>
          <a:noFill/>
          <a:ln/>
        </p:spPr>
        <p:txBody>
          <a:bodyPr wrap="square" lIns="0" tIns="0" rIns="0" bIns="0" rtlCol="0" anchor="ctr"/>
          <a:lstStyle/>
          <a:p>
            <a:pPr indent="0" marL="0">
              <a:buNone/>
            </a:pPr>
            <a:r>
              <a:rPr lang="en-US" sz="1100" dirty="0">
                <a:solidFill>
                  <a:srgbClr val="6E7781"/>
                </a:solidFill>
                <a:latin typeface="Segoe UI" pitchFamily="34" charset="0"/>
                <a:ea typeface="Segoe UI" pitchFamily="34" charset="-122"/>
                <a:cs typeface="Segoe UI" pitchFamily="34" charset="-120"/>
              </a:rPr>
              <a:t>GitHub を離れずにお気に入りのツールを利用 / Issue を新しいエージェントに割り当て</a:t>
            </a:r>
            <a:endParaRPr lang="en-US" sz="1100" dirty="0"/>
          </a:p>
        </p:txBody>
      </p:sp>
      <p:sp>
        <p:nvSpPr>
          <p:cNvPr id="29" name="Shape 27"/>
          <p:cNvSpPr/>
          <p:nvPr/>
        </p:nvSpPr>
        <p:spPr>
          <a:xfrm>
            <a:off x="4754880" y="1536192"/>
            <a:ext cx="1965960" cy="62179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30" name="Shape 28"/>
          <p:cNvSpPr/>
          <p:nvPr/>
        </p:nvSpPr>
        <p:spPr>
          <a:xfrm>
            <a:off x="4754880" y="1536192"/>
            <a:ext cx="54864" cy="621792"/>
          </a:xfrm>
          <a:prstGeom prst="rect">
            <a:avLst/>
          </a:prstGeom>
          <a:solidFill>
            <a:srgbClr val="CF222E"/>
          </a:solidFill>
          <a:ln w="12700">
            <a:solidFill>
              <a:srgbClr val="CF222E"/>
            </a:solidFill>
            <a:prstDash val="solid"/>
          </a:ln>
        </p:spPr>
      </p:sp>
      <p:sp>
        <p:nvSpPr>
          <p:cNvPr id="31" name="Text 29"/>
          <p:cNvSpPr/>
          <p:nvPr/>
        </p:nvSpPr>
        <p:spPr>
          <a:xfrm>
            <a:off x="4882896" y="1563624"/>
            <a:ext cx="1719072" cy="274320"/>
          </a:xfrm>
          <a:prstGeom prst="rect">
            <a:avLst/>
          </a:prstGeom>
          <a:noFill/>
          <a:ln/>
        </p:spPr>
        <p:txBody>
          <a:bodyPr wrap="square" lIns="0" tIns="0" rIns="0" bIns="0" rtlCol="0" anchor="ctr"/>
          <a:lstStyle/>
          <a:p>
            <a:pPr indent="0" marL="0">
              <a:buNone/>
            </a:pPr>
            <a:r>
              <a:rPr lang="en-US" sz="1100" b="1" dirty="0">
                <a:solidFill>
                  <a:srgbClr val="1F2328"/>
                </a:solidFill>
                <a:latin typeface="Segoe UI" pitchFamily="34" charset="0"/>
                <a:ea typeface="Segoe UI" pitchFamily="34" charset="-122"/>
                <a:cs typeface="Segoe UI" pitchFamily="34" charset="-120"/>
              </a:rPr>
              <a:t>LaunchDarkly</a:t>
            </a:r>
            <a:endParaRPr lang="en-US" sz="1100" dirty="0"/>
          </a:p>
        </p:txBody>
      </p:sp>
      <p:sp>
        <p:nvSpPr>
          <p:cNvPr id="32" name="Text 30"/>
          <p:cNvSpPr/>
          <p:nvPr/>
        </p:nvSpPr>
        <p:spPr>
          <a:xfrm>
            <a:off x="4882896" y="1856232"/>
            <a:ext cx="1719072" cy="256032"/>
          </a:xfrm>
          <a:prstGeom prst="rect">
            <a:avLst/>
          </a:prstGeom>
          <a:noFill/>
          <a:ln/>
        </p:spPr>
        <p:txBody>
          <a:bodyPr wrap="square" lIns="0" tIns="0" rIns="0" bIns="0" rtlCol="0" anchor="ctr"/>
          <a:lstStyle/>
          <a:p>
            <a:pPr indent="0" marL="0">
              <a:buNone/>
            </a:pPr>
            <a:r>
              <a:rPr lang="en-US" sz="1000" dirty="0">
                <a:solidFill>
                  <a:srgbClr val="6E7781"/>
                </a:solidFill>
                <a:latin typeface="Segoe UI" pitchFamily="34" charset="0"/>
                <a:ea typeface="Segoe UI" pitchFamily="34" charset="-122"/>
                <a:cs typeface="Segoe UI" pitchFamily="34" charset="-120"/>
              </a:rPr>
              <a:t>フィーチャーフラグ</a:t>
            </a:r>
            <a:endParaRPr lang="en-US" sz="1000" dirty="0"/>
          </a:p>
        </p:txBody>
      </p:sp>
      <p:sp>
        <p:nvSpPr>
          <p:cNvPr id="33" name="Shape 31"/>
          <p:cNvSpPr/>
          <p:nvPr/>
        </p:nvSpPr>
        <p:spPr>
          <a:xfrm>
            <a:off x="6858000" y="1536192"/>
            <a:ext cx="1965960" cy="62179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34" name="Shape 32"/>
          <p:cNvSpPr/>
          <p:nvPr/>
        </p:nvSpPr>
        <p:spPr>
          <a:xfrm>
            <a:off x="6858000" y="1536192"/>
            <a:ext cx="54864" cy="621792"/>
          </a:xfrm>
          <a:prstGeom prst="rect">
            <a:avLst/>
          </a:prstGeom>
          <a:solidFill>
            <a:srgbClr val="0969DA"/>
          </a:solidFill>
          <a:ln w="12700">
            <a:solidFill>
              <a:srgbClr val="0969DA"/>
            </a:solidFill>
            <a:prstDash val="solid"/>
          </a:ln>
        </p:spPr>
      </p:sp>
      <p:sp>
        <p:nvSpPr>
          <p:cNvPr id="35" name="Text 33"/>
          <p:cNvSpPr/>
          <p:nvPr/>
        </p:nvSpPr>
        <p:spPr>
          <a:xfrm>
            <a:off x="6986016" y="1563624"/>
            <a:ext cx="1719072" cy="274320"/>
          </a:xfrm>
          <a:prstGeom prst="rect">
            <a:avLst/>
          </a:prstGeom>
          <a:noFill/>
          <a:ln/>
        </p:spPr>
        <p:txBody>
          <a:bodyPr wrap="square" lIns="0" tIns="0" rIns="0" bIns="0" rtlCol="0" anchor="ctr"/>
          <a:lstStyle/>
          <a:p>
            <a:pPr indent="0" marL="0">
              <a:buNone/>
            </a:pPr>
            <a:r>
              <a:rPr lang="en-US" sz="1100" b="1" dirty="0">
                <a:solidFill>
                  <a:srgbClr val="1F2328"/>
                </a:solidFill>
                <a:latin typeface="Segoe UI" pitchFamily="34" charset="0"/>
                <a:ea typeface="Segoe UI" pitchFamily="34" charset="-122"/>
                <a:cs typeface="Segoe UI" pitchFamily="34" charset="-120"/>
              </a:rPr>
              <a:t>Amplitude</a:t>
            </a:r>
            <a:endParaRPr lang="en-US" sz="1100" dirty="0"/>
          </a:p>
        </p:txBody>
      </p:sp>
      <p:sp>
        <p:nvSpPr>
          <p:cNvPr id="36" name="Text 34"/>
          <p:cNvSpPr/>
          <p:nvPr/>
        </p:nvSpPr>
        <p:spPr>
          <a:xfrm>
            <a:off x="6986016" y="1856232"/>
            <a:ext cx="1719072" cy="256032"/>
          </a:xfrm>
          <a:prstGeom prst="rect">
            <a:avLst/>
          </a:prstGeom>
          <a:noFill/>
          <a:ln/>
        </p:spPr>
        <p:txBody>
          <a:bodyPr wrap="square" lIns="0" tIns="0" rIns="0" bIns="0" rtlCol="0" anchor="ctr"/>
          <a:lstStyle/>
          <a:p>
            <a:pPr indent="0" marL="0">
              <a:buNone/>
            </a:pPr>
            <a:r>
              <a:rPr lang="en-US" sz="1000" dirty="0">
                <a:solidFill>
                  <a:srgbClr val="6E7781"/>
                </a:solidFill>
                <a:latin typeface="Segoe UI" pitchFamily="34" charset="0"/>
                <a:ea typeface="Segoe UI" pitchFamily="34" charset="-122"/>
                <a:cs typeface="Segoe UI" pitchFamily="34" charset="-120"/>
              </a:rPr>
              <a:t>プロダクトアナリティクス</a:t>
            </a:r>
            <a:endParaRPr lang="en-US" sz="1000" dirty="0"/>
          </a:p>
        </p:txBody>
      </p:sp>
      <p:sp>
        <p:nvSpPr>
          <p:cNvPr id="37" name="Shape 35"/>
          <p:cNvSpPr/>
          <p:nvPr/>
        </p:nvSpPr>
        <p:spPr>
          <a:xfrm>
            <a:off x="4754880" y="2249424"/>
            <a:ext cx="1965960" cy="62179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38" name="Shape 36"/>
          <p:cNvSpPr/>
          <p:nvPr/>
        </p:nvSpPr>
        <p:spPr>
          <a:xfrm>
            <a:off x="4754880" y="2249424"/>
            <a:ext cx="54864" cy="621792"/>
          </a:xfrm>
          <a:prstGeom prst="rect">
            <a:avLst/>
          </a:prstGeom>
          <a:solidFill>
            <a:srgbClr val="2DA44E"/>
          </a:solidFill>
          <a:ln w="12700">
            <a:solidFill>
              <a:srgbClr val="2DA44E"/>
            </a:solidFill>
            <a:prstDash val="solid"/>
          </a:ln>
        </p:spPr>
      </p:sp>
      <p:sp>
        <p:nvSpPr>
          <p:cNvPr id="39" name="Text 37"/>
          <p:cNvSpPr/>
          <p:nvPr/>
        </p:nvSpPr>
        <p:spPr>
          <a:xfrm>
            <a:off x="4882896" y="2276856"/>
            <a:ext cx="1719072" cy="274320"/>
          </a:xfrm>
          <a:prstGeom prst="rect">
            <a:avLst/>
          </a:prstGeom>
          <a:noFill/>
          <a:ln/>
        </p:spPr>
        <p:txBody>
          <a:bodyPr wrap="square" lIns="0" tIns="0" rIns="0" bIns="0" rtlCol="0" anchor="ctr"/>
          <a:lstStyle/>
          <a:p>
            <a:pPr indent="0" marL="0">
              <a:buNone/>
            </a:pPr>
            <a:r>
              <a:rPr lang="en-US" sz="1100" b="1" dirty="0">
                <a:solidFill>
                  <a:srgbClr val="1F2328"/>
                </a:solidFill>
                <a:latin typeface="Segoe UI" pitchFamily="34" charset="0"/>
                <a:ea typeface="Segoe UI" pitchFamily="34" charset="-122"/>
                <a:cs typeface="Segoe UI" pitchFamily="34" charset="-120"/>
              </a:rPr>
              <a:t>Sonar</a:t>
            </a:r>
            <a:endParaRPr lang="en-US" sz="1100" dirty="0"/>
          </a:p>
        </p:txBody>
      </p:sp>
      <p:sp>
        <p:nvSpPr>
          <p:cNvPr id="40" name="Text 38"/>
          <p:cNvSpPr/>
          <p:nvPr/>
        </p:nvSpPr>
        <p:spPr>
          <a:xfrm>
            <a:off x="4882896" y="2569464"/>
            <a:ext cx="1719072" cy="256032"/>
          </a:xfrm>
          <a:prstGeom prst="rect">
            <a:avLst/>
          </a:prstGeom>
          <a:noFill/>
          <a:ln/>
        </p:spPr>
        <p:txBody>
          <a:bodyPr wrap="square" lIns="0" tIns="0" rIns="0" bIns="0" rtlCol="0" anchor="ctr"/>
          <a:lstStyle/>
          <a:p>
            <a:pPr indent="0" marL="0">
              <a:buNone/>
            </a:pPr>
            <a:r>
              <a:rPr lang="en-US" sz="1000" dirty="0">
                <a:solidFill>
                  <a:srgbClr val="6E7781"/>
                </a:solidFill>
                <a:latin typeface="Segoe UI" pitchFamily="34" charset="0"/>
                <a:ea typeface="Segoe UI" pitchFamily="34" charset="-122"/>
                <a:cs typeface="Segoe UI" pitchFamily="34" charset="-120"/>
              </a:rPr>
              <a:t>コード品質・静的解析</a:t>
            </a:r>
            <a:endParaRPr lang="en-US" sz="1000" dirty="0"/>
          </a:p>
        </p:txBody>
      </p:sp>
      <p:sp>
        <p:nvSpPr>
          <p:cNvPr id="41" name="Shape 39"/>
          <p:cNvSpPr/>
          <p:nvPr/>
        </p:nvSpPr>
        <p:spPr>
          <a:xfrm>
            <a:off x="6858000" y="2249424"/>
            <a:ext cx="1965960" cy="62179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42" name="Shape 40"/>
          <p:cNvSpPr/>
          <p:nvPr/>
        </p:nvSpPr>
        <p:spPr>
          <a:xfrm>
            <a:off x="6858000" y="2249424"/>
            <a:ext cx="54864" cy="621792"/>
          </a:xfrm>
          <a:prstGeom prst="rect">
            <a:avLst/>
          </a:prstGeom>
          <a:solidFill>
            <a:srgbClr val="8250DF"/>
          </a:solidFill>
          <a:ln w="12700">
            <a:solidFill>
              <a:srgbClr val="8250DF"/>
            </a:solidFill>
            <a:prstDash val="solid"/>
          </a:ln>
        </p:spPr>
      </p:sp>
      <p:sp>
        <p:nvSpPr>
          <p:cNvPr id="43" name="Text 41"/>
          <p:cNvSpPr/>
          <p:nvPr/>
        </p:nvSpPr>
        <p:spPr>
          <a:xfrm>
            <a:off x="6986016" y="2276856"/>
            <a:ext cx="1719072" cy="274320"/>
          </a:xfrm>
          <a:prstGeom prst="rect">
            <a:avLst/>
          </a:prstGeom>
          <a:noFill/>
          <a:ln/>
        </p:spPr>
        <p:txBody>
          <a:bodyPr wrap="square" lIns="0" tIns="0" rIns="0" bIns="0" rtlCol="0" anchor="ctr"/>
          <a:lstStyle/>
          <a:p>
            <a:pPr indent="0" marL="0">
              <a:buNone/>
            </a:pPr>
            <a:r>
              <a:rPr lang="en-US" sz="1100" b="1" dirty="0">
                <a:solidFill>
                  <a:srgbClr val="1F2328"/>
                </a:solidFill>
                <a:latin typeface="Segoe UI" pitchFamily="34" charset="0"/>
                <a:ea typeface="Segoe UI" pitchFamily="34" charset="-122"/>
                <a:cs typeface="Segoe UI" pitchFamily="34" charset="-120"/>
              </a:rPr>
              <a:t>Endor Labs</a:t>
            </a:r>
            <a:endParaRPr lang="en-US" sz="1100" dirty="0"/>
          </a:p>
        </p:txBody>
      </p:sp>
      <p:sp>
        <p:nvSpPr>
          <p:cNvPr id="44" name="Text 42"/>
          <p:cNvSpPr/>
          <p:nvPr/>
        </p:nvSpPr>
        <p:spPr>
          <a:xfrm>
            <a:off x="6986016" y="2569464"/>
            <a:ext cx="1719072" cy="256032"/>
          </a:xfrm>
          <a:prstGeom prst="rect">
            <a:avLst/>
          </a:prstGeom>
          <a:noFill/>
          <a:ln/>
        </p:spPr>
        <p:txBody>
          <a:bodyPr wrap="square" lIns="0" tIns="0" rIns="0" bIns="0" rtlCol="0" anchor="ctr"/>
          <a:lstStyle/>
          <a:p>
            <a:pPr indent="0" marL="0">
              <a:buNone/>
            </a:pPr>
            <a:r>
              <a:rPr lang="en-US" sz="1000" dirty="0">
                <a:solidFill>
                  <a:srgbClr val="6E7781"/>
                </a:solidFill>
                <a:latin typeface="Segoe UI" pitchFamily="34" charset="0"/>
                <a:ea typeface="Segoe UI" pitchFamily="34" charset="-122"/>
                <a:cs typeface="Segoe UI" pitchFamily="34" charset="-120"/>
              </a:rPr>
              <a:t>サプライチェーンセキュリティ</a:t>
            </a:r>
            <a:endParaRPr lang="en-US" sz="1000" dirty="0"/>
          </a:p>
        </p:txBody>
      </p:sp>
      <p:sp>
        <p:nvSpPr>
          <p:cNvPr id="45" name="Shape 43"/>
          <p:cNvSpPr/>
          <p:nvPr/>
        </p:nvSpPr>
        <p:spPr>
          <a:xfrm>
            <a:off x="4754880" y="2962656"/>
            <a:ext cx="1965960" cy="62179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46" name="Shape 44"/>
          <p:cNvSpPr/>
          <p:nvPr/>
        </p:nvSpPr>
        <p:spPr>
          <a:xfrm>
            <a:off x="4754880" y="2962656"/>
            <a:ext cx="54864" cy="621792"/>
          </a:xfrm>
          <a:prstGeom prst="rect">
            <a:avLst/>
          </a:prstGeom>
          <a:solidFill>
            <a:srgbClr val="BC4C00"/>
          </a:solidFill>
          <a:ln w="12700">
            <a:solidFill>
              <a:srgbClr val="BC4C00"/>
            </a:solidFill>
            <a:prstDash val="solid"/>
          </a:ln>
        </p:spPr>
      </p:sp>
      <p:sp>
        <p:nvSpPr>
          <p:cNvPr id="47" name="Text 45"/>
          <p:cNvSpPr/>
          <p:nvPr/>
        </p:nvSpPr>
        <p:spPr>
          <a:xfrm>
            <a:off x="4882896" y="2990088"/>
            <a:ext cx="1719072" cy="274320"/>
          </a:xfrm>
          <a:prstGeom prst="rect">
            <a:avLst/>
          </a:prstGeom>
          <a:noFill/>
          <a:ln/>
        </p:spPr>
        <p:txBody>
          <a:bodyPr wrap="square" lIns="0" tIns="0" rIns="0" bIns="0" rtlCol="0" anchor="ctr"/>
          <a:lstStyle/>
          <a:p>
            <a:pPr indent="0" marL="0">
              <a:buNone/>
            </a:pPr>
            <a:r>
              <a:rPr lang="en-US" sz="1100" b="1" dirty="0">
                <a:solidFill>
                  <a:srgbClr val="1F2328"/>
                </a:solidFill>
                <a:latin typeface="Segoe UI" pitchFamily="34" charset="0"/>
                <a:ea typeface="Segoe UI" pitchFamily="34" charset="-122"/>
                <a:cs typeface="Segoe UI" pitchFamily="34" charset="-120"/>
              </a:rPr>
              <a:t>Octopus Deploy</a:t>
            </a:r>
            <a:endParaRPr lang="en-US" sz="1100" dirty="0"/>
          </a:p>
        </p:txBody>
      </p:sp>
      <p:sp>
        <p:nvSpPr>
          <p:cNvPr id="48" name="Text 46"/>
          <p:cNvSpPr/>
          <p:nvPr/>
        </p:nvSpPr>
        <p:spPr>
          <a:xfrm>
            <a:off x="4882896" y="3282696"/>
            <a:ext cx="1719072" cy="256032"/>
          </a:xfrm>
          <a:prstGeom prst="rect">
            <a:avLst/>
          </a:prstGeom>
          <a:noFill/>
          <a:ln/>
        </p:spPr>
        <p:txBody>
          <a:bodyPr wrap="square" lIns="0" tIns="0" rIns="0" bIns="0" rtlCol="0" anchor="ctr"/>
          <a:lstStyle/>
          <a:p>
            <a:pPr indent="0" marL="0">
              <a:buNone/>
            </a:pPr>
            <a:r>
              <a:rPr lang="en-US" sz="1000" dirty="0">
                <a:solidFill>
                  <a:srgbClr val="6E7781"/>
                </a:solidFill>
                <a:latin typeface="Segoe UI" pitchFamily="34" charset="0"/>
                <a:ea typeface="Segoe UI" pitchFamily="34" charset="-122"/>
                <a:cs typeface="Segoe UI" pitchFamily="34" charset="-120"/>
              </a:rPr>
              <a:t>デプロイ自動化</a:t>
            </a:r>
            <a:endParaRPr lang="en-US" sz="1000" dirty="0"/>
          </a:p>
        </p:txBody>
      </p:sp>
      <p:sp>
        <p:nvSpPr>
          <p:cNvPr id="49" name="Shape 47"/>
          <p:cNvSpPr/>
          <p:nvPr/>
        </p:nvSpPr>
        <p:spPr>
          <a:xfrm>
            <a:off x="6858000" y="2962656"/>
            <a:ext cx="1965960" cy="62179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0" name="Shape 48"/>
          <p:cNvSpPr/>
          <p:nvPr/>
        </p:nvSpPr>
        <p:spPr>
          <a:xfrm>
            <a:off x="6858000" y="2962656"/>
            <a:ext cx="54864" cy="621792"/>
          </a:xfrm>
          <a:prstGeom prst="rect">
            <a:avLst/>
          </a:prstGeom>
          <a:solidFill>
            <a:srgbClr val="CF222E"/>
          </a:solidFill>
          <a:ln w="12700">
            <a:solidFill>
              <a:srgbClr val="CF222E"/>
            </a:solidFill>
            <a:prstDash val="solid"/>
          </a:ln>
        </p:spPr>
      </p:sp>
      <p:sp>
        <p:nvSpPr>
          <p:cNvPr id="51" name="Text 49"/>
          <p:cNvSpPr/>
          <p:nvPr/>
        </p:nvSpPr>
        <p:spPr>
          <a:xfrm>
            <a:off x="6986016" y="2990088"/>
            <a:ext cx="1719072" cy="274320"/>
          </a:xfrm>
          <a:prstGeom prst="rect">
            <a:avLst/>
          </a:prstGeom>
          <a:noFill/>
          <a:ln/>
        </p:spPr>
        <p:txBody>
          <a:bodyPr wrap="square" lIns="0" tIns="0" rIns="0" bIns="0" rtlCol="0" anchor="ctr"/>
          <a:lstStyle/>
          <a:p>
            <a:pPr indent="0" marL="0">
              <a:buNone/>
            </a:pPr>
            <a:r>
              <a:rPr lang="en-US" sz="1100" b="1" dirty="0">
                <a:solidFill>
                  <a:srgbClr val="1F2328"/>
                </a:solidFill>
                <a:latin typeface="Segoe UI" pitchFamily="34" charset="0"/>
                <a:ea typeface="Segoe UI" pitchFamily="34" charset="-122"/>
                <a:cs typeface="Segoe UI" pitchFamily="34" charset="-120"/>
              </a:rPr>
              <a:t>PagerDuty</a:t>
            </a:r>
            <a:endParaRPr lang="en-US" sz="1100" dirty="0"/>
          </a:p>
        </p:txBody>
      </p:sp>
      <p:sp>
        <p:nvSpPr>
          <p:cNvPr id="52" name="Text 50"/>
          <p:cNvSpPr/>
          <p:nvPr/>
        </p:nvSpPr>
        <p:spPr>
          <a:xfrm>
            <a:off x="6986016" y="3282696"/>
            <a:ext cx="1719072" cy="256032"/>
          </a:xfrm>
          <a:prstGeom prst="rect">
            <a:avLst/>
          </a:prstGeom>
          <a:noFill/>
          <a:ln/>
        </p:spPr>
        <p:txBody>
          <a:bodyPr wrap="square" lIns="0" tIns="0" rIns="0" bIns="0" rtlCol="0" anchor="ctr"/>
          <a:lstStyle/>
          <a:p>
            <a:pPr indent="0" marL="0">
              <a:buNone/>
            </a:pPr>
            <a:r>
              <a:rPr lang="en-US" sz="1000" dirty="0">
                <a:solidFill>
                  <a:srgbClr val="6E7781"/>
                </a:solidFill>
                <a:latin typeface="Segoe UI" pitchFamily="34" charset="0"/>
                <a:ea typeface="Segoe UI" pitchFamily="34" charset="-122"/>
                <a:cs typeface="Segoe UI" pitchFamily="34" charset="-120"/>
              </a:rPr>
              <a:t>インシデント管理</a:t>
            </a:r>
            <a:endParaRPr lang="en-US" sz="1000" dirty="0"/>
          </a:p>
        </p:txBody>
      </p:sp>
      <p:sp>
        <p:nvSpPr>
          <p:cNvPr id="53" name="Shape 51"/>
          <p:cNvSpPr/>
          <p:nvPr/>
        </p:nvSpPr>
        <p:spPr>
          <a:xfrm>
            <a:off x="4754880" y="3675888"/>
            <a:ext cx="1965960" cy="62179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4" name="Shape 52"/>
          <p:cNvSpPr/>
          <p:nvPr/>
        </p:nvSpPr>
        <p:spPr>
          <a:xfrm>
            <a:off x="4754880" y="3675888"/>
            <a:ext cx="54864" cy="621792"/>
          </a:xfrm>
          <a:prstGeom prst="rect">
            <a:avLst/>
          </a:prstGeom>
          <a:solidFill>
            <a:srgbClr val="BF8700"/>
          </a:solidFill>
          <a:ln w="12700">
            <a:solidFill>
              <a:srgbClr val="BF8700"/>
            </a:solidFill>
            <a:prstDash val="solid"/>
          </a:ln>
        </p:spPr>
      </p:sp>
      <p:sp>
        <p:nvSpPr>
          <p:cNvPr id="55" name="Text 53"/>
          <p:cNvSpPr/>
          <p:nvPr/>
        </p:nvSpPr>
        <p:spPr>
          <a:xfrm>
            <a:off x="4882896" y="3703320"/>
            <a:ext cx="1719072" cy="274320"/>
          </a:xfrm>
          <a:prstGeom prst="rect">
            <a:avLst/>
          </a:prstGeom>
          <a:noFill/>
          <a:ln/>
        </p:spPr>
        <p:txBody>
          <a:bodyPr wrap="square" lIns="0" tIns="0" rIns="0" bIns="0" rtlCol="0" anchor="ctr"/>
          <a:lstStyle/>
          <a:p>
            <a:pPr indent="0" marL="0">
              <a:buNone/>
            </a:pPr>
            <a:r>
              <a:rPr lang="en-US" sz="1100" b="1" dirty="0">
                <a:solidFill>
                  <a:srgbClr val="1F2328"/>
                </a:solidFill>
                <a:latin typeface="Segoe UI" pitchFamily="34" charset="0"/>
                <a:ea typeface="Segoe UI" pitchFamily="34" charset="-122"/>
                <a:cs typeface="Segoe UI" pitchFamily="34" charset="-120"/>
              </a:rPr>
              <a:t>Miro</a:t>
            </a:r>
            <a:endParaRPr lang="en-US" sz="1100" dirty="0"/>
          </a:p>
        </p:txBody>
      </p:sp>
      <p:sp>
        <p:nvSpPr>
          <p:cNvPr id="56" name="Text 54"/>
          <p:cNvSpPr/>
          <p:nvPr/>
        </p:nvSpPr>
        <p:spPr>
          <a:xfrm>
            <a:off x="4882896" y="3995928"/>
            <a:ext cx="1719072" cy="256032"/>
          </a:xfrm>
          <a:prstGeom prst="rect">
            <a:avLst/>
          </a:prstGeom>
          <a:noFill/>
          <a:ln/>
        </p:spPr>
        <p:txBody>
          <a:bodyPr wrap="square" lIns="0" tIns="0" rIns="0" bIns="0" rtlCol="0" anchor="ctr"/>
          <a:lstStyle/>
          <a:p>
            <a:pPr indent="0" marL="0">
              <a:buNone/>
            </a:pPr>
            <a:r>
              <a:rPr lang="en-US" sz="1000" dirty="0">
                <a:solidFill>
                  <a:srgbClr val="6E7781"/>
                </a:solidFill>
                <a:latin typeface="Segoe UI" pitchFamily="34" charset="0"/>
                <a:ea typeface="Segoe UI" pitchFamily="34" charset="-122"/>
                <a:cs typeface="Segoe UI" pitchFamily="34" charset="-120"/>
              </a:rPr>
              <a:t>コラボレーション</a:t>
            </a:r>
            <a:endParaRPr lang="en-US" sz="1000" dirty="0"/>
          </a:p>
        </p:txBody>
      </p:sp>
      <p:sp>
        <p:nvSpPr>
          <p:cNvPr id="57" name="Shape 55"/>
          <p:cNvSpPr/>
          <p:nvPr/>
        </p:nvSpPr>
        <p:spPr>
          <a:xfrm>
            <a:off x="6858000" y="3675888"/>
            <a:ext cx="1965960" cy="621792"/>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8" name="Shape 56"/>
          <p:cNvSpPr/>
          <p:nvPr/>
        </p:nvSpPr>
        <p:spPr>
          <a:xfrm>
            <a:off x="6858000" y="3675888"/>
            <a:ext cx="54864" cy="621792"/>
          </a:xfrm>
          <a:prstGeom prst="rect">
            <a:avLst/>
          </a:prstGeom>
          <a:solidFill>
            <a:srgbClr val="6E7781"/>
          </a:solidFill>
          <a:ln w="12700">
            <a:solidFill>
              <a:srgbClr val="6E7781"/>
            </a:solidFill>
            <a:prstDash val="solid"/>
          </a:ln>
        </p:spPr>
      </p:sp>
      <p:sp>
        <p:nvSpPr>
          <p:cNvPr id="59" name="Text 57"/>
          <p:cNvSpPr/>
          <p:nvPr/>
        </p:nvSpPr>
        <p:spPr>
          <a:xfrm>
            <a:off x="6986016" y="3703320"/>
            <a:ext cx="1719072" cy="274320"/>
          </a:xfrm>
          <a:prstGeom prst="rect">
            <a:avLst/>
          </a:prstGeom>
          <a:noFill/>
          <a:ln/>
        </p:spPr>
        <p:txBody>
          <a:bodyPr wrap="square" lIns="0" tIns="0" rIns="0" bIns="0" rtlCol="0" anchor="ctr"/>
          <a:lstStyle/>
          <a:p>
            <a:pPr indent="0" marL="0">
              <a:buNone/>
            </a:pPr>
            <a:r>
              <a:rPr lang="en-US" sz="1100" b="1" dirty="0">
                <a:solidFill>
                  <a:srgbClr val="1F2328"/>
                </a:solidFill>
                <a:latin typeface="Segoe UI" pitchFamily="34" charset="0"/>
                <a:ea typeface="Segoe UI" pitchFamily="34" charset="-122"/>
                <a:cs typeface="Segoe UI" pitchFamily="34" charset="-120"/>
              </a:rPr>
              <a:t>Bright / Packfiles</a:t>
            </a:r>
            <a:endParaRPr lang="en-US" sz="1100" dirty="0"/>
          </a:p>
        </p:txBody>
      </p:sp>
      <p:sp>
        <p:nvSpPr>
          <p:cNvPr id="60" name="Text 58"/>
          <p:cNvSpPr/>
          <p:nvPr/>
        </p:nvSpPr>
        <p:spPr>
          <a:xfrm>
            <a:off x="6986016" y="3995928"/>
            <a:ext cx="1719072" cy="256032"/>
          </a:xfrm>
          <a:prstGeom prst="rect">
            <a:avLst/>
          </a:prstGeom>
          <a:noFill/>
          <a:ln/>
        </p:spPr>
        <p:txBody>
          <a:bodyPr wrap="square" lIns="0" tIns="0" rIns="0" bIns="0" rtlCol="0" anchor="ctr"/>
          <a:lstStyle/>
          <a:p>
            <a:pPr indent="0" marL="0">
              <a:buNone/>
            </a:pPr>
            <a:r>
              <a:rPr lang="en-US" sz="1000" dirty="0">
                <a:solidFill>
                  <a:srgbClr val="6E7781"/>
                </a:solidFill>
                <a:latin typeface="Segoe UI" pitchFamily="34" charset="0"/>
                <a:ea typeface="Segoe UI" pitchFamily="34" charset="-122"/>
                <a:cs typeface="Segoe UI" pitchFamily="34" charset="-120"/>
              </a:rPr>
              <a:t>その他</a:t>
            </a:r>
            <a:endParaRPr lang="en-US" sz="1000" dirty="0"/>
          </a:p>
        </p:txBody>
      </p:sp>
      <p:sp>
        <p:nvSpPr>
          <p:cNvPr id="61" name="Text 59"/>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250DF"/>
          </a:solidFill>
          <a:ln w="12700">
            <a:solidFill>
              <a:srgbClr val="8250DF"/>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04 — MAI モデルファミリー（Build 2026：7モデル）</a:t>
            </a:r>
            <a:endParaRPr lang="en-US" sz="1900" dirty="0"/>
          </a:p>
        </p:txBody>
      </p:sp>
      <p:sp>
        <p:nvSpPr>
          <p:cNvPr id="4" name="Text 2"/>
          <p:cNvSpPr/>
          <p:nvPr/>
        </p:nvSpPr>
        <p:spPr>
          <a:xfrm>
            <a:off x="274320" y="621792"/>
            <a:ext cx="8595360" cy="329184"/>
          </a:xfrm>
          <a:prstGeom prst="rect">
            <a:avLst/>
          </a:prstGeom>
          <a:noFill/>
          <a:ln/>
        </p:spPr>
        <p:txBody>
          <a:bodyPr wrap="square" lIns="0" tIns="0" rIns="0" bIns="0" rtlCol="0" anchor="ctr"/>
          <a:lstStyle/>
          <a:p>
            <a:pPr indent="0" marL="0">
              <a:buNone/>
            </a:pPr>
            <a:r>
              <a:rPr lang="en-US" sz="1200" dirty="0">
                <a:solidFill>
                  <a:srgbClr val="6E7781"/>
                </a:solidFill>
                <a:latin typeface="Segoe UI" pitchFamily="34" charset="0"/>
                <a:ea typeface="Segoe UI" pitchFamily="34" charset="-122"/>
                <a:cs typeface="Segoe UI" pitchFamily="34" charset="-120"/>
              </a:rPr>
              <a:t>Microsoft が Build 2026 で発表した7つの自社製 AI モデル — すべてゼロから学習（他社モデルからの蒸留なし）</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182880" y="1005840"/>
          <a:ext cx="8778240" cy="914400"/>
        </p:xfrm>
        <a:graphic>
          <a:graphicData uri="http://schemas.openxmlformats.org/drawingml/2006/table">
            <a:tbl>
              <a:tblPr/>
              <a:tblGrid>
                <a:gridCol w="2057400"/>
                <a:gridCol w="1325880"/>
                <a:gridCol w="4114800"/>
                <a:gridCol w="1280160"/>
              </a:tblGrid>
              <a:tr h="603504">
                <a:tc>
                  <a:txBody>
                    <a:bodyPr/>
                    <a:lstStyle/>
                    <a:p>
                      <a:pPr algn="ctr" indent="0" marL="0">
                        <a:buNone/>
                      </a:pPr>
                      <a:r>
                        <a:rPr lang="en-US" sz="1100" b="1" dirty="0">
                          <a:solidFill>
                            <a:srgbClr val="FFFFFF"/>
                          </a:solidFill>
                        </a:rPr>
                        <a:t>モデル</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F2328"/>
                    </a:solidFill>
                  </a:tcPr>
                </a:tc>
                <a:tc>
                  <a:txBody>
                    <a:bodyPr/>
                    <a:lstStyle/>
                    <a:p>
                      <a:pPr algn="ctr" indent="0" marL="0">
                        <a:buNone/>
                      </a:pPr>
                      <a:r>
                        <a:rPr lang="en-US" sz="1100" b="1" dirty="0">
                          <a:solidFill>
                            <a:srgbClr val="FFFFFF"/>
                          </a:solidFill>
                        </a:rPr>
                        <a:t>カテゴリ</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F2328"/>
                    </a:solidFill>
                  </a:tcPr>
                </a:tc>
                <a:tc>
                  <a:txBody>
                    <a:bodyPr/>
                    <a:lstStyle/>
                    <a:p>
                      <a:pPr algn="ctr" indent="0" marL="0">
                        <a:buNone/>
                      </a:pPr>
                      <a:r>
                        <a:rPr lang="en-US" sz="1100" b="1" dirty="0">
                          <a:solidFill>
                            <a:srgbClr val="FFFFFF"/>
                          </a:solidFill>
                        </a:rPr>
                        <a:t>主なスペック・特徴</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F2328"/>
                    </a:solidFill>
                  </a:tcPr>
                </a:tc>
                <a:tc>
                  <a:txBody>
                    <a:bodyPr/>
                    <a:lstStyle/>
                    <a:p>
                      <a:pPr algn="ctr" indent="0" marL="0">
                        <a:buNone/>
                      </a:pPr>
                      <a:r>
                        <a:rPr lang="en-US" sz="1100" b="1" dirty="0">
                          <a:solidFill>
                            <a:srgbClr val="FFFFFF"/>
                          </a:solidFill>
                        </a:rPr>
                        <a:t>状態</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1F2328"/>
                    </a:solidFill>
                  </a:tcPr>
                </a:tc>
              </a:tr>
              <a:tr h="603504">
                <a:tc>
                  <a:txBody>
                    <a:bodyPr/>
                    <a:lstStyle/>
                    <a:p>
                      <a:pPr indent="0" marL="0">
                        <a:buNone/>
                      </a:pPr>
                      <a:r>
                        <a:rPr lang="en-US" sz="1100" b="1" dirty="0">
                          <a:solidFill>
                            <a:srgbClr val="CF222E"/>
                          </a:solidFill>
                        </a:rPr>
                        <a:t>MAI-Code-1-Flash  ★</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コーディング</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000" dirty="0">
                          <a:solidFill>
                            <a:srgbClr val="000000"/>
                          </a:solidFill>
                        </a:rPr>
                        <a:t>5B / GitHub Copilot 専用設計 / SWE-Bench Pro で Haiku 4.5 を +16pt 超 / トークン消費 60% 削減</a:t>
                      </a:r>
                      <a:endParaRPr lang="en-US" sz="10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000" b="1" dirty="0">
                          <a:solidFill>
                            <a:srgbClr val="CF222E"/>
                          </a:solidFill>
                        </a:rPr>
                        <a:t>VS Code 展開中</a:t>
                      </a:r>
                      <a:endParaRPr lang="en-US" sz="10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603504">
                <a:tc>
                  <a:txBody>
                    <a:bodyPr/>
                    <a:lstStyle/>
                    <a:p>
                      <a:pPr indent="0" marL="0">
                        <a:buNone/>
                      </a:pPr>
                      <a:r>
                        <a:rPr lang="en-US" sz="1100" b="1" dirty="0">
                          <a:solidFill>
                            <a:srgbClr val="8250DF"/>
                          </a:solidFill>
                        </a:rPr>
                        <a:t>MAI-Thinking-1</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推論（旗艦）</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000" dirty="0">
                          <a:solidFill>
                            <a:srgbClr val="000000"/>
                          </a:solidFill>
                        </a:rPr>
                        <a:t>35B active（MoE ~1T total）/ 256K ctx / SWE-Bench Pro 52.8% / AIME 97.0%</a:t>
                      </a:r>
                      <a:endParaRPr lang="en-US" sz="10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000" dirty="0">
                          <a:solidFill>
                            <a:srgbClr val="000000"/>
                          </a:solidFill>
                        </a:rPr>
                        <a:t>Foundry Preview</a:t>
                      </a:r>
                      <a:endParaRPr lang="en-US" sz="10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603504">
                <a:tc>
                  <a:txBody>
                    <a:bodyPr/>
                    <a:lstStyle/>
                    <a:p>
                      <a:pPr indent="0" marL="0">
                        <a:buNone/>
                      </a:pPr>
                      <a:r>
                        <a:rPr lang="en-US" sz="1100" b="1" dirty="0">
                          <a:solidFill>
                            <a:srgbClr val="0969DA"/>
                          </a:solidFill>
                        </a:rPr>
                        <a:t>MAI-Image-2.5</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画像生成・編集</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000" dirty="0">
                          <a:solidFill>
                            <a:srgbClr val="000000"/>
                          </a:solidFill>
                        </a:rPr>
                        <a:t>text/image-to-image / Arena.ai 2位 / Flash版（低コスト・高速）も提供</a:t>
                      </a:r>
                      <a:endParaRPr lang="en-US" sz="10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000" dirty="0">
                          <a:solidFill>
                            <a:srgbClr val="000000"/>
                          </a:solidFill>
                        </a:rPr>
                        <a:t>展開済み</a:t>
                      </a:r>
                      <a:endParaRPr lang="en-US" sz="10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603504">
                <a:tc>
                  <a:txBody>
                    <a:bodyPr/>
                    <a:lstStyle/>
                    <a:p>
                      <a:pPr indent="0" marL="0">
                        <a:buNone/>
                      </a:pPr>
                      <a:r>
                        <a:rPr lang="en-US" sz="1100" b="1" dirty="0">
                          <a:solidFill>
                            <a:srgbClr val="2DA44E"/>
                          </a:solidFill>
                        </a:rPr>
                        <a:t>MAI-Voice-2</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音声合成</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000" dirty="0">
                          <a:solidFill>
                            <a:srgbClr val="000000"/>
                          </a:solidFill>
                        </a:rPr>
                        <a:t>15以上の言語 / 感情表現・プロソディ制御 / 短いサンプルから声紋クローニング / Flash版あり</a:t>
                      </a:r>
                      <a:endParaRPr lang="en-US" sz="10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000" dirty="0">
                          <a:solidFill>
                            <a:srgbClr val="000000"/>
                          </a:solidFill>
                        </a:rPr>
                        <a:t>—</a:t>
                      </a:r>
                      <a:endParaRPr lang="en-US" sz="10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603504">
                <a:tc>
                  <a:txBody>
                    <a:bodyPr/>
                    <a:lstStyle/>
                    <a:p>
                      <a:pPr indent="0" marL="0">
                        <a:buNone/>
                      </a:pPr>
                      <a:r>
                        <a:rPr lang="en-US" sz="1100" b="1" dirty="0">
                          <a:solidFill>
                            <a:srgbClr val="BC4C00"/>
                          </a:solidFill>
                        </a:rPr>
                        <a:t>MAI-Transcribe-1.5</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100" dirty="0">
                          <a:solidFill>
                            <a:srgbClr val="000000"/>
                          </a:solidFill>
                        </a:rPr>
                        <a:t>音声認識</a:t>
                      </a:r>
                      <a:endParaRPr lang="en-US" sz="11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000" dirty="0">
                          <a:solidFill>
                            <a:srgbClr val="000000"/>
                          </a:solidFill>
                        </a:rPr>
                        <a:t>43言語対応 / FLEURS ベンチマーク最高精度 / 競合比最大 5 倍高速 / コンテンツバイアス補正</a:t>
                      </a:r>
                      <a:endParaRPr lang="en-US" sz="10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000" dirty="0">
                          <a:solidFill>
                            <a:srgbClr val="000000"/>
                          </a:solidFill>
                        </a:rPr>
                        <a:t>—</a:t>
                      </a:r>
                      <a:endParaRPr lang="en-US" sz="1000" dirty="0"/>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bl>
          </a:graphicData>
        </a:graphic>
      </p:graphicFrame>
      <p:sp>
        <p:nvSpPr>
          <p:cNvPr id="6" name="Shape 3"/>
          <p:cNvSpPr/>
          <p:nvPr/>
        </p:nvSpPr>
        <p:spPr>
          <a:xfrm>
            <a:off x="182880" y="4663440"/>
            <a:ext cx="8778240" cy="292608"/>
          </a:xfrm>
          <a:prstGeom prst="rect">
            <a:avLst/>
          </a:prstGeom>
          <a:solidFill>
            <a:srgbClr val="FBEFFF"/>
          </a:solidFill>
          <a:ln w="6350">
            <a:solidFill>
              <a:srgbClr val="8250DF"/>
            </a:solidFill>
            <a:prstDash val="solid"/>
          </a:ln>
        </p:spPr>
      </p:sp>
      <p:sp>
        <p:nvSpPr>
          <p:cNvPr id="7" name="Text 4"/>
          <p:cNvSpPr/>
          <p:nvPr/>
        </p:nvSpPr>
        <p:spPr>
          <a:xfrm>
            <a:off x="320040" y="4663440"/>
            <a:ext cx="8503920" cy="292608"/>
          </a:xfrm>
          <a:prstGeom prst="rect">
            <a:avLst/>
          </a:prstGeom>
          <a:noFill/>
          <a:ln/>
        </p:spPr>
        <p:txBody>
          <a:bodyPr wrap="square" lIns="0" tIns="0" rIns="0" bIns="0" rtlCol="0" anchor="ctr"/>
          <a:lstStyle/>
          <a:p>
            <a:pPr indent="0" marL="0">
              <a:buNone/>
            </a:pPr>
            <a:r>
              <a:rPr lang="en-US" sz="1100" i="1" dirty="0">
                <a:solidFill>
                  <a:srgbClr val="8250DF"/>
                </a:solidFill>
                <a:latin typeface="Segoe UI" pitchFamily="34" charset="0"/>
                <a:ea typeface="Segoe UI" pitchFamily="34" charset="-122"/>
                <a:cs typeface="Segoe UI" pitchFamily="34" charset="-120"/>
              </a:rPr>
              <a:t>"We train our reasoning models from scratch. We don't distill from other labs." — Microsoft</a:t>
            </a:r>
            <a:endParaRPr lang="en-US" sz="1100" dirty="0"/>
          </a:p>
        </p:txBody>
      </p:sp>
      <p:sp>
        <p:nvSpPr>
          <p:cNvPr id="8" name="Text 5"/>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250DF"/>
          </a:solidFill>
          <a:ln w="12700">
            <a:solidFill>
              <a:srgbClr val="8250DF"/>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04 — MAI-Code-1-Flash &amp; Frontier Tuning</a:t>
            </a:r>
            <a:endParaRPr lang="en-US" sz="1900" dirty="0"/>
          </a:p>
        </p:txBody>
      </p:sp>
      <p:sp>
        <p:nvSpPr>
          <p:cNvPr id="4" name="Shape 2"/>
          <p:cNvSpPr/>
          <p:nvPr/>
        </p:nvSpPr>
        <p:spPr>
          <a:xfrm>
            <a:off x="182880" y="640080"/>
            <a:ext cx="4343400" cy="429768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40080"/>
            <a:ext cx="64008" cy="4297680"/>
          </a:xfrm>
          <a:prstGeom prst="rect">
            <a:avLst/>
          </a:prstGeom>
          <a:solidFill>
            <a:srgbClr val="CF222E"/>
          </a:solidFill>
          <a:ln w="12700">
            <a:solidFill>
              <a:srgbClr val="CF222E"/>
            </a:solidFill>
            <a:prstDash val="solid"/>
          </a:ln>
        </p:spPr>
      </p:sp>
      <p:sp>
        <p:nvSpPr>
          <p:cNvPr id="6" name="Text 4"/>
          <p:cNvSpPr/>
          <p:nvPr/>
        </p:nvSpPr>
        <p:spPr>
          <a:xfrm>
            <a:off x="411480" y="713232"/>
            <a:ext cx="3931920" cy="384048"/>
          </a:xfrm>
          <a:prstGeom prst="rect">
            <a:avLst/>
          </a:prstGeom>
          <a:noFill/>
          <a:ln/>
        </p:spPr>
        <p:txBody>
          <a:bodyPr wrap="square" lIns="0" tIns="0" rIns="0" bIns="0" rtlCol="0" anchor="ctr"/>
          <a:lstStyle/>
          <a:p>
            <a:pPr indent="0" marL="0">
              <a:buNone/>
            </a:pPr>
            <a:r>
              <a:rPr lang="en-US" sz="1600" b="1" dirty="0">
                <a:solidFill>
                  <a:srgbClr val="CF222E"/>
                </a:solidFill>
                <a:latin typeface="Segoe UI" pitchFamily="34" charset="0"/>
                <a:ea typeface="Segoe UI" pitchFamily="34" charset="-122"/>
                <a:cs typeface="Segoe UI" pitchFamily="34" charset="-120"/>
              </a:rPr>
              <a:t>MAI-Code-1-Flash</a:t>
            </a:r>
            <a:endParaRPr lang="en-US" sz="1600" dirty="0"/>
          </a:p>
        </p:txBody>
      </p:sp>
      <p:sp>
        <p:nvSpPr>
          <p:cNvPr id="7" name="Text 5"/>
          <p:cNvSpPr/>
          <p:nvPr/>
        </p:nvSpPr>
        <p:spPr>
          <a:xfrm>
            <a:off x="411480" y="1133856"/>
            <a:ext cx="3931920" cy="329184"/>
          </a:xfrm>
          <a:prstGeom prst="rect">
            <a:avLst/>
          </a:prstGeom>
          <a:noFill/>
          <a:ln/>
        </p:spPr>
        <p:txBody>
          <a:bodyPr wrap="square" lIns="0" tIns="0" rIns="0" bIns="0" rtlCol="0" anchor="ctr"/>
          <a:lstStyle/>
          <a:p>
            <a:pPr indent="0" marL="0">
              <a:buNone/>
            </a:pPr>
            <a:r>
              <a:rPr lang="en-US" sz="1200" dirty="0">
                <a:solidFill>
                  <a:srgbClr val="6E7781"/>
                </a:solidFill>
                <a:latin typeface="Segoe UI" pitchFamily="34" charset="0"/>
                <a:ea typeface="Segoe UI" pitchFamily="34" charset="-122"/>
                <a:cs typeface="Segoe UI" pitchFamily="34" charset="-120"/>
              </a:rPr>
              <a:t>GitHub Copilot 専用設計の最初の MAI モデル</a:t>
            </a:r>
            <a:endParaRPr lang="en-US" sz="1200" dirty="0"/>
          </a:p>
        </p:txBody>
      </p:sp>
      <p:sp>
        <p:nvSpPr>
          <p:cNvPr id="8" name="Shape 6"/>
          <p:cNvSpPr/>
          <p:nvPr/>
        </p:nvSpPr>
        <p:spPr>
          <a:xfrm>
            <a:off x="320040" y="1536192"/>
            <a:ext cx="1280160" cy="1005840"/>
          </a:xfrm>
          <a:prstGeom prst="rect">
            <a:avLst/>
          </a:prstGeom>
          <a:solidFill>
            <a:srgbClr val="FFFFFF"/>
          </a:solidFill>
          <a:ln w="19050">
            <a:solidFill>
              <a:srgbClr val="CF222E"/>
            </a:solidFill>
            <a:prstDash val="solid"/>
          </a:ln>
          <a:effectLst>
            <a:outerShdw sx="100000" sy="100000" kx="0" ky="0" algn="bl" rotWithShape="0" blurRad="63500" dist="25400" dir="8100000">
              <a:srgbClr val="000000">
                <a:alpha val="10000"/>
              </a:srgbClr>
            </a:outerShdw>
          </a:effectLst>
        </p:spPr>
      </p:sp>
      <p:sp>
        <p:nvSpPr>
          <p:cNvPr id="9" name="Text 7"/>
          <p:cNvSpPr/>
          <p:nvPr/>
        </p:nvSpPr>
        <p:spPr>
          <a:xfrm>
            <a:off x="320040" y="1572768"/>
            <a:ext cx="1280160" cy="475488"/>
          </a:xfrm>
          <a:prstGeom prst="rect">
            <a:avLst/>
          </a:prstGeom>
          <a:noFill/>
          <a:ln/>
        </p:spPr>
        <p:txBody>
          <a:bodyPr wrap="square" lIns="0" tIns="0" rIns="0" bIns="0" rtlCol="0" anchor="ctr"/>
          <a:lstStyle/>
          <a:p>
            <a:pPr algn="ctr" indent="0" marL="0">
              <a:buNone/>
            </a:pPr>
            <a:r>
              <a:rPr lang="en-US" sz="2600" b="1" dirty="0">
                <a:solidFill>
                  <a:srgbClr val="CF222E"/>
                </a:solidFill>
                <a:latin typeface="Segoe UI" pitchFamily="34" charset="0"/>
                <a:ea typeface="Segoe UI" pitchFamily="34" charset="-122"/>
                <a:cs typeface="Segoe UI" pitchFamily="34" charset="-120"/>
              </a:rPr>
              <a:t>5B</a:t>
            </a:r>
            <a:endParaRPr lang="en-US" sz="2600" dirty="0"/>
          </a:p>
        </p:txBody>
      </p:sp>
      <p:sp>
        <p:nvSpPr>
          <p:cNvPr id="10" name="Text 8"/>
          <p:cNvSpPr/>
          <p:nvPr/>
        </p:nvSpPr>
        <p:spPr>
          <a:xfrm>
            <a:off x="320040" y="2084832"/>
            <a:ext cx="1280160" cy="402336"/>
          </a:xfrm>
          <a:prstGeom prst="rect">
            <a:avLst/>
          </a:prstGeom>
          <a:noFill/>
          <a:ln/>
        </p:spPr>
        <p:txBody>
          <a:bodyPr wrap="square" lIns="0" tIns="0" rIns="0" bIns="0" rtlCol="0" anchor="t"/>
          <a:lstStyle/>
          <a:p>
            <a:pPr algn="ctr" indent="0" marL="0">
              <a:buNone/>
            </a:pPr>
            <a:r>
              <a:rPr lang="en-US" sz="1000" dirty="0">
                <a:solidFill>
                  <a:srgbClr val="6E7781"/>
                </a:solidFill>
                <a:latin typeface="Segoe UI" pitchFamily="34" charset="0"/>
                <a:ea typeface="Segoe UI" pitchFamily="34" charset="-122"/>
                <a:cs typeface="Segoe UI" pitchFamily="34" charset="-120"/>
              </a:rPr>
              <a:t>パラメータ数</a:t>
            </a:r>
            <a:endParaRPr lang="en-US" sz="1000" dirty="0"/>
          </a:p>
        </p:txBody>
      </p:sp>
      <p:sp>
        <p:nvSpPr>
          <p:cNvPr id="11" name="Shape 9"/>
          <p:cNvSpPr/>
          <p:nvPr/>
        </p:nvSpPr>
        <p:spPr>
          <a:xfrm>
            <a:off x="1737360" y="1536192"/>
            <a:ext cx="1280160" cy="1005840"/>
          </a:xfrm>
          <a:prstGeom prst="rect">
            <a:avLst/>
          </a:prstGeom>
          <a:solidFill>
            <a:srgbClr val="FFFFFF"/>
          </a:solidFill>
          <a:ln w="19050">
            <a:solidFill>
              <a:srgbClr val="2DA44E"/>
            </a:solidFill>
            <a:prstDash val="solid"/>
          </a:ln>
          <a:effectLst>
            <a:outerShdw sx="100000" sy="100000" kx="0" ky="0" algn="bl" rotWithShape="0" blurRad="63500" dist="25400" dir="8100000">
              <a:srgbClr val="000000">
                <a:alpha val="10000"/>
              </a:srgbClr>
            </a:outerShdw>
          </a:effectLst>
        </p:spPr>
      </p:sp>
      <p:sp>
        <p:nvSpPr>
          <p:cNvPr id="12" name="Text 10"/>
          <p:cNvSpPr/>
          <p:nvPr/>
        </p:nvSpPr>
        <p:spPr>
          <a:xfrm>
            <a:off x="1737360" y="1572768"/>
            <a:ext cx="1280160" cy="475488"/>
          </a:xfrm>
          <a:prstGeom prst="rect">
            <a:avLst/>
          </a:prstGeom>
          <a:noFill/>
          <a:ln/>
        </p:spPr>
        <p:txBody>
          <a:bodyPr wrap="square" lIns="0" tIns="0" rIns="0" bIns="0" rtlCol="0" anchor="ctr"/>
          <a:lstStyle/>
          <a:p>
            <a:pPr algn="ctr" indent="0" marL="0">
              <a:buNone/>
            </a:pPr>
            <a:r>
              <a:rPr lang="en-US" sz="2600" b="1" dirty="0">
                <a:solidFill>
                  <a:srgbClr val="2DA44E"/>
                </a:solidFill>
                <a:latin typeface="Segoe UI" pitchFamily="34" charset="0"/>
                <a:ea typeface="Segoe UI" pitchFamily="34" charset="-122"/>
                <a:cs typeface="Segoe UI" pitchFamily="34" charset="-120"/>
              </a:rPr>
              <a:t>+16pt</a:t>
            </a:r>
            <a:endParaRPr lang="en-US" sz="2600" dirty="0"/>
          </a:p>
        </p:txBody>
      </p:sp>
      <p:sp>
        <p:nvSpPr>
          <p:cNvPr id="13" name="Text 11"/>
          <p:cNvSpPr/>
          <p:nvPr/>
        </p:nvSpPr>
        <p:spPr>
          <a:xfrm>
            <a:off x="1737360" y="2084832"/>
            <a:ext cx="1280160" cy="402336"/>
          </a:xfrm>
          <a:prstGeom prst="rect">
            <a:avLst/>
          </a:prstGeom>
          <a:noFill/>
          <a:ln/>
        </p:spPr>
        <p:txBody>
          <a:bodyPr wrap="square" lIns="0" tIns="0" rIns="0" bIns="0" rtlCol="0" anchor="t"/>
          <a:lstStyle/>
          <a:p>
            <a:pPr algn="ctr" indent="0" marL="0">
              <a:buNone/>
            </a:pPr>
            <a:r>
              <a:rPr lang="en-US" sz="1000" dirty="0">
                <a:solidFill>
                  <a:srgbClr val="6E7781"/>
                </a:solidFill>
                <a:latin typeface="Segoe UI" pitchFamily="34" charset="0"/>
                <a:ea typeface="Segoe UI" pitchFamily="34" charset="-122"/>
                <a:cs typeface="Segoe UI" pitchFamily="34" charset="-120"/>
              </a:rPr>
              <a:t>vs Haiku 4.5</a:t>
            </a:r>
            <a:endParaRPr lang="en-US" sz="1000" dirty="0"/>
          </a:p>
          <a:p>
            <a:pPr algn="ctr" indent="0" marL="0">
              <a:buNone/>
            </a:pPr>
            <a:r>
              <a:rPr lang="en-US" sz="1000" dirty="0">
                <a:solidFill>
                  <a:srgbClr val="6E7781"/>
                </a:solidFill>
                <a:latin typeface="Segoe UI" pitchFamily="34" charset="0"/>
                <a:ea typeface="Segoe UI" pitchFamily="34" charset="-122"/>
                <a:cs typeface="Segoe UI" pitchFamily="34" charset="-120"/>
              </a:rPr>
              <a:t>SWE-Bench Pro</a:t>
            </a:r>
            <a:endParaRPr lang="en-US" sz="1000" dirty="0"/>
          </a:p>
        </p:txBody>
      </p:sp>
      <p:sp>
        <p:nvSpPr>
          <p:cNvPr id="14" name="Shape 12"/>
          <p:cNvSpPr/>
          <p:nvPr/>
        </p:nvSpPr>
        <p:spPr>
          <a:xfrm>
            <a:off x="3154680" y="1536192"/>
            <a:ext cx="1280160" cy="1005840"/>
          </a:xfrm>
          <a:prstGeom prst="rect">
            <a:avLst/>
          </a:prstGeom>
          <a:solidFill>
            <a:srgbClr val="FFFFFF"/>
          </a:solidFill>
          <a:ln w="19050">
            <a:solidFill>
              <a:srgbClr val="0969DA"/>
            </a:solidFill>
            <a:prstDash val="solid"/>
          </a:ln>
          <a:effectLst>
            <a:outerShdw sx="100000" sy="100000" kx="0" ky="0" algn="bl" rotWithShape="0" blurRad="63500" dist="25400" dir="8100000">
              <a:srgbClr val="000000">
                <a:alpha val="10000"/>
              </a:srgbClr>
            </a:outerShdw>
          </a:effectLst>
        </p:spPr>
      </p:sp>
      <p:sp>
        <p:nvSpPr>
          <p:cNvPr id="15" name="Text 13"/>
          <p:cNvSpPr/>
          <p:nvPr/>
        </p:nvSpPr>
        <p:spPr>
          <a:xfrm>
            <a:off x="3154680" y="1572768"/>
            <a:ext cx="1280160" cy="475488"/>
          </a:xfrm>
          <a:prstGeom prst="rect">
            <a:avLst/>
          </a:prstGeom>
          <a:noFill/>
          <a:ln/>
        </p:spPr>
        <p:txBody>
          <a:bodyPr wrap="square" lIns="0" tIns="0" rIns="0" bIns="0" rtlCol="0" anchor="ctr"/>
          <a:lstStyle/>
          <a:p>
            <a:pPr algn="ctr" indent="0" marL="0">
              <a:buNone/>
            </a:pPr>
            <a:r>
              <a:rPr lang="en-US" sz="2600" b="1" dirty="0">
                <a:solidFill>
                  <a:srgbClr val="0969DA"/>
                </a:solidFill>
                <a:latin typeface="Segoe UI" pitchFamily="34" charset="0"/>
                <a:ea typeface="Segoe UI" pitchFamily="34" charset="-122"/>
                <a:cs typeface="Segoe UI" pitchFamily="34" charset="-120"/>
              </a:rPr>
              <a:t>-60%</a:t>
            </a:r>
            <a:endParaRPr lang="en-US" sz="2600" dirty="0"/>
          </a:p>
        </p:txBody>
      </p:sp>
      <p:sp>
        <p:nvSpPr>
          <p:cNvPr id="16" name="Text 14"/>
          <p:cNvSpPr/>
          <p:nvPr/>
        </p:nvSpPr>
        <p:spPr>
          <a:xfrm>
            <a:off x="3154680" y="2084832"/>
            <a:ext cx="1280160" cy="402336"/>
          </a:xfrm>
          <a:prstGeom prst="rect">
            <a:avLst/>
          </a:prstGeom>
          <a:noFill/>
          <a:ln/>
        </p:spPr>
        <p:txBody>
          <a:bodyPr wrap="square" lIns="0" tIns="0" rIns="0" bIns="0" rtlCol="0" anchor="t"/>
          <a:lstStyle/>
          <a:p>
            <a:pPr algn="ctr" indent="0" marL="0">
              <a:buNone/>
            </a:pPr>
            <a:r>
              <a:rPr lang="en-US" sz="1000" dirty="0">
                <a:solidFill>
                  <a:srgbClr val="6E7781"/>
                </a:solidFill>
                <a:latin typeface="Segoe UI" pitchFamily="34" charset="0"/>
                <a:ea typeface="Segoe UI" pitchFamily="34" charset="-122"/>
                <a:cs typeface="Segoe UI" pitchFamily="34" charset="-120"/>
              </a:rPr>
              <a:t>トークン</a:t>
            </a:r>
            <a:endParaRPr lang="en-US" sz="1000" dirty="0"/>
          </a:p>
          <a:p>
            <a:pPr algn="ctr" indent="0" marL="0">
              <a:buNone/>
            </a:pPr>
            <a:r>
              <a:rPr lang="en-US" sz="1000" dirty="0">
                <a:solidFill>
                  <a:srgbClr val="6E7781"/>
                </a:solidFill>
                <a:latin typeface="Segoe UI" pitchFamily="34" charset="0"/>
                <a:ea typeface="Segoe UI" pitchFamily="34" charset="-122"/>
                <a:cs typeface="Segoe UI" pitchFamily="34" charset="-120"/>
              </a:rPr>
              <a:t>消費量削減</a:t>
            </a:r>
            <a:endParaRPr lang="en-US" sz="1000" dirty="0"/>
          </a:p>
        </p:txBody>
      </p:sp>
      <p:sp>
        <p:nvSpPr>
          <p:cNvPr id="17" name="Text 15"/>
          <p:cNvSpPr/>
          <p:nvPr/>
        </p:nvSpPr>
        <p:spPr>
          <a:xfrm>
            <a:off x="411480" y="2651760"/>
            <a:ext cx="3840480" cy="1920240"/>
          </a:xfrm>
          <a:prstGeom prst="rect">
            <a:avLst/>
          </a:prstGeom>
          <a:noFill/>
          <a:ln/>
        </p:spPr>
        <p:txBody>
          <a:bodyPr wrap="square" lIns="50800" tIns="50800" rIns="50800" bIns="50800" rtlCol="0" anchor="t"/>
          <a:lstStyle/>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VS Code から提供開始、モデルピッカーで選択可能</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提供プラン：Free / Student / Pro / Pro+ / Max（段階展開）</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「Microsoft 製コーディングモデルの新しい波の第一弾」</a:t>
            </a:r>
            <a:endParaRPr lang="en-US" sz="1200" dirty="0"/>
          </a:p>
        </p:txBody>
      </p:sp>
      <p:sp>
        <p:nvSpPr>
          <p:cNvPr id="18" name="Shape 16"/>
          <p:cNvSpPr/>
          <p:nvPr/>
        </p:nvSpPr>
        <p:spPr>
          <a:xfrm>
            <a:off x="4709160" y="640080"/>
            <a:ext cx="4206240" cy="429768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9" name="Shape 17"/>
          <p:cNvSpPr/>
          <p:nvPr/>
        </p:nvSpPr>
        <p:spPr>
          <a:xfrm>
            <a:off x="4709160" y="640080"/>
            <a:ext cx="64008" cy="4297680"/>
          </a:xfrm>
          <a:prstGeom prst="rect">
            <a:avLst/>
          </a:prstGeom>
          <a:solidFill>
            <a:srgbClr val="8250DF"/>
          </a:solidFill>
          <a:ln w="12700">
            <a:solidFill>
              <a:srgbClr val="8250DF"/>
            </a:solidFill>
            <a:prstDash val="solid"/>
          </a:ln>
        </p:spPr>
      </p:sp>
      <p:sp>
        <p:nvSpPr>
          <p:cNvPr id="20" name="Text 18"/>
          <p:cNvSpPr/>
          <p:nvPr/>
        </p:nvSpPr>
        <p:spPr>
          <a:xfrm>
            <a:off x="4937760" y="713232"/>
            <a:ext cx="3749040" cy="384048"/>
          </a:xfrm>
          <a:prstGeom prst="rect">
            <a:avLst/>
          </a:prstGeom>
          <a:noFill/>
          <a:ln/>
        </p:spPr>
        <p:txBody>
          <a:bodyPr wrap="square" lIns="0" tIns="0" rIns="0" bIns="0" rtlCol="0" anchor="ctr"/>
          <a:lstStyle/>
          <a:p>
            <a:pPr indent="0" marL="0">
              <a:buNone/>
            </a:pPr>
            <a:r>
              <a:rPr lang="en-US" sz="1600" b="1" dirty="0">
                <a:solidFill>
                  <a:srgbClr val="8250DF"/>
                </a:solidFill>
                <a:latin typeface="Segoe UI" pitchFamily="34" charset="0"/>
                <a:ea typeface="Segoe UI" pitchFamily="34" charset="-122"/>
                <a:cs typeface="Segoe UI" pitchFamily="34" charset="-120"/>
              </a:rPr>
              <a:t>Frontier Tuning</a:t>
            </a:r>
            <a:endParaRPr lang="en-US" sz="1600" dirty="0"/>
          </a:p>
        </p:txBody>
      </p:sp>
      <p:sp>
        <p:nvSpPr>
          <p:cNvPr id="21" name="Text 19"/>
          <p:cNvSpPr/>
          <p:nvPr/>
        </p:nvSpPr>
        <p:spPr>
          <a:xfrm>
            <a:off x="4937760" y="1133856"/>
            <a:ext cx="3749040" cy="329184"/>
          </a:xfrm>
          <a:prstGeom prst="rect">
            <a:avLst/>
          </a:prstGeom>
          <a:noFill/>
          <a:ln/>
        </p:spPr>
        <p:txBody>
          <a:bodyPr wrap="square" lIns="0" tIns="0" rIns="0" bIns="0" rtlCol="0" anchor="ctr"/>
          <a:lstStyle/>
          <a:p>
            <a:pPr indent="0" marL="0">
              <a:buNone/>
            </a:pPr>
            <a:r>
              <a:rPr lang="en-US" sz="1200" dirty="0">
                <a:solidFill>
                  <a:srgbClr val="6E7781"/>
                </a:solidFill>
                <a:latin typeface="Segoe UI" pitchFamily="34" charset="0"/>
                <a:ea typeface="Segoe UI" pitchFamily="34" charset="-122"/>
                <a:cs typeface="Segoe UI" pitchFamily="34" charset="-120"/>
              </a:rPr>
              <a:t>企業ワークフローでモデルをカスタム RL 学習</a:t>
            </a:r>
            <a:endParaRPr lang="en-US" sz="1200" dirty="0"/>
          </a:p>
        </p:txBody>
      </p:sp>
      <p:sp>
        <p:nvSpPr>
          <p:cNvPr id="22" name="Text 20"/>
          <p:cNvSpPr/>
          <p:nvPr/>
        </p:nvSpPr>
        <p:spPr>
          <a:xfrm>
            <a:off x="4937760" y="1572768"/>
            <a:ext cx="3749040" cy="1645920"/>
          </a:xfrm>
          <a:prstGeom prst="rect">
            <a:avLst/>
          </a:prstGeom>
          <a:noFill/>
          <a:ln/>
        </p:spPr>
        <p:txBody>
          <a:bodyPr wrap="square" lIns="50800" tIns="50800" rIns="50800" bIns="50800" rtlCol="0" anchor="t"/>
          <a:lstStyle/>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強化学習（RL）を実際の業務環境で適用</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学習データは企業自身のもの：エージェントが完了したタスクのトレース</a:t>
            </a:r>
            <a:endParaRPr lang="en-US" sz="1200" dirty="0"/>
          </a:p>
          <a:p>
            <a:pPr marL="342900" indent="-342900">
              <a:spcAft>
                <a:spcPts val="800"/>
              </a:spcAft>
              <a:buSzPct val="100000"/>
              <a:buChar char="•"/>
            </a:pPr>
            <a:r>
              <a:rPr lang="en-US" sz="1200" dirty="0">
                <a:solidFill>
                  <a:srgbClr val="1F2328"/>
                </a:solidFill>
                <a:latin typeface="Segoe UI" pitchFamily="34" charset="0"/>
                <a:ea typeface="Segoe UI" pitchFamily="34" charset="-122"/>
                <a:cs typeface="Segoe UI" pitchFamily="34" charset="-120"/>
              </a:rPr>
              <a:t>チューニング後のモデルは企業環境内に留まり外部に出ない</a:t>
            </a:r>
            <a:endParaRPr lang="en-US" sz="1200" dirty="0"/>
          </a:p>
        </p:txBody>
      </p:sp>
      <p:sp>
        <p:nvSpPr>
          <p:cNvPr id="23" name="Shape 21"/>
          <p:cNvSpPr/>
          <p:nvPr/>
        </p:nvSpPr>
        <p:spPr>
          <a:xfrm>
            <a:off x="4846320" y="3337560"/>
            <a:ext cx="3931920" cy="1417320"/>
          </a:xfrm>
          <a:prstGeom prst="rect">
            <a:avLst/>
          </a:prstGeom>
          <a:solidFill>
            <a:srgbClr val="FBEFFF"/>
          </a:solidFill>
          <a:ln w="12700">
            <a:solidFill>
              <a:srgbClr val="8250DF"/>
            </a:solidFill>
            <a:prstDash val="solid"/>
          </a:ln>
        </p:spPr>
      </p:sp>
      <p:sp>
        <p:nvSpPr>
          <p:cNvPr id="24" name="Text 22"/>
          <p:cNvSpPr/>
          <p:nvPr/>
        </p:nvSpPr>
        <p:spPr>
          <a:xfrm>
            <a:off x="4983480" y="3401568"/>
            <a:ext cx="3657600" cy="365760"/>
          </a:xfrm>
          <a:prstGeom prst="rect">
            <a:avLst/>
          </a:prstGeom>
          <a:noFill/>
          <a:ln/>
        </p:spPr>
        <p:txBody>
          <a:bodyPr wrap="square" lIns="0" tIns="0" rIns="0" bIns="0" rtlCol="0" anchor="ctr"/>
          <a:lstStyle/>
          <a:p>
            <a:pPr indent="0" marL="0">
              <a:buNone/>
            </a:pPr>
            <a:r>
              <a:rPr lang="en-US" sz="1300" b="1" dirty="0">
                <a:solidFill>
                  <a:srgbClr val="8250DF"/>
                </a:solidFill>
                <a:latin typeface="Segoe UI" pitchFamily="34" charset="0"/>
                <a:ea typeface="Segoe UI" pitchFamily="34" charset="-122"/>
                <a:cs typeface="Segoe UI" pitchFamily="34" charset="-120"/>
              </a:rPr>
              <a:t>実績例 — Excel 向けチューニング</a:t>
            </a:r>
            <a:endParaRPr lang="en-US" sz="1300" dirty="0"/>
          </a:p>
        </p:txBody>
      </p:sp>
      <p:sp>
        <p:nvSpPr>
          <p:cNvPr id="25" name="Text 23"/>
          <p:cNvSpPr/>
          <p:nvPr/>
        </p:nvSpPr>
        <p:spPr>
          <a:xfrm>
            <a:off x="4983480" y="3822192"/>
            <a:ext cx="3657600" cy="822960"/>
          </a:xfrm>
          <a:prstGeom prst="rect">
            <a:avLst/>
          </a:prstGeom>
          <a:noFill/>
          <a:ln/>
        </p:spPr>
        <p:txBody>
          <a:bodyPr wrap="square" lIns="0" tIns="0" rIns="0" bIns="0" rtlCol="0" anchor="ctr"/>
          <a:lstStyle/>
          <a:p>
            <a:pPr indent="0" marL="0">
              <a:buNone/>
            </a:pPr>
            <a:r>
              <a:rPr lang="en-US" sz="1400" b="1" dirty="0">
                <a:solidFill>
                  <a:srgbClr val="1F2328"/>
                </a:solidFill>
                <a:latin typeface="Segoe UI" pitchFamily="34" charset="0"/>
                <a:ea typeface="Segoe UI" pitchFamily="34" charset="-122"/>
                <a:cs typeface="Segoe UI" pitchFamily="34" charset="-120"/>
              </a:rPr>
              <a:t>GPT 5.4 と同等の精度 を
</a:t>
            </a:r>
            <a:pPr indent="0" marL="0">
              <a:buNone/>
            </a:pPr>
            <a:r>
              <a:rPr lang="en-US" sz="2200" b="1" dirty="0">
                <a:solidFill>
                  <a:srgbClr val="CF222E"/>
                </a:solidFill>
                <a:latin typeface="Segoe UI" pitchFamily="34" charset="0"/>
                <a:ea typeface="Segoe UI" pitchFamily="34" charset="-122"/>
                <a:cs typeface="Segoe UI" pitchFamily="34" charset="-120"/>
              </a:rPr>
              <a:t>10倍の効率</a:t>
            </a:r>
            <a:pPr indent="0" marL="0">
              <a:buNone/>
            </a:pPr>
            <a:r>
              <a:rPr lang="en-US" sz="1400" dirty="0">
                <a:solidFill>
                  <a:srgbClr val="1F2328"/>
                </a:solidFill>
                <a:latin typeface="Segoe UI" pitchFamily="34" charset="0"/>
                <a:ea typeface="Segoe UI" pitchFamily="34" charset="-122"/>
                <a:cs typeface="Segoe UI" pitchFamily="34" charset="-120"/>
              </a:rPr>
              <a:t> で達成</a:t>
            </a:r>
            <a:endParaRPr lang="en-US" sz="1400" dirty="0"/>
          </a:p>
        </p:txBody>
      </p:sp>
      <p:sp>
        <p:nvSpPr>
          <p:cNvPr id="26" name="Text 24"/>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F2328"/>
          </a:solidFill>
          <a:ln w="12700">
            <a:solidFill>
              <a:srgbClr val="1F2328"/>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まとめ — 3つのメッセージ</a:t>
            </a:r>
            <a:endParaRPr lang="en-US" sz="1900" dirty="0"/>
          </a:p>
        </p:txBody>
      </p:sp>
      <p:sp>
        <p:nvSpPr>
          <p:cNvPr id="4" name="Shape 2"/>
          <p:cNvSpPr/>
          <p:nvPr/>
        </p:nvSpPr>
        <p:spPr>
          <a:xfrm>
            <a:off x="182880" y="685800"/>
            <a:ext cx="8778240" cy="128016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85800"/>
            <a:ext cx="914400" cy="1280160"/>
          </a:xfrm>
          <a:prstGeom prst="rect">
            <a:avLst/>
          </a:prstGeom>
          <a:solidFill>
            <a:srgbClr val="0969DA"/>
          </a:solidFill>
          <a:ln w="12700">
            <a:solidFill>
              <a:srgbClr val="0969DA"/>
            </a:solidFill>
            <a:prstDash val="solid"/>
          </a:ln>
        </p:spPr>
      </p:sp>
      <p:sp>
        <p:nvSpPr>
          <p:cNvPr id="6" name="Text 4"/>
          <p:cNvSpPr/>
          <p:nvPr/>
        </p:nvSpPr>
        <p:spPr>
          <a:xfrm>
            <a:off x="182880" y="685800"/>
            <a:ext cx="914400" cy="1280160"/>
          </a:xfrm>
          <a:prstGeom prst="rect">
            <a:avLst/>
          </a:prstGeom>
          <a:noFill/>
          <a:ln/>
        </p:spPr>
        <p:txBody>
          <a:bodyPr wrap="square" lIns="0" tIns="0" rIns="0" bIns="0" rtlCol="0" anchor="ctr"/>
          <a:lstStyle/>
          <a:p>
            <a:pPr algn="ctr" indent="0" marL="0">
              <a:buNone/>
            </a:pPr>
            <a:r>
              <a:rPr lang="en-US" sz="4000" b="1" dirty="0">
                <a:solidFill>
                  <a:srgbClr val="FFFFFF"/>
                </a:solidFill>
                <a:latin typeface="Segoe UI" pitchFamily="34" charset="0"/>
                <a:ea typeface="Segoe UI" pitchFamily="34" charset="-122"/>
                <a:cs typeface="Segoe UI" pitchFamily="34" charset="-120"/>
              </a:rPr>
              <a:t>1</a:t>
            </a:r>
            <a:endParaRPr lang="en-US" sz="4000" dirty="0"/>
          </a:p>
        </p:txBody>
      </p:sp>
      <p:sp>
        <p:nvSpPr>
          <p:cNvPr id="7" name="Text 5"/>
          <p:cNvSpPr/>
          <p:nvPr/>
        </p:nvSpPr>
        <p:spPr>
          <a:xfrm>
            <a:off x="1234440" y="777240"/>
            <a:ext cx="5486400" cy="384048"/>
          </a:xfrm>
          <a:prstGeom prst="rect">
            <a:avLst/>
          </a:prstGeom>
          <a:noFill/>
          <a:ln/>
        </p:spPr>
        <p:txBody>
          <a:bodyPr wrap="square" lIns="0" tIns="0" rIns="0" bIns="0" rtlCol="0" anchor="ctr"/>
          <a:lstStyle/>
          <a:p>
            <a:pPr indent="0" marL="0">
              <a:buNone/>
            </a:pPr>
            <a:r>
              <a:rPr lang="en-US" sz="1600" b="1" dirty="0">
                <a:solidFill>
                  <a:srgbClr val="0969DA"/>
                </a:solidFill>
                <a:latin typeface="Segoe UI" pitchFamily="34" charset="0"/>
                <a:ea typeface="Segoe UI" pitchFamily="34" charset="-122"/>
                <a:cs typeface="Segoe UI" pitchFamily="34" charset="-120"/>
              </a:rPr>
              <a:t>コントロールセンター化</a:t>
            </a:r>
            <a:endParaRPr lang="en-US" sz="1600" dirty="0"/>
          </a:p>
        </p:txBody>
      </p:sp>
      <p:sp>
        <p:nvSpPr>
          <p:cNvPr id="8" name="Text 6"/>
          <p:cNvSpPr/>
          <p:nvPr/>
        </p:nvSpPr>
        <p:spPr>
          <a:xfrm>
            <a:off x="1234440" y="1207008"/>
            <a:ext cx="5486400" cy="694944"/>
          </a:xfrm>
          <a:prstGeom prst="rect">
            <a:avLst/>
          </a:prstGeom>
          <a:noFill/>
          <a:ln/>
        </p:spPr>
        <p:txBody>
          <a:bodyPr wrap="square" lIns="0" tIns="0" rIns="0" bIns="0" rtlCol="0" anchor="t"/>
          <a:lstStyle/>
          <a:p>
            <a:pPr indent="0" marL="0">
              <a:buNone/>
            </a:pPr>
            <a:r>
              <a:rPr lang="en-US" sz="1200" dirty="0">
                <a:solidFill>
                  <a:srgbClr val="1F2328"/>
                </a:solidFill>
                <a:latin typeface="Segoe UI" pitchFamily="34" charset="0"/>
                <a:ea typeface="Segoe UI" pitchFamily="34" charset="-122"/>
                <a:cs typeface="Segoe UI" pitchFamily="34" charset="-120"/>
              </a:rPr>
              <a:t>Copilot App + git worktree で複数エージェントを並列統制。</a:t>
            </a:r>
            <a:endParaRPr lang="en-US" sz="1200" dirty="0"/>
          </a:p>
          <a:p>
            <a:pPr indent="0" marL="0">
              <a:buNone/>
            </a:pPr>
            <a:r>
              <a:rPr lang="en-US" sz="1200" dirty="0">
                <a:solidFill>
                  <a:srgbClr val="1F2328"/>
                </a:solidFill>
                <a:latin typeface="Segoe UI" pitchFamily="34" charset="0"/>
                <a:ea typeface="Segoe UI" pitchFamily="34" charset="-122"/>
                <a:cs typeface="Segoe UI" pitchFamily="34" charset="-120"/>
              </a:rPr>
              <a:t>Agent Merge でレビュー・チェック・マージまで自動化。</a:t>
            </a:r>
            <a:endParaRPr lang="en-US" sz="1200" dirty="0"/>
          </a:p>
        </p:txBody>
      </p:sp>
      <p:sp>
        <p:nvSpPr>
          <p:cNvPr id="9" name="Shape 7"/>
          <p:cNvSpPr/>
          <p:nvPr/>
        </p:nvSpPr>
        <p:spPr>
          <a:xfrm>
            <a:off x="6903720" y="850392"/>
            <a:ext cx="1920240" cy="932688"/>
          </a:xfrm>
          <a:prstGeom prst="rect">
            <a:avLst/>
          </a:prstGeom>
          <a:solidFill>
            <a:srgbClr val="0969DA">
              <a:alpha val="15000"/>
            </a:srgbClr>
          </a:solidFill>
          <a:ln w="6350">
            <a:solidFill>
              <a:srgbClr val="0969DA"/>
            </a:solidFill>
            <a:prstDash val="solid"/>
          </a:ln>
        </p:spPr>
      </p:sp>
      <p:sp>
        <p:nvSpPr>
          <p:cNvPr id="10" name="Text 8"/>
          <p:cNvSpPr/>
          <p:nvPr/>
        </p:nvSpPr>
        <p:spPr>
          <a:xfrm>
            <a:off x="6949440" y="850392"/>
            <a:ext cx="1828800" cy="932688"/>
          </a:xfrm>
          <a:prstGeom prst="rect">
            <a:avLst/>
          </a:prstGeom>
          <a:noFill/>
          <a:ln/>
        </p:spPr>
        <p:txBody>
          <a:bodyPr wrap="square" lIns="38100" tIns="38100" rIns="38100" bIns="38100" rtlCol="0" anchor="ctr"/>
          <a:lstStyle/>
          <a:p>
            <a:pPr algn="ctr" indent="0" marL="0">
              <a:buNone/>
            </a:pPr>
            <a:r>
              <a:rPr lang="en-US" sz="900" dirty="0">
                <a:solidFill>
                  <a:srgbClr val="0969DA"/>
                </a:solidFill>
                <a:latin typeface="Segoe UI" pitchFamily="34" charset="0"/>
                <a:ea typeface="Segoe UI" pitchFamily="34" charset="-122"/>
                <a:cs typeface="Segoe UI" pitchFamily="34" charset="-120"/>
              </a:rPr>
              <a:t>Copilot app</a:t>
            </a:r>
            <a:endParaRPr lang="en-US" sz="900" dirty="0"/>
          </a:p>
          <a:p>
            <a:pPr algn="ctr" indent="0" marL="0">
              <a:buNone/>
            </a:pPr>
            <a:r>
              <a:rPr lang="en-US" sz="900" dirty="0">
                <a:solidFill>
                  <a:srgbClr val="0969DA"/>
                </a:solidFill>
                <a:latin typeface="Segoe UI" pitchFamily="34" charset="0"/>
                <a:ea typeface="Segoe UI" pitchFamily="34" charset="-122"/>
                <a:cs typeface="Segoe UI" pitchFamily="34" charset="-120"/>
              </a:rPr>
              <a:t>My Work → worktree → Agent Merge</a:t>
            </a:r>
            <a:endParaRPr lang="en-US" sz="900" dirty="0"/>
          </a:p>
        </p:txBody>
      </p:sp>
      <p:sp>
        <p:nvSpPr>
          <p:cNvPr id="11" name="Shape 9"/>
          <p:cNvSpPr/>
          <p:nvPr/>
        </p:nvSpPr>
        <p:spPr>
          <a:xfrm>
            <a:off x="182880" y="2112264"/>
            <a:ext cx="8778240" cy="128016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2" name="Shape 10"/>
          <p:cNvSpPr/>
          <p:nvPr/>
        </p:nvSpPr>
        <p:spPr>
          <a:xfrm>
            <a:off x="182880" y="2112264"/>
            <a:ext cx="914400" cy="1280160"/>
          </a:xfrm>
          <a:prstGeom prst="rect">
            <a:avLst/>
          </a:prstGeom>
          <a:solidFill>
            <a:srgbClr val="2DA44E"/>
          </a:solidFill>
          <a:ln w="12700">
            <a:solidFill>
              <a:srgbClr val="2DA44E"/>
            </a:solidFill>
            <a:prstDash val="solid"/>
          </a:ln>
        </p:spPr>
      </p:sp>
      <p:sp>
        <p:nvSpPr>
          <p:cNvPr id="13" name="Text 11"/>
          <p:cNvSpPr/>
          <p:nvPr/>
        </p:nvSpPr>
        <p:spPr>
          <a:xfrm>
            <a:off x="182880" y="2112264"/>
            <a:ext cx="914400" cy="1280160"/>
          </a:xfrm>
          <a:prstGeom prst="rect">
            <a:avLst/>
          </a:prstGeom>
          <a:noFill/>
          <a:ln/>
        </p:spPr>
        <p:txBody>
          <a:bodyPr wrap="square" lIns="0" tIns="0" rIns="0" bIns="0" rtlCol="0" anchor="ctr"/>
          <a:lstStyle/>
          <a:p>
            <a:pPr algn="ctr" indent="0" marL="0">
              <a:buNone/>
            </a:pPr>
            <a:r>
              <a:rPr lang="en-US" sz="4000" b="1" dirty="0">
                <a:solidFill>
                  <a:srgbClr val="FFFFFF"/>
                </a:solidFill>
                <a:latin typeface="Segoe UI" pitchFamily="34" charset="0"/>
                <a:ea typeface="Segoe UI" pitchFamily="34" charset="-122"/>
                <a:cs typeface="Segoe UI" pitchFamily="34" charset="-120"/>
              </a:rPr>
              <a:t>2</a:t>
            </a:r>
            <a:endParaRPr lang="en-US" sz="4000" dirty="0"/>
          </a:p>
        </p:txBody>
      </p:sp>
      <p:sp>
        <p:nvSpPr>
          <p:cNvPr id="14" name="Text 12"/>
          <p:cNvSpPr/>
          <p:nvPr/>
        </p:nvSpPr>
        <p:spPr>
          <a:xfrm>
            <a:off x="1234440" y="2203704"/>
            <a:ext cx="5486400" cy="384048"/>
          </a:xfrm>
          <a:prstGeom prst="rect">
            <a:avLst/>
          </a:prstGeom>
          <a:noFill/>
          <a:ln/>
        </p:spPr>
        <p:txBody>
          <a:bodyPr wrap="square" lIns="0" tIns="0" rIns="0" bIns="0" rtlCol="0" anchor="ctr"/>
          <a:lstStyle/>
          <a:p>
            <a:pPr indent="0" marL="0">
              <a:buNone/>
            </a:pPr>
            <a:r>
              <a:rPr lang="en-US" sz="1600" b="1" dirty="0">
                <a:solidFill>
                  <a:srgbClr val="2DA44E"/>
                </a:solidFill>
                <a:latin typeface="Segoe UI" pitchFamily="34" charset="0"/>
                <a:ea typeface="Segoe UI" pitchFamily="34" charset="-122"/>
                <a:cs typeface="Segoe UI" pitchFamily="34" charset="-120"/>
              </a:rPr>
              <a:t>ひとつのシステム</a:t>
            </a:r>
            <a:endParaRPr lang="en-US" sz="1600" dirty="0"/>
          </a:p>
        </p:txBody>
      </p:sp>
      <p:sp>
        <p:nvSpPr>
          <p:cNvPr id="15" name="Text 13"/>
          <p:cNvSpPr/>
          <p:nvPr/>
        </p:nvSpPr>
        <p:spPr>
          <a:xfrm>
            <a:off x="1234440" y="2633472"/>
            <a:ext cx="5486400" cy="694944"/>
          </a:xfrm>
          <a:prstGeom prst="rect">
            <a:avLst/>
          </a:prstGeom>
          <a:noFill/>
          <a:ln/>
        </p:spPr>
        <p:txBody>
          <a:bodyPr wrap="square" lIns="0" tIns="0" rIns="0" bIns="0" rtlCol="0" anchor="t"/>
          <a:lstStyle/>
          <a:p>
            <a:pPr indent="0" marL="0">
              <a:buNone/>
            </a:pPr>
            <a:r>
              <a:rPr lang="en-US" sz="1200" dirty="0">
                <a:solidFill>
                  <a:srgbClr val="1F2328"/>
                </a:solidFill>
                <a:latin typeface="Segoe UI" pitchFamily="34" charset="0"/>
                <a:ea typeface="Segoe UI" pitchFamily="34" charset="-122"/>
                <a:cs typeface="Segoe UI" pitchFamily="34" charset="-120"/>
              </a:rPr>
              <a:t>Canvas / Sandbox / Code Review / Cloud Automation / SDK / Partner Apps が連携。</a:t>
            </a:r>
            <a:endParaRPr lang="en-US" sz="1200" dirty="0"/>
          </a:p>
          <a:p>
            <a:pPr indent="0" marL="0">
              <a:buNone/>
            </a:pPr>
            <a:r>
              <a:rPr lang="en-US" sz="1200" dirty="0">
                <a:solidFill>
                  <a:srgbClr val="1F2328"/>
                </a:solidFill>
                <a:latin typeface="Segoe UI" pitchFamily="34" charset="0"/>
                <a:ea typeface="Segoe UI" pitchFamily="34" charset="-122"/>
                <a:cs typeface="Segoe UI" pitchFamily="34" charset="-120"/>
              </a:rPr>
              <a:t>エージェントが作業を担い、人は品質・ポリシー・デリバリーを統制。</a:t>
            </a:r>
            <a:endParaRPr lang="en-US" sz="1200" dirty="0"/>
          </a:p>
        </p:txBody>
      </p:sp>
      <p:sp>
        <p:nvSpPr>
          <p:cNvPr id="16" name="Shape 14"/>
          <p:cNvSpPr/>
          <p:nvPr/>
        </p:nvSpPr>
        <p:spPr>
          <a:xfrm>
            <a:off x="6903720" y="2276856"/>
            <a:ext cx="1920240" cy="932688"/>
          </a:xfrm>
          <a:prstGeom prst="rect">
            <a:avLst/>
          </a:prstGeom>
          <a:solidFill>
            <a:srgbClr val="2DA44E">
              <a:alpha val="15000"/>
            </a:srgbClr>
          </a:solidFill>
          <a:ln w="6350">
            <a:solidFill>
              <a:srgbClr val="2DA44E"/>
            </a:solidFill>
            <a:prstDash val="solid"/>
          </a:ln>
        </p:spPr>
      </p:sp>
      <p:sp>
        <p:nvSpPr>
          <p:cNvPr id="17" name="Text 15"/>
          <p:cNvSpPr/>
          <p:nvPr/>
        </p:nvSpPr>
        <p:spPr>
          <a:xfrm>
            <a:off x="6949440" y="2276856"/>
            <a:ext cx="1828800" cy="932688"/>
          </a:xfrm>
          <a:prstGeom prst="rect">
            <a:avLst/>
          </a:prstGeom>
          <a:noFill/>
          <a:ln/>
        </p:spPr>
        <p:txBody>
          <a:bodyPr wrap="square" lIns="38100" tIns="38100" rIns="38100" bIns="38100" rtlCol="0" anchor="ctr"/>
          <a:lstStyle/>
          <a:p>
            <a:pPr algn="ctr" indent="0" marL="0">
              <a:buNone/>
            </a:pPr>
            <a:r>
              <a:rPr lang="en-US" sz="900" dirty="0">
                <a:solidFill>
                  <a:srgbClr val="2DA44E"/>
                </a:solidFill>
                <a:latin typeface="Segoe UI" pitchFamily="34" charset="0"/>
                <a:ea typeface="Segoe UI" pitchFamily="34" charset="-122"/>
                <a:cs typeface="Segoe UI" pitchFamily="34" charset="-120"/>
              </a:rPr>
              <a:t>35項目のアップデートが</a:t>
            </a:r>
            <a:endParaRPr lang="en-US" sz="900" dirty="0"/>
          </a:p>
          <a:p>
            <a:pPr algn="ctr" indent="0" marL="0">
              <a:buNone/>
            </a:pPr>
            <a:r>
              <a:rPr lang="en-US" sz="900" dirty="0">
                <a:solidFill>
                  <a:srgbClr val="2DA44E"/>
                </a:solidFill>
                <a:latin typeface="Segoe UI" pitchFamily="34" charset="0"/>
                <a:ea typeface="Segoe UI" pitchFamily="34" charset="-122"/>
                <a:cs typeface="Segoe UI" pitchFamily="34" charset="-120"/>
              </a:rPr>
              <a:t>1つのエコシステムとして統合</a:t>
            </a:r>
            <a:endParaRPr lang="en-US" sz="900" dirty="0"/>
          </a:p>
        </p:txBody>
      </p:sp>
      <p:sp>
        <p:nvSpPr>
          <p:cNvPr id="18" name="Shape 16"/>
          <p:cNvSpPr/>
          <p:nvPr/>
        </p:nvSpPr>
        <p:spPr>
          <a:xfrm>
            <a:off x="182880" y="3538728"/>
            <a:ext cx="8778240" cy="1280160"/>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9" name="Shape 17"/>
          <p:cNvSpPr/>
          <p:nvPr/>
        </p:nvSpPr>
        <p:spPr>
          <a:xfrm>
            <a:off x="182880" y="3538728"/>
            <a:ext cx="914400" cy="1280160"/>
          </a:xfrm>
          <a:prstGeom prst="rect">
            <a:avLst/>
          </a:prstGeom>
          <a:solidFill>
            <a:srgbClr val="CF222E"/>
          </a:solidFill>
          <a:ln w="12700">
            <a:solidFill>
              <a:srgbClr val="CF222E"/>
            </a:solidFill>
            <a:prstDash val="solid"/>
          </a:ln>
        </p:spPr>
      </p:sp>
      <p:sp>
        <p:nvSpPr>
          <p:cNvPr id="20" name="Text 18"/>
          <p:cNvSpPr/>
          <p:nvPr/>
        </p:nvSpPr>
        <p:spPr>
          <a:xfrm>
            <a:off x="182880" y="3538728"/>
            <a:ext cx="914400" cy="1280160"/>
          </a:xfrm>
          <a:prstGeom prst="rect">
            <a:avLst/>
          </a:prstGeom>
          <a:noFill/>
          <a:ln/>
        </p:spPr>
        <p:txBody>
          <a:bodyPr wrap="square" lIns="0" tIns="0" rIns="0" bIns="0" rtlCol="0" anchor="ctr"/>
          <a:lstStyle/>
          <a:p>
            <a:pPr algn="ctr" indent="0" marL="0">
              <a:buNone/>
            </a:pPr>
            <a:r>
              <a:rPr lang="en-US" sz="4000" b="1" dirty="0">
                <a:solidFill>
                  <a:srgbClr val="FFFFFF"/>
                </a:solidFill>
                <a:latin typeface="Segoe UI" pitchFamily="34" charset="0"/>
                <a:ea typeface="Segoe UI" pitchFamily="34" charset="-122"/>
                <a:cs typeface="Segoe UI" pitchFamily="34" charset="-120"/>
              </a:rPr>
              <a:t>3</a:t>
            </a:r>
            <a:endParaRPr lang="en-US" sz="4000" dirty="0"/>
          </a:p>
        </p:txBody>
      </p:sp>
      <p:sp>
        <p:nvSpPr>
          <p:cNvPr id="21" name="Text 19"/>
          <p:cNvSpPr/>
          <p:nvPr/>
        </p:nvSpPr>
        <p:spPr>
          <a:xfrm>
            <a:off x="1234440" y="3630168"/>
            <a:ext cx="5486400" cy="384048"/>
          </a:xfrm>
          <a:prstGeom prst="rect">
            <a:avLst/>
          </a:prstGeom>
          <a:noFill/>
          <a:ln/>
        </p:spPr>
        <p:txBody>
          <a:bodyPr wrap="square" lIns="0" tIns="0" rIns="0" bIns="0" rtlCol="0" anchor="ctr"/>
          <a:lstStyle/>
          <a:p>
            <a:pPr indent="0" marL="0">
              <a:buNone/>
            </a:pPr>
            <a:r>
              <a:rPr lang="en-US" sz="1600" b="1" dirty="0">
                <a:solidFill>
                  <a:srgbClr val="CF222E"/>
                </a:solidFill>
                <a:latin typeface="Segoe UI" pitchFamily="34" charset="0"/>
                <a:ea typeface="Segoe UI" pitchFamily="34" charset="-122"/>
                <a:cs typeface="Segoe UI" pitchFamily="34" charset="-120"/>
              </a:rPr>
              <a:t>基盤の強化</a:t>
            </a:r>
            <a:endParaRPr lang="en-US" sz="1600" dirty="0"/>
          </a:p>
        </p:txBody>
      </p:sp>
      <p:sp>
        <p:nvSpPr>
          <p:cNvPr id="22" name="Text 20"/>
          <p:cNvSpPr/>
          <p:nvPr/>
        </p:nvSpPr>
        <p:spPr>
          <a:xfrm>
            <a:off x="1234440" y="4059936"/>
            <a:ext cx="5486400" cy="694944"/>
          </a:xfrm>
          <a:prstGeom prst="rect">
            <a:avLst/>
          </a:prstGeom>
          <a:noFill/>
          <a:ln/>
        </p:spPr>
        <p:txBody>
          <a:bodyPr wrap="square" lIns="0" tIns="0" rIns="0" bIns="0" rtlCol="0" anchor="t"/>
          <a:lstStyle/>
          <a:p>
            <a:pPr indent="0" marL="0">
              <a:buNone/>
            </a:pPr>
            <a:r>
              <a:rPr lang="en-US" sz="1200" dirty="0">
                <a:solidFill>
                  <a:srgbClr val="1F2328"/>
                </a:solidFill>
                <a:latin typeface="Segoe UI" pitchFamily="34" charset="0"/>
                <a:ea typeface="Segoe UI" pitchFamily="34" charset="-122"/>
                <a:cs typeface="Segoe UI" pitchFamily="34" charset="-120"/>
              </a:rPr>
              <a:t>MAI-Code-1-Flash が Copilot / VS Code に搭載。</a:t>
            </a:r>
            <a:endParaRPr lang="en-US" sz="1200" dirty="0"/>
          </a:p>
          <a:p>
            <a:pPr indent="0" marL="0">
              <a:buNone/>
            </a:pPr>
            <a:r>
              <a:rPr lang="en-US" sz="1200" dirty="0">
                <a:solidFill>
                  <a:srgbClr val="1F2328"/>
                </a:solidFill>
                <a:latin typeface="Segoe UI" pitchFamily="34" charset="0"/>
                <a:ea typeface="Segoe UI" pitchFamily="34" charset="-122"/>
                <a:cs typeface="Segoe UI" pitchFamily="34" charset="-120"/>
              </a:rPr>
              <a:t>MAI 7モデルと Frontier Tuning でエコシステムが強化。</a:t>
            </a:r>
            <a:endParaRPr lang="en-US" sz="1200" dirty="0"/>
          </a:p>
        </p:txBody>
      </p:sp>
      <p:sp>
        <p:nvSpPr>
          <p:cNvPr id="23" name="Shape 21"/>
          <p:cNvSpPr/>
          <p:nvPr/>
        </p:nvSpPr>
        <p:spPr>
          <a:xfrm>
            <a:off x="6903720" y="3703320"/>
            <a:ext cx="1920240" cy="932688"/>
          </a:xfrm>
          <a:prstGeom prst="rect">
            <a:avLst/>
          </a:prstGeom>
          <a:solidFill>
            <a:srgbClr val="CF222E">
              <a:alpha val="15000"/>
            </a:srgbClr>
          </a:solidFill>
          <a:ln w="6350">
            <a:solidFill>
              <a:srgbClr val="CF222E"/>
            </a:solidFill>
            <a:prstDash val="solid"/>
          </a:ln>
        </p:spPr>
      </p:sp>
      <p:sp>
        <p:nvSpPr>
          <p:cNvPr id="24" name="Text 22"/>
          <p:cNvSpPr/>
          <p:nvPr/>
        </p:nvSpPr>
        <p:spPr>
          <a:xfrm>
            <a:off x="6949440" y="3703320"/>
            <a:ext cx="1828800" cy="932688"/>
          </a:xfrm>
          <a:prstGeom prst="rect">
            <a:avLst/>
          </a:prstGeom>
          <a:noFill/>
          <a:ln/>
        </p:spPr>
        <p:txBody>
          <a:bodyPr wrap="square" lIns="38100" tIns="38100" rIns="38100" bIns="38100" rtlCol="0" anchor="ctr"/>
          <a:lstStyle/>
          <a:p>
            <a:pPr algn="ctr" indent="0" marL="0">
              <a:buNone/>
            </a:pPr>
            <a:r>
              <a:rPr lang="en-US" sz="900" dirty="0">
                <a:solidFill>
                  <a:srgbClr val="CF222E"/>
                </a:solidFill>
                <a:latin typeface="Segoe UI" pitchFamily="34" charset="0"/>
                <a:ea typeface="Segoe UI" pitchFamily="34" charset="-122"/>
                <a:cs typeface="Segoe UI" pitchFamily="34" charset="-120"/>
              </a:rPr>
              <a:t>MAI 7モデル</a:t>
            </a:r>
            <a:endParaRPr lang="en-US" sz="900" dirty="0"/>
          </a:p>
          <a:p>
            <a:pPr algn="ctr" indent="0" marL="0">
              <a:buNone/>
            </a:pPr>
            <a:r>
              <a:rPr lang="en-US" sz="900" dirty="0">
                <a:solidFill>
                  <a:srgbClr val="CF222E"/>
                </a:solidFill>
                <a:latin typeface="Segoe UI" pitchFamily="34" charset="0"/>
                <a:ea typeface="Segoe UI" pitchFamily="34" charset="-122"/>
                <a:cs typeface="Segoe UI" pitchFamily="34" charset="-120"/>
              </a:rPr>
              <a:t>+ Frontier Tuning</a:t>
            </a:r>
            <a:endParaRPr lang="en-US" sz="900" dirty="0"/>
          </a:p>
          <a:p>
            <a:pPr algn="ctr" indent="0" marL="0">
              <a:buNone/>
            </a:pPr>
            <a:r>
              <a:rPr lang="en-US" sz="900" dirty="0">
                <a:solidFill>
                  <a:srgbClr val="CF222E"/>
                </a:solidFill>
                <a:latin typeface="Segoe UI" pitchFamily="34" charset="0"/>
                <a:ea typeface="Segoe UI" pitchFamily="34" charset="-122"/>
                <a:cs typeface="Segoe UI" pitchFamily="34" charset="-120"/>
              </a:rPr>
              <a:t>+ IQ Layer</a:t>
            </a:r>
            <a:endParaRPr lang="en-US" sz="900" dirty="0"/>
          </a:p>
        </p:txBody>
      </p:sp>
      <p:sp>
        <p:nvSpPr>
          <p:cNvPr id="25" name="Text 23"/>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F2328"/>
          </a:solidFill>
          <a:ln w="12700">
            <a:solidFill>
              <a:srgbClr val="1F2328"/>
            </a:solidFill>
            <a:prstDash val="solid"/>
          </a:ln>
        </p:spPr>
      </p:sp>
      <p:sp>
        <p:nvSpPr>
          <p:cNvPr id="3" name="Text 1"/>
          <p:cNvSpPr/>
          <p:nvPr/>
        </p:nvSpPr>
        <p:spPr>
          <a:xfrm>
            <a:off x="365760" y="73152"/>
            <a:ext cx="8412480" cy="457200"/>
          </a:xfrm>
          <a:prstGeom prst="rect">
            <a:avLst/>
          </a:prstGeom>
          <a:noFill/>
          <a:ln/>
        </p:spPr>
        <p:txBody>
          <a:bodyPr wrap="square" lIns="0" tIns="0" rIns="0" bIns="0" rtlCol="0" anchor="ctr"/>
          <a:lstStyle/>
          <a:p>
            <a:pPr indent="0" marL="0">
              <a:buNone/>
            </a:pPr>
            <a:r>
              <a:rPr lang="en-US" sz="1900" b="1" dirty="0">
                <a:solidFill>
                  <a:srgbClr val="FFFFFF"/>
                </a:solidFill>
                <a:latin typeface="Segoe UI" pitchFamily="34" charset="0"/>
                <a:ea typeface="Segoe UI" pitchFamily="34" charset="-122"/>
                <a:cs typeface="Segoe UI" pitchFamily="34" charset="-120"/>
              </a:rPr>
              <a:t>明日からの進め方（5ステップ）</a:t>
            </a:r>
            <a:endParaRPr lang="en-US" sz="1900" dirty="0"/>
          </a:p>
        </p:txBody>
      </p:sp>
      <p:sp>
        <p:nvSpPr>
          <p:cNvPr id="4" name="Shape 2"/>
          <p:cNvSpPr/>
          <p:nvPr/>
        </p:nvSpPr>
        <p:spPr>
          <a:xfrm>
            <a:off x="182880" y="685800"/>
            <a:ext cx="8778240" cy="74980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182880" y="685800"/>
            <a:ext cx="1325880" cy="749808"/>
          </a:xfrm>
          <a:prstGeom prst="rect">
            <a:avLst/>
          </a:prstGeom>
          <a:solidFill>
            <a:srgbClr val="0969DA"/>
          </a:solidFill>
          <a:ln w="12700">
            <a:solidFill>
              <a:srgbClr val="0969DA"/>
            </a:solidFill>
            <a:prstDash val="solid"/>
          </a:ln>
        </p:spPr>
      </p:sp>
      <p:sp>
        <p:nvSpPr>
          <p:cNvPr id="6" name="Text 4"/>
          <p:cNvSpPr/>
          <p:nvPr/>
        </p:nvSpPr>
        <p:spPr>
          <a:xfrm>
            <a:off x="182880" y="685800"/>
            <a:ext cx="13258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Step 1</a:t>
            </a:r>
            <a:endParaRPr lang="en-US" sz="1100" dirty="0"/>
          </a:p>
        </p:txBody>
      </p:sp>
      <p:sp>
        <p:nvSpPr>
          <p:cNvPr id="7" name="Text 5"/>
          <p:cNvSpPr/>
          <p:nvPr/>
        </p:nvSpPr>
        <p:spPr>
          <a:xfrm>
            <a:off x="182880" y="1069848"/>
            <a:ext cx="1325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試す</a:t>
            </a:r>
            <a:endParaRPr lang="en-US" sz="1400" dirty="0"/>
          </a:p>
        </p:txBody>
      </p:sp>
      <p:sp>
        <p:nvSpPr>
          <p:cNvPr id="8" name="Text 6"/>
          <p:cNvSpPr/>
          <p:nvPr/>
        </p:nvSpPr>
        <p:spPr>
          <a:xfrm>
            <a:off x="1627632" y="685800"/>
            <a:ext cx="7223760" cy="749808"/>
          </a:xfrm>
          <a:prstGeom prst="rect">
            <a:avLst/>
          </a:prstGeom>
          <a:noFill/>
          <a:ln/>
        </p:spPr>
        <p:txBody>
          <a:bodyPr wrap="square" lIns="101600" tIns="101600" rIns="101600" bIns="101600" rtlCol="0" anchor="ctr"/>
          <a:lstStyle/>
          <a:p>
            <a:pPr indent="0" marL="0">
              <a:buNone/>
            </a:pPr>
            <a:r>
              <a:rPr lang="en-US" sz="1200" dirty="0">
                <a:solidFill>
                  <a:srgbClr val="1F2328"/>
                </a:solidFill>
                <a:latin typeface="Segoe UI" pitchFamily="34" charset="0"/>
                <a:ea typeface="Segoe UI" pitchFamily="34" charset="-122"/>
                <a:cs typeface="Segoe UI" pitchFamily="34" charset="-120"/>
              </a:rPr>
              <a:t>Copilot App（技術プレビュー）を既存の Pro / Business / Enterprise プランで有効化</a:t>
            </a:r>
            <a:endParaRPr lang="en-US" sz="1200" dirty="0"/>
          </a:p>
        </p:txBody>
      </p:sp>
      <p:sp>
        <p:nvSpPr>
          <p:cNvPr id="9" name="Shape 7"/>
          <p:cNvSpPr/>
          <p:nvPr/>
        </p:nvSpPr>
        <p:spPr>
          <a:xfrm>
            <a:off x="182880" y="1536192"/>
            <a:ext cx="8778240" cy="74980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0" name="Shape 8"/>
          <p:cNvSpPr/>
          <p:nvPr/>
        </p:nvSpPr>
        <p:spPr>
          <a:xfrm>
            <a:off x="182880" y="1536192"/>
            <a:ext cx="1325880" cy="749808"/>
          </a:xfrm>
          <a:prstGeom prst="rect">
            <a:avLst/>
          </a:prstGeom>
          <a:solidFill>
            <a:srgbClr val="2DA44E"/>
          </a:solidFill>
          <a:ln w="12700">
            <a:solidFill>
              <a:srgbClr val="2DA44E"/>
            </a:solidFill>
            <a:prstDash val="solid"/>
          </a:ln>
        </p:spPr>
      </p:sp>
      <p:sp>
        <p:nvSpPr>
          <p:cNvPr id="11" name="Text 9"/>
          <p:cNvSpPr/>
          <p:nvPr/>
        </p:nvSpPr>
        <p:spPr>
          <a:xfrm>
            <a:off x="182880" y="1536192"/>
            <a:ext cx="13258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Step 2</a:t>
            </a:r>
            <a:endParaRPr lang="en-US" sz="1100" dirty="0"/>
          </a:p>
        </p:txBody>
      </p:sp>
      <p:sp>
        <p:nvSpPr>
          <p:cNvPr id="12" name="Text 10"/>
          <p:cNvSpPr/>
          <p:nvPr/>
        </p:nvSpPr>
        <p:spPr>
          <a:xfrm>
            <a:off x="182880" y="1920240"/>
            <a:ext cx="1325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並列体験</a:t>
            </a:r>
            <a:endParaRPr lang="en-US" sz="1400" dirty="0"/>
          </a:p>
        </p:txBody>
      </p:sp>
      <p:sp>
        <p:nvSpPr>
          <p:cNvPr id="13" name="Text 11"/>
          <p:cNvSpPr/>
          <p:nvPr/>
        </p:nvSpPr>
        <p:spPr>
          <a:xfrm>
            <a:off x="1627632" y="1536192"/>
            <a:ext cx="7223760" cy="749808"/>
          </a:xfrm>
          <a:prstGeom prst="rect">
            <a:avLst/>
          </a:prstGeom>
          <a:noFill/>
          <a:ln/>
        </p:spPr>
        <p:txBody>
          <a:bodyPr wrap="square" lIns="101600" tIns="101600" rIns="101600" bIns="101600" rtlCol="0" anchor="ctr"/>
          <a:lstStyle/>
          <a:p>
            <a:pPr indent="0" marL="0">
              <a:buNone/>
            </a:pPr>
            <a:r>
              <a:rPr lang="en-US" sz="1200" dirty="0">
                <a:solidFill>
                  <a:srgbClr val="1F2328"/>
                </a:solidFill>
                <a:latin typeface="Segoe UI" pitchFamily="34" charset="0"/>
                <a:ea typeface="Segoe UI" pitchFamily="34" charset="-122"/>
                <a:cs typeface="Segoe UI" pitchFamily="34" charset="-120"/>
              </a:rPr>
              <a:t>Issue を Copilot に割り当て、git worktree で複数エージェントセッションを並走させる</a:t>
            </a:r>
            <a:endParaRPr lang="en-US" sz="1200" dirty="0"/>
          </a:p>
        </p:txBody>
      </p:sp>
      <p:sp>
        <p:nvSpPr>
          <p:cNvPr id="14" name="Shape 12"/>
          <p:cNvSpPr/>
          <p:nvPr/>
        </p:nvSpPr>
        <p:spPr>
          <a:xfrm>
            <a:off x="182880" y="2386584"/>
            <a:ext cx="8778240" cy="74980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15" name="Shape 13"/>
          <p:cNvSpPr/>
          <p:nvPr/>
        </p:nvSpPr>
        <p:spPr>
          <a:xfrm>
            <a:off x="182880" y="2386584"/>
            <a:ext cx="1325880" cy="749808"/>
          </a:xfrm>
          <a:prstGeom prst="rect">
            <a:avLst/>
          </a:prstGeom>
          <a:solidFill>
            <a:srgbClr val="CF222E"/>
          </a:solidFill>
          <a:ln w="12700">
            <a:solidFill>
              <a:srgbClr val="CF222E"/>
            </a:solidFill>
            <a:prstDash val="solid"/>
          </a:ln>
        </p:spPr>
      </p:sp>
      <p:sp>
        <p:nvSpPr>
          <p:cNvPr id="16" name="Text 14"/>
          <p:cNvSpPr/>
          <p:nvPr/>
        </p:nvSpPr>
        <p:spPr>
          <a:xfrm>
            <a:off x="182880" y="2386584"/>
            <a:ext cx="13258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Step 3</a:t>
            </a:r>
            <a:endParaRPr lang="en-US" sz="1100" dirty="0"/>
          </a:p>
        </p:txBody>
      </p:sp>
      <p:sp>
        <p:nvSpPr>
          <p:cNvPr id="17" name="Text 15"/>
          <p:cNvSpPr/>
          <p:nvPr/>
        </p:nvSpPr>
        <p:spPr>
          <a:xfrm>
            <a:off x="182880" y="2770632"/>
            <a:ext cx="1325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統制</a:t>
            </a:r>
            <a:endParaRPr lang="en-US" sz="1400" dirty="0"/>
          </a:p>
        </p:txBody>
      </p:sp>
      <p:sp>
        <p:nvSpPr>
          <p:cNvPr id="18" name="Text 16"/>
          <p:cNvSpPr/>
          <p:nvPr/>
        </p:nvSpPr>
        <p:spPr>
          <a:xfrm>
            <a:off x="1627632" y="2386584"/>
            <a:ext cx="7223760" cy="749808"/>
          </a:xfrm>
          <a:prstGeom prst="rect">
            <a:avLst/>
          </a:prstGeom>
          <a:noFill/>
          <a:ln/>
        </p:spPr>
        <p:txBody>
          <a:bodyPr wrap="square" lIns="101600" tIns="101600" rIns="101600" bIns="101600" rtlCol="0" anchor="ctr"/>
          <a:lstStyle/>
          <a:p>
            <a:pPr indent="0" marL="0">
              <a:buNone/>
            </a:pPr>
            <a:r>
              <a:rPr lang="en-US" sz="1200" dirty="0">
                <a:solidFill>
                  <a:srgbClr val="1F2328"/>
                </a:solidFill>
                <a:latin typeface="Segoe UI" pitchFamily="34" charset="0"/>
                <a:ea typeface="Segoe UI" pitchFamily="34" charset="-122"/>
                <a:cs typeface="Segoe UI" pitchFamily="34" charset="-120"/>
              </a:rPr>
              <a:t>Code Review の low / medium 設定・サンドボックスのポリシー定義・Agent Merge の自動化範囲を決定</a:t>
            </a:r>
            <a:endParaRPr lang="en-US" sz="1200" dirty="0"/>
          </a:p>
        </p:txBody>
      </p:sp>
      <p:sp>
        <p:nvSpPr>
          <p:cNvPr id="19" name="Shape 17"/>
          <p:cNvSpPr/>
          <p:nvPr/>
        </p:nvSpPr>
        <p:spPr>
          <a:xfrm>
            <a:off x="182880" y="3236976"/>
            <a:ext cx="8778240" cy="74980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20" name="Shape 18"/>
          <p:cNvSpPr/>
          <p:nvPr/>
        </p:nvSpPr>
        <p:spPr>
          <a:xfrm>
            <a:off x="182880" y="3236976"/>
            <a:ext cx="1325880" cy="749808"/>
          </a:xfrm>
          <a:prstGeom prst="rect">
            <a:avLst/>
          </a:prstGeom>
          <a:solidFill>
            <a:srgbClr val="8250DF"/>
          </a:solidFill>
          <a:ln w="12700">
            <a:solidFill>
              <a:srgbClr val="8250DF"/>
            </a:solidFill>
            <a:prstDash val="solid"/>
          </a:ln>
        </p:spPr>
      </p:sp>
      <p:sp>
        <p:nvSpPr>
          <p:cNvPr id="21" name="Text 19"/>
          <p:cNvSpPr/>
          <p:nvPr/>
        </p:nvSpPr>
        <p:spPr>
          <a:xfrm>
            <a:off x="182880" y="3236976"/>
            <a:ext cx="13258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Step 4</a:t>
            </a:r>
            <a:endParaRPr lang="en-US" sz="1100" dirty="0"/>
          </a:p>
        </p:txBody>
      </p:sp>
      <p:sp>
        <p:nvSpPr>
          <p:cNvPr id="22" name="Text 20"/>
          <p:cNvSpPr/>
          <p:nvPr/>
        </p:nvSpPr>
        <p:spPr>
          <a:xfrm>
            <a:off x="182880" y="3621024"/>
            <a:ext cx="1325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拡張</a:t>
            </a:r>
            <a:endParaRPr lang="en-US" sz="1400" dirty="0"/>
          </a:p>
        </p:txBody>
      </p:sp>
      <p:sp>
        <p:nvSpPr>
          <p:cNvPr id="23" name="Text 21"/>
          <p:cNvSpPr/>
          <p:nvPr/>
        </p:nvSpPr>
        <p:spPr>
          <a:xfrm>
            <a:off x="1627632" y="3236976"/>
            <a:ext cx="7223760" cy="749808"/>
          </a:xfrm>
          <a:prstGeom prst="rect">
            <a:avLst/>
          </a:prstGeom>
          <a:noFill/>
          <a:ln/>
        </p:spPr>
        <p:txBody>
          <a:bodyPr wrap="square" lIns="101600" tIns="101600" rIns="101600" bIns="101600" rtlCol="0" anchor="ctr"/>
          <a:lstStyle/>
          <a:p>
            <a:pPr indent="0" marL="0">
              <a:buNone/>
            </a:pPr>
            <a:r>
              <a:rPr lang="en-US" sz="1200" dirty="0">
                <a:solidFill>
                  <a:srgbClr val="1F2328"/>
                </a:solidFill>
                <a:latin typeface="Segoe UI" pitchFamily="34" charset="0"/>
                <a:ea typeface="Segoe UI" pitchFamily="34" charset="-122"/>
                <a:cs typeface="Segoe UI" pitchFamily="34" charset="-120"/>
              </a:rPr>
              <a:t>SDK / CLI で自社ツールにエージェントを組み込み、MCP サーバー・パートナーアプリを接続</a:t>
            </a:r>
            <a:endParaRPr lang="en-US" sz="1200" dirty="0"/>
          </a:p>
        </p:txBody>
      </p:sp>
      <p:sp>
        <p:nvSpPr>
          <p:cNvPr id="24" name="Shape 22"/>
          <p:cNvSpPr/>
          <p:nvPr/>
        </p:nvSpPr>
        <p:spPr>
          <a:xfrm>
            <a:off x="182880" y="4087368"/>
            <a:ext cx="8778240" cy="749808"/>
          </a:xfrm>
          <a:prstGeom prst="rect">
            <a:avLst/>
          </a:prstGeom>
          <a:solidFill>
            <a:srgbClr val="FFFFFF"/>
          </a:solidFill>
          <a:ln w="6350">
            <a:solidFill>
              <a:srgbClr val="D0D7DE"/>
            </a:solidFill>
            <a:prstDash val="solid"/>
          </a:ln>
          <a:effectLst>
            <a:outerShdw sx="100000" sy="100000" kx="0" ky="0" algn="bl" rotWithShape="0" blurRad="63500" dist="25400" dir="8100000">
              <a:srgbClr val="000000">
                <a:alpha val="10000"/>
              </a:srgbClr>
            </a:outerShdw>
          </a:effectLst>
        </p:spPr>
      </p:sp>
      <p:sp>
        <p:nvSpPr>
          <p:cNvPr id="25" name="Shape 23"/>
          <p:cNvSpPr/>
          <p:nvPr/>
        </p:nvSpPr>
        <p:spPr>
          <a:xfrm>
            <a:off x="182880" y="4087368"/>
            <a:ext cx="1325880" cy="749808"/>
          </a:xfrm>
          <a:prstGeom prst="rect">
            <a:avLst/>
          </a:prstGeom>
          <a:solidFill>
            <a:srgbClr val="BC4C00"/>
          </a:solidFill>
          <a:ln w="12700">
            <a:solidFill>
              <a:srgbClr val="BC4C00"/>
            </a:solidFill>
            <a:prstDash val="solid"/>
          </a:ln>
        </p:spPr>
      </p:sp>
      <p:sp>
        <p:nvSpPr>
          <p:cNvPr id="26" name="Text 24"/>
          <p:cNvSpPr/>
          <p:nvPr/>
        </p:nvSpPr>
        <p:spPr>
          <a:xfrm>
            <a:off x="182880" y="4087368"/>
            <a:ext cx="13258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Step 5</a:t>
            </a:r>
            <a:endParaRPr lang="en-US" sz="1100" dirty="0"/>
          </a:p>
        </p:txBody>
      </p:sp>
      <p:sp>
        <p:nvSpPr>
          <p:cNvPr id="27" name="Text 25"/>
          <p:cNvSpPr/>
          <p:nvPr/>
        </p:nvSpPr>
        <p:spPr>
          <a:xfrm>
            <a:off x="182880" y="4471416"/>
            <a:ext cx="1325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モデル最適化</a:t>
            </a:r>
            <a:endParaRPr lang="en-US" sz="1400" dirty="0"/>
          </a:p>
        </p:txBody>
      </p:sp>
      <p:sp>
        <p:nvSpPr>
          <p:cNvPr id="28" name="Text 26"/>
          <p:cNvSpPr/>
          <p:nvPr/>
        </p:nvSpPr>
        <p:spPr>
          <a:xfrm>
            <a:off x="1627632" y="4087368"/>
            <a:ext cx="7223760" cy="749808"/>
          </a:xfrm>
          <a:prstGeom prst="rect">
            <a:avLst/>
          </a:prstGeom>
          <a:noFill/>
          <a:ln/>
        </p:spPr>
        <p:txBody>
          <a:bodyPr wrap="square" lIns="101600" tIns="101600" rIns="101600" bIns="101600" rtlCol="0" anchor="ctr"/>
          <a:lstStyle/>
          <a:p>
            <a:pPr indent="0" marL="0">
              <a:buNone/>
            </a:pPr>
            <a:r>
              <a:rPr lang="en-US" sz="1200" dirty="0">
                <a:solidFill>
                  <a:srgbClr val="1F2328"/>
                </a:solidFill>
                <a:latin typeface="Segoe UI" pitchFamily="34" charset="0"/>
                <a:ea typeface="Segoe UI" pitchFamily="34" charset="-122"/>
                <a:cs typeface="Segoe UI" pitchFamily="34" charset="-120"/>
              </a:rPr>
              <a:t>MAI-Code-1-Flash をモデルピッカーで選択し、Frontier Tuning で自社ワークフローへのカスタム RL 学習を検討</a:t>
            </a:r>
            <a:endParaRPr lang="en-US" sz="1200" dirty="0"/>
          </a:p>
        </p:txBody>
      </p:sp>
      <p:sp>
        <p:nvSpPr>
          <p:cNvPr id="29" name="Text 27"/>
          <p:cNvSpPr/>
          <p:nvPr/>
        </p:nvSpPr>
        <p:spPr>
          <a:xfrm>
            <a:off x="274320" y="4956048"/>
            <a:ext cx="8229600" cy="182880"/>
          </a:xfrm>
          <a:prstGeom prst="rect">
            <a:avLst/>
          </a:prstGeom>
          <a:noFill/>
          <a:ln/>
        </p:spPr>
        <p:txBody>
          <a:bodyPr wrap="square" lIns="0" tIns="0" rIns="0" bIns="0" rtlCol="0" anchor="ctr"/>
          <a:lstStyle/>
          <a:p>
            <a:pPr indent="0" marL="0">
              <a:buNone/>
            </a:pPr>
            <a:r>
              <a:rPr lang="en-US" sz="900" dirty="0">
                <a:solidFill>
                  <a:srgbClr val="6E7781"/>
                </a:solidFill>
                <a:latin typeface="Segoe UI" pitchFamily="34" charset="0"/>
                <a:ea typeface="Segoe UI" pitchFamily="34" charset="-122"/>
                <a:cs typeface="Segoe UI" pitchFamily="34" charset="-120"/>
              </a:rPr>
              <a:t>Microsoft Build 2026 — GitHub Copilot Update Deep Dive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328"/>
        </a:solidFill>
      </p:bgPr>
    </p:bg>
    <p:spTree>
      <p:nvGrpSpPr>
        <p:cNvPr id="1" name=""/>
        <p:cNvGrpSpPr/>
        <p:nvPr/>
      </p:nvGrpSpPr>
      <p:grpSpPr>
        <a:xfrm>
          <a:off x="0" y="0"/>
          <a:ext cx="0" cy="0"/>
          <a:chOff x="0" y="0"/>
          <a:chExt cx="0" cy="0"/>
        </a:xfrm>
      </p:grpSpPr>
      <p:sp>
        <p:nvSpPr>
          <p:cNvPr id="2" name="Shape 0"/>
          <p:cNvSpPr/>
          <p:nvPr/>
        </p:nvSpPr>
        <p:spPr>
          <a:xfrm>
            <a:off x="6583680" y="-1371600"/>
            <a:ext cx="5029200" cy="5029200"/>
          </a:xfrm>
          <a:prstGeom prst="ellipse">
            <a:avLst/>
          </a:prstGeom>
          <a:solidFill>
            <a:srgbClr val="0969DA">
              <a:alpha val="18000"/>
            </a:srgbClr>
          </a:solidFill>
          <a:ln w="12700">
            <a:solidFill>
              <a:srgbClr val="0969DA"/>
            </a:solidFill>
            <a:prstDash val="solid"/>
          </a:ln>
        </p:spPr>
      </p:sp>
      <p:sp>
        <p:nvSpPr>
          <p:cNvPr id="3" name="Shape 1"/>
          <p:cNvSpPr/>
          <p:nvPr/>
        </p:nvSpPr>
        <p:spPr>
          <a:xfrm>
            <a:off x="-457200" y="3200400"/>
            <a:ext cx="3200400" cy="3200400"/>
          </a:xfrm>
          <a:prstGeom prst="ellipse">
            <a:avLst/>
          </a:prstGeom>
          <a:solidFill>
            <a:srgbClr val="2DA44E">
              <a:alpha val="13000"/>
            </a:srgbClr>
          </a:solidFill>
          <a:ln w="12700">
            <a:solidFill>
              <a:srgbClr val="2DA44E"/>
            </a:solidFill>
            <a:prstDash val="solid"/>
          </a:ln>
        </p:spPr>
      </p:sp>
      <p:sp>
        <p:nvSpPr>
          <p:cNvPr id="4" name="Text 2"/>
          <p:cNvSpPr/>
          <p:nvPr/>
        </p:nvSpPr>
        <p:spPr>
          <a:xfrm>
            <a:off x="457200" y="594360"/>
            <a:ext cx="8229600" cy="1097280"/>
          </a:xfrm>
          <a:prstGeom prst="rect">
            <a:avLst/>
          </a:prstGeom>
          <a:noFill/>
          <a:ln/>
        </p:spPr>
        <p:txBody>
          <a:bodyPr wrap="square" lIns="0" tIns="0" rIns="0" bIns="0" rtlCol="0" anchor="ctr"/>
          <a:lstStyle/>
          <a:p>
            <a:pPr indent="0" marL="0">
              <a:buNone/>
            </a:pPr>
            <a:r>
              <a:rPr lang="en-US" sz="5200" b="1" dirty="0">
                <a:solidFill>
                  <a:srgbClr val="FFFFFF"/>
                </a:solidFill>
                <a:latin typeface="Segoe UI" pitchFamily="34" charset="0"/>
                <a:ea typeface="Segoe UI" pitchFamily="34" charset="-122"/>
                <a:cs typeface="Segoe UI" pitchFamily="34" charset="-120"/>
              </a:rPr>
              <a:t>Thank you!</a:t>
            </a:r>
            <a:endParaRPr lang="en-US" sz="5200" dirty="0"/>
          </a:p>
        </p:txBody>
      </p:sp>
      <p:sp>
        <p:nvSpPr>
          <p:cNvPr id="5" name="Text 3"/>
          <p:cNvSpPr/>
          <p:nvPr/>
        </p:nvSpPr>
        <p:spPr>
          <a:xfrm>
            <a:off x="457200" y="1719072"/>
            <a:ext cx="8229600" cy="658368"/>
          </a:xfrm>
          <a:prstGeom prst="rect">
            <a:avLst/>
          </a:prstGeom>
          <a:noFill/>
          <a:ln/>
        </p:spPr>
        <p:txBody>
          <a:bodyPr wrap="square" lIns="0" tIns="0" rIns="0" bIns="0" rtlCol="0" anchor="ctr"/>
          <a:lstStyle/>
          <a:p>
            <a:pPr indent="0" marL="0">
              <a:buNone/>
            </a:pPr>
            <a:r>
              <a:rPr lang="en-US" sz="3200" dirty="0">
                <a:solidFill>
                  <a:srgbClr val="CFE3FF"/>
                </a:solidFill>
                <a:latin typeface="Segoe UI" pitchFamily="34" charset="0"/>
                <a:ea typeface="Segoe UI" pitchFamily="34" charset="-122"/>
                <a:cs typeface="Segoe UI" pitchFamily="34" charset="-120"/>
              </a:rPr>
              <a:t>Q&amp;A</a:t>
            </a:r>
            <a:endParaRPr lang="en-US" sz="3200" dirty="0"/>
          </a:p>
        </p:txBody>
      </p:sp>
      <p:sp>
        <p:nvSpPr>
          <p:cNvPr id="6" name="Shape 4"/>
          <p:cNvSpPr/>
          <p:nvPr/>
        </p:nvSpPr>
        <p:spPr>
          <a:xfrm>
            <a:off x="457200" y="2514600"/>
            <a:ext cx="3657600" cy="36576"/>
          </a:xfrm>
          <a:prstGeom prst="rect">
            <a:avLst/>
          </a:prstGeom>
          <a:solidFill>
            <a:srgbClr val="0969DA"/>
          </a:solidFill>
          <a:ln w="12700">
            <a:solidFill>
              <a:srgbClr val="0969DA"/>
            </a:solidFill>
            <a:prstDash val="solid"/>
          </a:ln>
        </p:spPr>
      </p:sp>
      <p:sp>
        <p:nvSpPr>
          <p:cNvPr id="7" name="Text 5"/>
          <p:cNvSpPr/>
          <p:nvPr/>
        </p:nvSpPr>
        <p:spPr>
          <a:xfrm>
            <a:off x="457200" y="2651760"/>
            <a:ext cx="8229600" cy="365760"/>
          </a:xfrm>
          <a:prstGeom prst="rect">
            <a:avLst/>
          </a:prstGeom>
          <a:noFill/>
          <a:ln/>
        </p:spPr>
        <p:txBody>
          <a:bodyPr wrap="square" lIns="0" tIns="0" rIns="0" bIns="0" rtlCol="0" anchor="ctr"/>
          <a:lstStyle/>
          <a:p>
            <a:pPr indent="0" marL="0">
              <a:buNone/>
            </a:pPr>
            <a:r>
              <a:rPr lang="en-US" sz="1400" b="1" dirty="0">
                <a:solidFill>
                  <a:srgbClr val="CFE3FF"/>
                </a:solidFill>
                <a:latin typeface="Segoe UI" pitchFamily="34" charset="0"/>
                <a:ea typeface="Segoe UI" pitchFamily="34" charset="-122"/>
                <a:cs typeface="Segoe UI" pitchFamily="34" charset="-120"/>
              </a:rPr>
              <a:t>一次情報ソース</a:t>
            </a:r>
            <a:endParaRPr lang="en-US" sz="1400" dirty="0"/>
          </a:p>
        </p:txBody>
      </p:sp>
      <p:sp>
        <p:nvSpPr>
          <p:cNvPr id="8" name="Text 6"/>
          <p:cNvSpPr/>
          <p:nvPr/>
        </p:nvSpPr>
        <p:spPr>
          <a:xfrm>
            <a:off x="457200" y="3127248"/>
            <a:ext cx="8229600" cy="1783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D0D7DE"/>
                </a:solidFill>
                <a:latin typeface="Segoe UI" pitchFamily="34" charset="0"/>
                <a:ea typeface="Segoe UI" pitchFamily="34" charset="-122"/>
                <a:cs typeface="Segoe UI" pitchFamily="34" charset="-120"/>
              </a:rPr>
              <a:t>GitHub Blog: GitHub Copilot app — The agent-native desktop experience</a:t>
            </a:r>
            <a:endParaRPr lang="en-US" sz="1200" dirty="0"/>
          </a:p>
          <a:p>
            <a:pPr marL="342900" indent="-342900">
              <a:spcAft>
                <a:spcPts val="600"/>
              </a:spcAft>
              <a:buSzPct val="100000"/>
              <a:buChar char="•"/>
            </a:pPr>
            <a:r>
              <a:rPr lang="en-US" sz="1200" dirty="0">
                <a:solidFill>
                  <a:srgbClr val="D0D7DE"/>
                </a:solidFill>
                <a:latin typeface="Segoe UI" pitchFamily="34" charset="0"/>
                <a:ea typeface="Segoe UI" pitchFamily="34" charset="-122"/>
                <a:cs typeface="Segoe UI" pitchFamily="34" charset="-120"/>
              </a:rPr>
              <a:t>GitHub Changelog: MAI-Code-1-Flash / Copilot SDK GA / Copilot CLI / Sandboxes / JetBrains (2026-06-02)</a:t>
            </a:r>
            <a:endParaRPr lang="en-US" sz="1200" dirty="0"/>
          </a:p>
          <a:p>
            <a:pPr marL="342900" indent="-342900">
              <a:spcAft>
                <a:spcPts val="600"/>
              </a:spcAft>
              <a:buSzPct val="100000"/>
              <a:buChar char="•"/>
            </a:pPr>
            <a:r>
              <a:rPr lang="en-US" sz="1200" dirty="0">
                <a:solidFill>
                  <a:srgbClr val="D0D7DE"/>
                </a:solidFill>
                <a:latin typeface="Segoe UI" pitchFamily="34" charset="0"/>
                <a:ea typeface="Segoe UI" pitchFamily="34" charset="-122"/>
                <a:cs typeface="Segoe UI" pitchFamily="34" charset="-120"/>
              </a:rPr>
              <a:t>GitHub Changelog: Agentic workflows no longer need a PAT (2026-06-11)</a:t>
            </a:r>
            <a:endParaRPr lang="en-US" sz="1200" dirty="0"/>
          </a:p>
          <a:p>
            <a:pPr marL="342900" indent="-342900">
              <a:spcAft>
                <a:spcPts val="600"/>
              </a:spcAft>
              <a:buSzPct val="100000"/>
              <a:buChar char="•"/>
            </a:pPr>
            <a:r>
              <a:rPr lang="en-US" sz="1200" dirty="0">
                <a:solidFill>
                  <a:srgbClr val="D0D7DE"/>
                </a:solidFill>
                <a:latin typeface="Segoe UI" pitchFamily="34" charset="0"/>
                <a:ea typeface="Segoe UI" pitchFamily="34" charset="-122"/>
                <a:cs typeface="Segoe UI" pitchFamily="34" charset="-120"/>
              </a:rPr>
              <a:t>Microsoft AI: Building a hill-climbing machine — 7 new MAI models</a:t>
            </a:r>
            <a:endParaRPr lang="en-US" sz="1200" dirty="0"/>
          </a:p>
          <a:p>
            <a:pPr marL="342900" indent="-342900">
              <a:spcAft>
                <a:spcPts val="600"/>
              </a:spcAft>
              <a:buSzPct val="100000"/>
              <a:buChar char="•"/>
            </a:pPr>
            <a:r>
              <a:rPr lang="en-US" sz="1200" dirty="0">
                <a:solidFill>
                  <a:srgbClr val="D0D7DE"/>
                </a:solidFill>
                <a:latin typeface="Segoe UI" pitchFamily="34" charset="0"/>
                <a:ea typeface="Segoe UI" pitchFamily="34" charset="-122"/>
                <a:cs typeface="Segoe UI" pitchFamily="34" charset="-120"/>
              </a:rPr>
              <a:t>GitHub Docs: docs.github.com/copilot  ／  microsoft/Build26-news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Build 2026 — GitHub Copilot Update Deep Dive</dc:title>
  <dc:subject>PptxGenJS Presentation</dc:subject>
  <dc:creator>PptxGenJS</dc:creator>
  <cp:lastModifiedBy>PptxGenJS</cp:lastModifiedBy>
  <cp:revision>1</cp:revision>
  <dcterms:created xsi:type="dcterms:W3CDTF">2026-06-20T23:13:39Z</dcterms:created>
  <dcterms:modified xsi:type="dcterms:W3CDTF">2026-06-20T23:13:39Z</dcterms:modified>
</cp:coreProperties>
</file>